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4" r:id="rId2"/>
  </p:sldMasterIdLst>
  <p:notesMasterIdLst>
    <p:notesMasterId r:id="rId9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  <p:sldId id="324" r:id="rId71"/>
    <p:sldId id="325" r:id="rId72"/>
    <p:sldId id="326" r:id="rId73"/>
    <p:sldId id="327" r:id="rId74"/>
    <p:sldId id="328" r:id="rId75"/>
    <p:sldId id="329" r:id="rId76"/>
    <p:sldId id="330" r:id="rId77"/>
    <p:sldId id="331" r:id="rId78"/>
    <p:sldId id="332" r:id="rId79"/>
    <p:sldId id="333" r:id="rId80"/>
    <p:sldId id="334" r:id="rId81"/>
    <p:sldId id="335" r:id="rId82"/>
    <p:sldId id="336" r:id="rId83"/>
    <p:sldId id="337" r:id="rId84"/>
    <p:sldId id="338" r:id="rId85"/>
    <p:sldId id="339" r:id="rId86"/>
    <p:sldId id="340" r:id="rId87"/>
    <p:sldId id="341" r:id="rId88"/>
    <p:sldId id="342" r:id="rId89"/>
    <p:sldId id="343" r:id="rId90"/>
    <p:sldId id="344" r:id="rId91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課程導覽" id="{26ABD69A-7FEC-FF27-6FFD-43E90D36C82D}">
          <p14:sldIdLst>
            <p14:sldId id="256"/>
            <p14:sldId id="257"/>
            <p14:sldId id="258"/>
            <p14:sldId id="259"/>
          </p14:sldIdLst>
        </p14:section>
        <p14:section name="第 1 章　傳統部署方式與容器部署的差異" id="{14E7F4A1-ACAD-8384-7AEE-054751F7B64C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第 2 章　常見容器方案" id="{40850084-560F-6DE6-32FF-D6D41DEA1867}">
          <p14:sldIdLst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</p14:sldIdLst>
        </p14:section>
        <p14:section name="第 3 章　帳號申請（不綁信用卡）" id="{72EB2FC9-4FF3-9F67-CDD9-201E8B09BDB4}">
          <p14:sldIdLst>
            <p14:sldId id="280"/>
            <p14:sldId id="281"/>
            <p14:sldId id="282"/>
            <p14:sldId id="283"/>
            <p14:sldId id="284"/>
            <p14:sldId id="285"/>
          </p14:sldIdLst>
        </p14:section>
        <p14:section name="第 4 章　Google AI Studio試用模型及產生金鑰" id="{757C9B4E-7095-C592-41E1-AE22BC429C57}">
          <p14:sldIdLst>
            <p14:sldId id="286"/>
            <p14:sldId id="287"/>
            <p14:sldId id="288"/>
            <p14:sldId id="289"/>
            <p14:sldId id="290"/>
            <p14:sldId id="291"/>
            <p14:sldId id="292"/>
          </p14:sldIdLst>
        </p14:section>
        <p14:section name="第 5 章　GitHub、Repo、Codespace 設置" id="{0C4BD295-58A6-FB8D-B1FD-7D365167DB61}">
          <p14:sldIdLst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</p14:sldIdLst>
        </p14:section>
        <p14:section name="第 6 章　雲端版 VS Code 及Ubuntu 命令列入門" id="{11CAC477-2601-9269-A1E8-F0121DBCA741}">
          <p14:sldIdLst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</p14:sldIdLst>
        </p14:section>
        <p14:section name="第 7 章　VS Code 程式碼直接以容器技術執行" id="{8F76E5DF-FDAD-9A2C-8A3B-6430D0799A81}">
          <p14:sldIdLst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</p14:sldIdLst>
        </p14:section>
        <p14:section name="第 8 章　程式碼打包成容器映像" id="{544FC1A5-291C-A59B-BD19-F4A1A4D15D6D}">
          <p14:sldIdLst>
            <p14:sldId id="322"/>
            <p14:sldId id="323"/>
            <p14:sldId id="324"/>
            <p14:sldId id="325"/>
            <p14:sldId id="326"/>
            <p14:sldId id="327"/>
            <p14:sldId id="328"/>
            <p14:sldId id="329"/>
            <p14:sldId id="330"/>
          </p14:sldIdLst>
        </p14:section>
        <p14:section name="第 9 章　以 Codespace 空容器執行映像" id="{637D19C8-2A65-B476-5EFB-247180F16D2D}">
          <p14:sldIdLst>
            <p14:sldId id="331"/>
            <p14:sldId id="332"/>
            <p14:sldId id="333"/>
            <p14:sldId id="334"/>
            <p14:sldId id="335"/>
            <p14:sldId id="336"/>
            <p14:sldId id="337"/>
            <p14:sldId id="338"/>
            <p14:sldId id="339"/>
            <p14:sldId id="340"/>
            <p14:sldId id="341"/>
          </p14:sldIdLst>
        </p14:section>
        <p14:section name="專案實作與課程總結" id="{9E83EB9A-06D8-B833-D604-AE4905616006}">
          <p14:sldIdLst>
            <p14:sldId id="342"/>
            <p14:sldId id="343"/>
            <p14:sldId id="34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75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theme" Target="theme/theme1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93" Type="http://schemas.openxmlformats.org/officeDocument/2006/relationships/presProps" Target="pres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slide" Target="slides/slide89.xml"/><Relationship Id="rId9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17751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4B1998A-8252-0207-154A-7972314DF3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>
            <a:spLocks noGrp="1"/>
          </p:cNvSpPr>
          <p:nvPr>
            <p:ph type="body" idx="101" hasCustomPrompt="1"/>
          </p:nvPr>
        </p:nvSpPr>
        <p:spPr>
          <a:xfrm>
            <a:off x="731520" y="1828800"/>
            <a:ext cx="768096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600" b="1" dirty="0">
                <a:solidFill>
                  <a:schemeClr val="accent2"/>
                </a:solidFill>
              </a:defRPr>
            </a:lvl1pPr>
          </a:lstStyle>
          <a:p>
            <a:pPr marL="0" indent="0" algn="l">
              <a:buNone/>
            </a:pPr>
            <a:endParaRPr lang="en-US" sz="1600" dirty="0"/>
          </a:p>
        </p:txBody>
      </p:sp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731520" y="2286000"/>
            <a:ext cx="768096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lnSpc>
                <a:spcPct val="105000"/>
              </a:lnSpc>
              <a:buNone/>
              <a:defRPr lang="en-US" sz="48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lnSpc>
                <a:spcPct val="105000"/>
              </a:lnSpc>
              <a:buNone/>
            </a:pPr>
            <a:endParaRPr lang="en-US" sz="4800" dirty="0"/>
          </a:p>
        </p:txBody>
      </p:sp>
      <p:sp>
        <p:nvSpPr>
          <p:cNvPr id="5" name="Text 1"/>
          <p:cNvSpPr>
            <a:spLocks noGrp="1"/>
          </p:cNvSpPr>
          <p:nvPr>
            <p:ph type="body" idx="103" hasCustomPrompt="1"/>
          </p:nvPr>
        </p:nvSpPr>
        <p:spPr>
          <a:xfrm>
            <a:off x="731520" y="4114800"/>
            <a:ext cx="76809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1800" dirty="0"/>
          </a:p>
        </p:txBody>
      </p:sp>
      <p:sp>
        <p:nvSpPr>
          <p:cNvPr id="6" name="Text 1"/>
          <p:cNvSpPr>
            <a:spLocks noGrp="1"/>
          </p:cNvSpPr>
          <p:nvPr>
            <p:ph type="body" idx="104" hasCustomPrompt="1"/>
          </p:nvPr>
        </p:nvSpPr>
        <p:spPr>
          <a:xfrm>
            <a:off x="731520" y="4709160"/>
            <a:ext cx="768096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6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>
            <a:spLocks noGrp="1"/>
          </p:cNvSpPr>
          <p:nvPr>
            <p:ph type="body" idx="101" hasCustomPrompt="1"/>
          </p:nvPr>
        </p:nvSpPr>
        <p:spPr>
          <a:xfrm>
            <a:off x="731520" y="1417320"/>
            <a:ext cx="3657600" cy="114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8000" b="1" dirty="0">
                <a:solidFill>
                  <a:schemeClr val="accent1"/>
                </a:solidFill>
              </a:defRPr>
            </a:lvl1pPr>
          </a:lstStyle>
          <a:p>
            <a:pPr marL="0" indent="0" algn="l">
              <a:buNone/>
            </a:pPr>
            <a:endParaRPr lang="en-US" sz="8000" dirty="0"/>
          </a:p>
        </p:txBody>
      </p:sp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731520" y="2697480"/>
            <a:ext cx="78638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lnSpc>
                <a:spcPct val="105000"/>
              </a:lnSpc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lnSpc>
                <a:spcPct val="105000"/>
              </a:lnSpc>
              <a:buNone/>
            </a:pPr>
            <a:endParaRPr lang="en-US" sz="3600" dirty="0"/>
          </a:p>
        </p:txBody>
      </p:sp>
      <p:sp>
        <p:nvSpPr>
          <p:cNvPr id="5" name="Text 1"/>
          <p:cNvSpPr>
            <a:spLocks noGrp="1"/>
          </p:cNvSpPr>
          <p:nvPr>
            <p:ph type="body" idx="103" hasCustomPrompt="1"/>
          </p:nvPr>
        </p:nvSpPr>
        <p:spPr>
          <a:xfrm>
            <a:off x="731520" y="4160520"/>
            <a:ext cx="78638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chemeClr val="accent2"/>
                </a:solidFill>
              </a:defRPr>
            </a:lvl1pPr>
          </a:lstStyle>
          <a:p>
            <a:pPr marL="0" indent="0" algn="l">
              <a:buNone/>
            </a:pPr>
            <a:endParaRPr lang="en-US" sz="1800" dirty="0"/>
          </a:p>
        </p:txBody>
      </p:sp>
      <p:sp>
        <p:nvSpPr>
          <p:cNvPr id="6" name="Text 1"/>
          <p:cNvSpPr>
            <a:spLocks noGrp="1"/>
          </p:cNvSpPr>
          <p:nvPr>
            <p:ph type="body" idx="104" hasCustomPrompt="1"/>
          </p:nvPr>
        </p:nvSpPr>
        <p:spPr>
          <a:xfrm>
            <a:off x="731520" y="4937760"/>
            <a:ext cx="786384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300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13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822960" y="1737360"/>
            <a:ext cx="768096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lnSpc>
                <a:spcPct val="110000"/>
              </a:lnSpc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lnSpc>
                <a:spcPct val="110000"/>
              </a:lnSpc>
              <a:buNone/>
            </a:pPr>
            <a:endParaRPr lang="en-US" sz="32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822960" y="3794760"/>
            <a:ext cx="768096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lnSpc>
                <a:spcPct val="120000"/>
              </a:lnSpc>
              <a:buNone/>
              <a:defRPr lang="en-US" sz="1800" dirty="0">
                <a:solidFill>
                  <a:schemeClr val="tx1"/>
                </a:solidFill>
              </a:defRPr>
            </a:lvl1pPr>
          </a:lstStyle>
          <a:p>
            <a:pPr marL="0" indent="0" algn="l">
              <a:lnSpc>
                <a:spcPct val="120000"/>
              </a:lnSpc>
              <a:buNone/>
            </a:pPr>
            <a:endParaRPr lang="en-US" sz="1800" dirty="0"/>
          </a:p>
        </p:txBody>
      </p:sp>
      <p:sp>
        <p:nvSpPr>
          <p:cNvPr id="5" name="Text 1"/>
          <p:cNvSpPr>
            <a:spLocks noGrp="1"/>
          </p:cNvSpPr>
          <p:nvPr>
            <p:ph type="body" idx="103" hasCustomPrompt="1"/>
          </p:nvPr>
        </p:nvSpPr>
        <p:spPr>
          <a:xfrm>
            <a:off x="822960" y="6400800"/>
            <a:ext cx="768096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000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10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02920" y="329184"/>
            <a:ext cx="813816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200" b="1" kern="0" spc="100" dirty="0">
                <a:solidFill>
                  <a:schemeClr val="accent2"/>
                </a:solidFill>
              </a:defRPr>
            </a:lvl1pPr>
          </a:lstStyle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02920" y="603504"/>
            <a:ext cx="813816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lnSpc>
                <a:spcPct val="100000"/>
              </a:lnSpc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lnSpc>
                <a:spcPct val="100000"/>
              </a:lnSpc>
              <a:buNone/>
            </a:pP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02920" y="6400800"/>
            <a:ext cx="813816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000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D96CA69-AD69-DA2B-0FDC-F13267AD12E9}"/>
              </a:ext>
            </a:extLst>
          </p:cNvPr>
          <p:cNvSpPr/>
          <p:nvPr userDrawn="1"/>
        </p:nvSpPr>
        <p:spPr>
          <a:xfrm>
            <a:off x="0" y="0"/>
            <a:ext cx="9144000" cy="17095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1216925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DA0BB7-265A-403C-9275-D587AB510EDC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4115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371181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87099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DA0BB7-265A-403C-9275-D587AB510EDC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7110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980728"/>
            <a:ext cx="4042792" cy="514543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980728"/>
            <a:ext cx="4042792" cy="514543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DA0BB7-265A-403C-9275-D587AB510EDC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4299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908720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28800"/>
            <a:ext cx="4040188" cy="44973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908720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1628800"/>
            <a:ext cx="4041775" cy="44973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DA0BB7-265A-403C-9275-D587AB510EDC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7065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DA0BB7-265A-403C-9275-D587AB510EDC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48236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DA0BB7-265A-403C-9275-D587AB510EDC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95191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915816" y="908720"/>
            <a:ext cx="5770984" cy="521744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914400"/>
            <a:ext cx="2314600" cy="52117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DA0BB7-265A-403C-9275-D587AB510EDC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8" name="標題 1"/>
          <p:cNvSpPr txBox="1">
            <a:spLocks/>
          </p:cNvSpPr>
          <p:nvPr userDrawn="1"/>
        </p:nvSpPr>
        <p:spPr>
          <a:xfrm>
            <a:off x="457200" y="-12144"/>
            <a:ext cx="8229600" cy="8488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j-cs"/>
              </a:rPr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16345224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1050305"/>
            <a:ext cx="5486400" cy="410688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DA0BB7-265A-403C-9275-D587AB510EDC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8" name="標題 1"/>
          <p:cNvSpPr txBox="1">
            <a:spLocks/>
          </p:cNvSpPr>
          <p:nvPr userDrawn="1"/>
        </p:nvSpPr>
        <p:spPr>
          <a:xfrm>
            <a:off x="457200" y="-12144"/>
            <a:ext cx="8229600" cy="8488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j-cs"/>
              </a:rPr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34466646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DA0BB7-265A-403C-9275-D587AB510EDC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43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7658000" y="947861"/>
            <a:ext cx="1234480" cy="5289451"/>
          </a:xfrm>
        </p:spPr>
        <p:txBody>
          <a:bodyPr vert="eaVert"/>
          <a:lstStyle>
            <a:lvl1pPr>
              <a:defRPr b="1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947861"/>
            <a:ext cx="6995120" cy="5289451"/>
          </a:xfrm>
        </p:spPr>
        <p:txBody>
          <a:bodyPr vert="eaVert"/>
          <a:lstStyle>
            <a:lvl1pPr>
              <a:defRPr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DA0BB7-265A-403C-9275-D587AB510EDC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437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image" Target="../media/image4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-12144"/>
            <a:ext cx="8229600" cy="8488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980728"/>
            <a:ext cx="8229600" cy="51454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3563888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DA0BB7-265A-403C-9275-D587AB510EDC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3621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Tx/>
        <a:buBlip>
          <a:blip r:embed="rId14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971550" indent="-514350" algn="l" defTabSz="914400" rtl="0" eaLnBrk="1" latinLnBrk="0" hangingPunct="1">
        <a:spcBef>
          <a:spcPct val="20000"/>
        </a:spcBef>
        <a:buFont typeface="+mj-lt"/>
        <a:buAutoNum type="arabicParenR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Tx/>
        <a:buBlip>
          <a:blip r:embed="rId14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9.png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24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2.png"/><Relationship Id="rId4" Type="http://schemas.openxmlformats.org/officeDocument/2006/relationships/image" Target="../media/image24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18.png"/><Relationship Id="rId4" Type="http://schemas.openxmlformats.org/officeDocument/2006/relationships/image" Target="../media/image26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8.png"/><Relationship Id="rId4" Type="http://schemas.openxmlformats.org/officeDocument/2006/relationships/image" Target="../media/image12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5" Type="http://schemas.openxmlformats.org/officeDocument/2006/relationships/image" Target="../media/image17.png"/><Relationship Id="rId4" Type="http://schemas.openxmlformats.org/officeDocument/2006/relationships/image" Target="../media/image19.pn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5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5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5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5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5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9.png"/><Relationship Id="rId4" Type="http://schemas.openxmlformats.org/officeDocument/2006/relationships/image" Target="../media/image14.png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5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5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4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5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5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5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5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5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5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DA9548BC-2EAA-B05B-276F-D6580D090D6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731520" y="18288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accent2"/>
                </a:solidFill>
              </a:rPr>
              <a:t>數據分析暨機器學習應用班</a:t>
            </a:r>
            <a:endParaRPr lang="en-US" sz="16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731520" y="2286000"/>
            <a:ext cx="7680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dirty="0">
                <a:solidFill>
                  <a:schemeClr val="bg1"/>
                </a:solidFill>
              </a:rPr>
              <a:t>AI 雲端部署</a:t>
            </a:r>
            <a:endParaRPr lang="en-US" sz="4800" dirty="0">
              <a:solidFill>
                <a:schemeClr val="bg1"/>
              </a:solidFill>
            </a:endParaRPr>
          </a:p>
          <a:p>
            <a:pPr marL="0" indent="0" algn="l">
              <a:lnSpc>
                <a:spcPct val="105000"/>
              </a:lnSpc>
              <a:buNone/>
            </a:pPr>
            <a:r>
              <a:rPr lang="en-US" sz="4800" b="1" dirty="0">
                <a:solidFill>
                  <a:schemeClr val="bg1"/>
                </a:solidFill>
              </a:rPr>
              <a:t>與容器化</a:t>
            </a: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4" name="Text 1"/>
          <p:cNvSpPr>
            <a:spLocks noGrp="1"/>
          </p:cNvSpPr>
          <p:nvPr>
            <p:ph type="body" idx="103" hasCustomPrompt="1"/>
          </p:nvPr>
        </p:nvSpPr>
        <p:spPr>
          <a:xfrm>
            <a:off x="731520" y="4114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800" dirty="0">
                <a:solidFill>
                  <a:schemeClr val="bg1"/>
                </a:solidFill>
              </a:rPr>
              <a:t>從一行程式碼，到一個能上線的 AI 聊天機器人網站</a:t>
            </a:r>
          </a:p>
        </p:txBody>
      </p:sp>
      <p:sp>
        <p:nvSpPr>
          <p:cNvPr id="5" name="Text 1"/>
          <p:cNvSpPr>
            <a:spLocks noGrp="1"/>
          </p:cNvSpPr>
          <p:nvPr>
            <p:ph type="body" idx="104" hasCustomPrompt="1"/>
          </p:nvPr>
        </p:nvSpPr>
        <p:spPr>
          <a:xfrm>
            <a:off x="731520" y="470916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bg1"/>
                </a:solidFill>
              </a:rPr>
              <a:t>授課教師　黃懷慶　　24 小時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chemeClr val="accent2"/>
                </a:solidFill>
              </a:rPr>
              <a:t>課程導覽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chemeClr val="tx1"/>
                </a:solidFill>
              </a:rPr>
              <a:t>課程結束時，你會帶走三樣東西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2"/>
                </a:solidFill>
              </a:rPr>
              <a:t>課程導覽　·　AI 雲端部署與容器化｜黃懷慶</a:t>
            </a:r>
            <a:endParaRPr lang="en-US" sz="1000" dirty="0"/>
          </a:p>
        </p:txBody>
      </p:sp>
      <p:sp>
        <p:nvSpPr>
          <p:cNvPr id="5" name="card-0-0"/>
          <p:cNvSpPr/>
          <p:nvPr/>
        </p:nvSpPr>
        <p:spPr>
          <a:xfrm>
            <a:off x="502920" y="1286764"/>
            <a:ext cx="2578608" cy="4364126"/>
          </a:xfrm>
          <a:prstGeom prst="roundRect">
            <a:avLst>
              <a:gd name="adj" fmla="val 3546"/>
            </a:avLst>
          </a:prstGeom>
          <a:solidFill>
            <a:schemeClr val="accent5"/>
          </a:solidFill>
          <a:ln w="9525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6" name="card-icon-0-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69644"/>
            <a:ext cx="329184" cy="329184"/>
          </a:xfrm>
          <a:prstGeom prst="rect">
            <a:avLst/>
          </a:prstGeom>
        </p:spPr>
      </p:pic>
      <p:sp>
        <p:nvSpPr>
          <p:cNvPr id="7" name="card-title-0-0"/>
          <p:cNvSpPr txBox="1"/>
          <p:nvPr/>
        </p:nvSpPr>
        <p:spPr>
          <a:xfrm>
            <a:off x="685800" y="1890268"/>
            <a:ext cx="2212848" cy="8014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65" b="1" dirty="0">
                <a:solidFill>
                  <a:schemeClr val="tx1"/>
                </a:solidFill>
              </a:rPr>
              <a:t>一個上線的 AI 網站</a:t>
            </a:r>
            <a:endParaRPr lang="en-US" sz="2465" dirty="0"/>
          </a:p>
        </p:txBody>
      </p:sp>
      <p:sp>
        <p:nvSpPr>
          <p:cNvPr id="8" name="card-body-0-0"/>
          <p:cNvSpPr txBox="1"/>
          <p:nvPr/>
        </p:nvSpPr>
        <p:spPr>
          <a:xfrm>
            <a:off x="685800" y="2746553"/>
            <a:ext cx="2212848" cy="2721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30" dirty="0">
                <a:solidFill>
                  <a:schemeClr val="tx2"/>
                </a:solidFill>
              </a:rPr>
              <a:t>一個能回答問題的 AI 聊天機器人網站，任何人打開網址就能使用。</a:t>
            </a:r>
            <a:endParaRPr lang="en-US" sz="2030" dirty="0"/>
          </a:p>
        </p:txBody>
      </p:sp>
      <p:sp>
        <p:nvSpPr>
          <p:cNvPr id="9" name="card-0-1"/>
          <p:cNvSpPr/>
          <p:nvPr/>
        </p:nvSpPr>
        <p:spPr>
          <a:xfrm>
            <a:off x="3282696" y="1286764"/>
            <a:ext cx="2578608" cy="4364126"/>
          </a:xfrm>
          <a:prstGeom prst="roundRect">
            <a:avLst>
              <a:gd name="adj" fmla="val 3546"/>
            </a:avLst>
          </a:prstGeom>
          <a:solidFill>
            <a:schemeClr val="accent5"/>
          </a:solidFill>
          <a:ln w="9525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10" name="card-icon-0-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5576" y="1469644"/>
            <a:ext cx="329184" cy="329184"/>
          </a:xfrm>
          <a:prstGeom prst="rect">
            <a:avLst/>
          </a:prstGeom>
        </p:spPr>
      </p:pic>
      <p:sp>
        <p:nvSpPr>
          <p:cNvPr id="11" name="card-title-0-1"/>
          <p:cNvSpPr txBox="1"/>
          <p:nvPr/>
        </p:nvSpPr>
        <p:spPr>
          <a:xfrm>
            <a:off x="3465576" y="1890268"/>
            <a:ext cx="2212848" cy="8014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65" b="1" dirty="0">
                <a:solidFill>
                  <a:schemeClr val="tx1"/>
                </a:solidFill>
              </a:rPr>
              <a:t>一套完整的流程</a:t>
            </a:r>
            <a:endParaRPr lang="en-US" sz="2465" dirty="0"/>
          </a:p>
        </p:txBody>
      </p:sp>
      <p:sp>
        <p:nvSpPr>
          <p:cNvPr id="12" name="card-body-0-1"/>
          <p:cNvSpPr txBox="1"/>
          <p:nvPr/>
        </p:nvSpPr>
        <p:spPr>
          <a:xfrm>
            <a:off x="3465576" y="2746553"/>
            <a:ext cx="2212848" cy="2721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30" dirty="0">
                <a:solidFill>
                  <a:schemeClr val="tx2"/>
                </a:solidFill>
              </a:rPr>
              <a:t>從寫程式、存版本、打包、到部署與回溯，業界每天在用的工作方式。</a:t>
            </a:r>
            <a:endParaRPr lang="en-US" sz="2030" dirty="0"/>
          </a:p>
        </p:txBody>
      </p:sp>
      <p:sp>
        <p:nvSpPr>
          <p:cNvPr id="13" name="card-0-2"/>
          <p:cNvSpPr/>
          <p:nvPr/>
        </p:nvSpPr>
        <p:spPr>
          <a:xfrm>
            <a:off x="6062472" y="1286764"/>
            <a:ext cx="2578608" cy="4364126"/>
          </a:xfrm>
          <a:prstGeom prst="roundRect">
            <a:avLst>
              <a:gd name="adj" fmla="val 3546"/>
            </a:avLst>
          </a:prstGeom>
          <a:solidFill>
            <a:schemeClr val="accent5"/>
          </a:solidFill>
          <a:ln w="9525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14" name="card-icon-0-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5352" y="1469644"/>
            <a:ext cx="329184" cy="329184"/>
          </a:xfrm>
          <a:prstGeom prst="rect">
            <a:avLst/>
          </a:prstGeom>
        </p:spPr>
      </p:pic>
      <p:sp>
        <p:nvSpPr>
          <p:cNvPr id="15" name="card-title-0-2"/>
          <p:cNvSpPr txBox="1"/>
          <p:nvPr/>
        </p:nvSpPr>
        <p:spPr>
          <a:xfrm>
            <a:off x="6245352" y="1890268"/>
            <a:ext cx="2212848" cy="8014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65" b="1" dirty="0">
                <a:solidFill>
                  <a:schemeClr val="tx1"/>
                </a:solidFill>
              </a:rPr>
              <a:t>一份帶得走的成果</a:t>
            </a:r>
            <a:endParaRPr lang="en-US" sz="2465" dirty="0"/>
          </a:p>
        </p:txBody>
      </p:sp>
      <p:sp>
        <p:nvSpPr>
          <p:cNvPr id="16" name="card-body-0-2"/>
          <p:cNvSpPr txBox="1"/>
          <p:nvPr/>
        </p:nvSpPr>
        <p:spPr>
          <a:xfrm>
            <a:off x="6245352" y="2746553"/>
            <a:ext cx="2212848" cy="2721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30" dirty="0">
                <a:solidFill>
                  <a:schemeClr val="tx2"/>
                </a:solidFill>
              </a:rPr>
              <a:t>程式碼、自動化紀錄、成品映像都留在你自己的 GitHub，課後可以繼續改進，也能分享給家人朋友。</a:t>
            </a:r>
            <a:endParaRPr lang="en-US" sz="20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02920" y="3291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chemeClr val="accent2"/>
                </a:solidFill>
              </a:rPr>
              <a:t>課程導覽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02920" y="603504"/>
            <a:ext cx="8138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chemeClr val="tx1"/>
                </a:solidFill>
              </a:rPr>
              <a:t>九章地圖：從觀念到親手部署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02920" y="64008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2"/>
                </a:solidFill>
              </a:rPr>
              <a:t>課程導覽　·　AI 雲端部署與容器化｜黃懷慶</a:t>
            </a:r>
            <a:endParaRPr lang="en-US" sz="1000" dirty="0"/>
          </a:p>
        </p:txBody>
      </p:sp>
      <p:graphicFrame>
        <p:nvGraphicFramePr>
          <p:cNvPr id="5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8745639"/>
              </p:ext>
            </p:extLst>
          </p:nvPr>
        </p:nvGraphicFramePr>
        <p:xfrm>
          <a:off x="502920" y="1286764"/>
          <a:ext cx="8138160" cy="4698085"/>
        </p:xfrm>
        <a:graphic>
          <a:graphicData uri="http://schemas.openxmlformats.org/drawingml/2006/table">
            <a:tbl>
              <a:tblPr/>
              <a:tblGrid>
                <a:gridCol w="11393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3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52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9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b="1" dirty="0">
                          <a:solidFill>
                            <a:schemeClr val="bg1"/>
                          </a:solidFill>
                        </a:rPr>
                        <a:t>階段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b="1" dirty="0">
                          <a:solidFill>
                            <a:schemeClr val="bg1"/>
                          </a:solidFill>
                        </a:rPr>
                        <a:t>章節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b="1" dirty="0">
                          <a:solidFill>
                            <a:schemeClr val="bg1"/>
                          </a:solidFill>
                        </a:rPr>
                        <a:t>一句話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5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觀念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1　傳統部署 vs </a:t>
                      </a:r>
                      <a:r>
                        <a:rPr lang="en-US" sz="2030" dirty="0" err="1">
                          <a:solidFill>
                            <a:schemeClr val="tx1"/>
                          </a:solidFill>
                        </a:rPr>
                        <a:t>容器</a:t>
                      </a:r>
                      <a:br>
                        <a:rPr lang="en-US" sz="203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2　常見容器方案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為什麼要用容器？有哪些選擇？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5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準備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3　</a:t>
                      </a:r>
                      <a:r>
                        <a:rPr lang="en-US" sz="2030" dirty="0" err="1">
                          <a:solidFill>
                            <a:schemeClr val="tx1"/>
                          </a:solidFill>
                        </a:rPr>
                        <a:t>帳號申請</a:t>
                      </a:r>
                      <a:br>
                        <a:rPr lang="en-US" sz="203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4　AI </a:t>
                      </a:r>
                      <a:r>
                        <a:rPr lang="en-US" sz="2030" dirty="0" err="1">
                          <a:solidFill>
                            <a:schemeClr val="tx1"/>
                          </a:solidFill>
                        </a:rPr>
                        <a:t>金鑰</a:t>
                      </a:r>
                      <a:br>
                        <a:rPr lang="en-US" sz="203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5　雲端開發環境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把工具和鑰匙準備好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5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操作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6　VS Code、命令列、Git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學會操作這台雲端電腦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811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實作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7　</a:t>
                      </a:r>
                      <a:r>
                        <a:rPr lang="en-US" sz="2030" dirty="0" err="1">
                          <a:solidFill>
                            <a:schemeClr val="tx1"/>
                          </a:solidFill>
                        </a:rPr>
                        <a:t>程式掛進容器執行</a:t>
                      </a: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　</a:t>
                      </a:r>
                      <a:br>
                        <a:rPr lang="en-US" sz="203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8　</a:t>
                      </a:r>
                      <a:r>
                        <a:rPr lang="en-US" sz="2030" dirty="0" err="1">
                          <a:solidFill>
                            <a:schemeClr val="tx1"/>
                          </a:solidFill>
                        </a:rPr>
                        <a:t>打包成映像</a:t>
                      </a: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　</a:t>
                      </a:r>
                      <a:br>
                        <a:rPr lang="en-US" sz="203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9　在空機器上部署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開發 → 交付 → 部署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02920" y="3291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chemeClr val="accent2"/>
                </a:solidFill>
              </a:rPr>
              <a:t>課程導覽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02920" y="603504"/>
            <a:ext cx="8138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chemeClr val="tx1"/>
                </a:solidFill>
              </a:rPr>
              <a:t>投影片講「為什麼」，課程 Repo 給「怎麼做」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02920" y="64008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2"/>
                </a:solidFill>
              </a:rPr>
              <a:t>課程導覽　·　AI 雲端部署與容器化｜黃懷慶</a:t>
            </a:r>
            <a:endParaRPr lang="en-US" sz="1000" dirty="0"/>
          </a:p>
        </p:txBody>
      </p:sp>
      <p:sp>
        <p:nvSpPr>
          <p:cNvPr id="5" name="callout"/>
          <p:cNvSpPr/>
          <p:nvPr/>
        </p:nvSpPr>
        <p:spPr>
          <a:xfrm>
            <a:off x="502920" y="1787144"/>
            <a:ext cx="8138160" cy="3035808"/>
          </a:xfrm>
          <a:prstGeom prst="roundRect">
            <a:avLst>
              <a:gd name="adj" fmla="val 3614"/>
            </a:avLst>
          </a:prstGeom>
          <a:solidFill>
            <a:schemeClr val="accent5"/>
          </a:solidFill>
          <a:ln w="19050">
            <a:solidFill>
              <a:srgbClr val="D9692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6" name="callout-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870708"/>
            <a:ext cx="868680" cy="868680"/>
          </a:xfrm>
          <a:prstGeom prst="rect">
            <a:avLst/>
          </a:prstGeom>
        </p:spPr>
      </p:pic>
      <p:sp>
        <p:nvSpPr>
          <p:cNvPr id="7" name="callout-text"/>
          <p:cNvSpPr txBox="1"/>
          <p:nvPr/>
        </p:nvSpPr>
        <p:spPr>
          <a:xfrm>
            <a:off x="2011680" y="2107184"/>
            <a:ext cx="6309360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7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投影片：說明每一步</a:t>
            </a:r>
            <a:r>
              <a:rPr lang="en-US" sz="2400" b="1" dirty="0">
                <a:solidFill>
                  <a:schemeClr val="tx1"/>
                </a:solidFill>
              </a:rPr>
              <a:t>是什麼</a:t>
            </a:r>
            <a:r>
              <a:rPr lang="en-US" sz="2400" dirty="0">
                <a:solidFill>
                  <a:schemeClr val="tx1"/>
                </a:solidFill>
              </a:rPr>
              <a:t>、</a:t>
            </a:r>
            <a:r>
              <a:rPr lang="en-US" sz="2400" b="1" dirty="0">
                <a:solidFill>
                  <a:schemeClr val="tx1"/>
                </a:solidFill>
              </a:rPr>
              <a:t>為什麼要這樣做</a:t>
            </a:r>
            <a:endParaRPr lang="en-US" sz="24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課程 Repo：每一章都有一份說明檔，指令與程式碼</a:t>
            </a:r>
            <a:r>
              <a:rPr lang="en-US" sz="2400" b="1" dirty="0">
                <a:solidFill>
                  <a:schemeClr val="tx1"/>
                </a:solidFill>
              </a:rPr>
              <a:t>直接複製貼上</a:t>
            </a:r>
            <a:endParaRPr lang="en-US" sz="2400" dirty="0"/>
          </a:p>
          <a:p>
            <a:pPr>
              <a:spcAft>
                <a:spcPts val="700"/>
              </a:spcAft>
            </a:pPr>
            <a:r>
              <a:rPr lang="en-US" sz="2400" dirty="0">
                <a:solidFill>
                  <a:schemeClr val="tx1"/>
                </a:solidFill>
              </a:rPr>
              <a:t>課程 Repo </a:t>
            </a:r>
            <a:r>
              <a:rPr lang="en-US" sz="2400" dirty="0" err="1">
                <a:solidFill>
                  <a:schemeClr val="tx1"/>
                </a:solidFill>
              </a:rPr>
              <a:t>網址：</a:t>
            </a:r>
            <a:r>
              <a:rPr lang="en-US" sz="2400" b="1" dirty="0" err="1"/>
              <a:t>https</a:t>
            </a:r>
            <a:r>
              <a:rPr lang="en-US" sz="2400" b="1" dirty="0"/>
              <a:t>://github.com/</a:t>
            </a:r>
            <a:r>
              <a:rPr lang="en-US" sz="2400" b="1" dirty="0" err="1">
                <a:solidFill>
                  <a:srgbClr val="FF0000"/>
                </a:solidFill>
              </a:rPr>
              <a:t>it</a:t>
            </a:r>
            <a:r>
              <a:rPr lang="en-US" sz="2400" b="1" dirty="0" err="1"/>
              <a:t>training-maro</a:t>
            </a:r>
            <a:r>
              <a:rPr lang="en-US" sz="2400" b="1" dirty="0"/>
              <a:t>/docker-</a:t>
            </a:r>
            <a:r>
              <a:rPr lang="en-US" sz="2400" b="1" dirty="0" err="1"/>
              <a:t>codespace</a:t>
            </a:r>
            <a:r>
              <a:rPr lang="en-US" sz="2400" b="1" dirty="0" err="1">
                <a:solidFill>
                  <a:srgbClr val="FF0000"/>
                </a:solidFill>
              </a:rPr>
              <a:t>s</a:t>
            </a:r>
            <a:r>
              <a:rPr lang="en-US" sz="2400" b="1" dirty="0"/>
              <a:t>-study</a:t>
            </a:r>
            <a:endParaRPr lang="en-US" sz="2400" dirty="0"/>
          </a:p>
        </p:txBody>
      </p:sp>
      <p:sp>
        <p:nvSpPr>
          <p:cNvPr id="8" name="note"/>
          <p:cNvSpPr txBox="1"/>
          <p:nvPr/>
        </p:nvSpPr>
        <p:spPr>
          <a:xfrm>
            <a:off x="502920" y="5024120"/>
            <a:ext cx="8138160" cy="659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chemeClr val="tx2"/>
                </a:solidFill>
              </a:rPr>
              <a:t>打字很花時間，也容易打錯。我們把時間留給「理解」，而不是「打字」。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731520" y="1417320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8000" b="1" dirty="0">
                <a:solidFill>
                  <a:schemeClr val="accent1"/>
                </a:solidFill>
              </a:rPr>
              <a:t>01</a:t>
            </a:r>
            <a:endParaRPr lang="en-US" sz="80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731520" y="26974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 dirty="0">
                <a:solidFill>
                  <a:schemeClr val="tx1"/>
                </a:solidFill>
              </a:rPr>
              <a:t>傳統部署方式與</a:t>
            </a:r>
            <a:endParaRPr lang="en-US" sz="36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 dirty="0">
                <a:solidFill>
                  <a:schemeClr val="tx1"/>
                </a:solidFill>
              </a:rPr>
              <a:t>容器部署的差異</a:t>
            </a:r>
            <a:endParaRPr lang="en-US" sz="3600" dirty="0"/>
          </a:p>
        </p:txBody>
      </p:sp>
      <p:sp>
        <p:nvSpPr>
          <p:cNvPr id="4" name="Text 1"/>
          <p:cNvSpPr>
            <a:spLocks noGrp="1"/>
          </p:cNvSpPr>
          <p:nvPr>
            <p:ph type="body" idx="103" hasCustomPrompt="1"/>
          </p:nvPr>
        </p:nvSpPr>
        <p:spPr>
          <a:xfrm>
            <a:off x="731520" y="416052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accent2"/>
                </a:solidFill>
              </a:rPr>
              <a:t>為什麼「在我電腦上可以跑」，換一台就壞掉？</a:t>
            </a:r>
            <a:endParaRPr lang="en-US" sz="1800" dirty="0"/>
          </a:p>
        </p:txBody>
      </p:sp>
      <p:sp>
        <p:nvSpPr>
          <p:cNvPr id="5" name="Text 1"/>
          <p:cNvSpPr>
            <a:spLocks noGrp="1"/>
          </p:cNvSpPr>
          <p:nvPr>
            <p:ph type="body" idx="104" hasCustomPrompt="1"/>
          </p:nvPr>
        </p:nvSpPr>
        <p:spPr>
          <a:xfrm>
            <a:off x="731520" y="49377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300" dirty="0">
                <a:solidFill>
                  <a:schemeClr val="tx2"/>
                </a:solidFill>
              </a:rPr>
              <a:t>講授　｜　建議 2 小時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02920" y="3291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chemeClr val="accent2"/>
                </a:solidFill>
              </a:rPr>
              <a:t>第 1 章　傳統部署 vs 容器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02920" y="603504"/>
            <a:ext cx="8138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chemeClr val="tx1"/>
                </a:solidFill>
              </a:rPr>
              <a:t>先想一個生活例子：照食譜做菜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02920" y="64008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2"/>
                </a:solidFill>
              </a:rPr>
              <a:t>第 1 章　傳統部署 vs 容器　·　AI 雲端部署與容器化｜黃懷慶</a:t>
            </a:r>
            <a:endParaRPr lang="en-US" sz="1000" dirty="0"/>
          </a:p>
        </p:txBody>
      </p:sp>
      <p:sp>
        <p:nvSpPr>
          <p:cNvPr id="5" name="col-0"/>
          <p:cNvSpPr/>
          <p:nvPr/>
        </p:nvSpPr>
        <p:spPr>
          <a:xfrm>
            <a:off x="502920" y="1286764"/>
            <a:ext cx="3968496" cy="4632554"/>
          </a:xfrm>
          <a:prstGeom prst="roundRect">
            <a:avLst>
              <a:gd name="adj" fmla="val 2304"/>
            </a:avLst>
          </a:prstGeom>
          <a:solidFill>
            <a:schemeClr val="accent5"/>
          </a:solidFill>
          <a:ln w="9525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col-title-0"/>
          <p:cNvSpPr txBox="1"/>
          <p:nvPr/>
        </p:nvSpPr>
        <p:spPr>
          <a:xfrm>
            <a:off x="722376" y="1506220"/>
            <a:ext cx="3529584" cy="895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55" b="1" dirty="0">
                <a:solidFill>
                  <a:schemeClr val="tx1"/>
                </a:solidFill>
              </a:rPr>
              <a:t>同一份食譜，交給十個人</a:t>
            </a:r>
            <a:endParaRPr lang="en-US" sz="2755" dirty="0"/>
          </a:p>
        </p:txBody>
      </p:sp>
      <p:sp>
        <p:nvSpPr>
          <p:cNvPr id="7" name="col-list-0"/>
          <p:cNvSpPr txBox="1"/>
          <p:nvPr/>
        </p:nvSpPr>
        <p:spPr>
          <a:xfrm>
            <a:off x="722376" y="2511654"/>
            <a:ext cx="3529584" cy="3188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dirty="0">
                <a:solidFill>
                  <a:schemeClr val="tx2"/>
                </a:solidFill>
              </a:rPr>
              <a:t>每個人的鍋子、爐火不一樣</a:t>
            </a:r>
            <a:endParaRPr lang="en-US" sz="2175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dirty="0">
                <a:solidFill>
                  <a:schemeClr val="tx2"/>
                </a:solidFill>
              </a:rPr>
              <a:t>醬油、鹽的品牌不一樣</a:t>
            </a:r>
            <a:endParaRPr lang="en-US" sz="2175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dirty="0">
                <a:solidFill>
                  <a:schemeClr val="tx2"/>
                </a:solidFill>
              </a:rPr>
              <a:t>有人照做、有人憑感覺加料</a:t>
            </a:r>
            <a:endParaRPr lang="en-US" sz="2175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dirty="0">
                <a:solidFill>
                  <a:schemeClr val="tx2"/>
                </a:solidFill>
              </a:rPr>
              <a:t>結果：</a:t>
            </a:r>
            <a:r>
              <a:rPr lang="en-US" sz="2175" b="1" dirty="0">
                <a:solidFill>
                  <a:schemeClr val="tx2"/>
                </a:solidFill>
              </a:rPr>
              <a:t>十個人做出十種味道</a:t>
            </a:r>
            <a:endParaRPr lang="en-US" sz="2175" dirty="0"/>
          </a:p>
        </p:txBody>
      </p:sp>
      <p:sp>
        <p:nvSpPr>
          <p:cNvPr id="8" name="col-1"/>
          <p:cNvSpPr/>
          <p:nvPr/>
        </p:nvSpPr>
        <p:spPr>
          <a:xfrm>
            <a:off x="4672584" y="1286764"/>
            <a:ext cx="3968496" cy="4632554"/>
          </a:xfrm>
          <a:prstGeom prst="roundRect">
            <a:avLst>
              <a:gd name="adj" fmla="val 2304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col-title-1"/>
          <p:cNvSpPr txBox="1"/>
          <p:nvPr/>
        </p:nvSpPr>
        <p:spPr>
          <a:xfrm>
            <a:off x="4892040" y="1506220"/>
            <a:ext cx="3529584" cy="447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55" b="1" dirty="0">
                <a:solidFill>
                  <a:schemeClr val="bg1"/>
                </a:solidFill>
              </a:rPr>
              <a:t>這就是「傳統部署」</a:t>
            </a:r>
            <a:endParaRPr lang="en-US" sz="2755" dirty="0"/>
          </a:p>
        </p:txBody>
      </p:sp>
      <p:sp>
        <p:nvSpPr>
          <p:cNvPr id="10" name="col-list-1"/>
          <p:cNvSpPr txBox="1"/>
          <p:nvPr/>
        </p:nvSpPr>
        <p:spPr>
          <a:xfrm>
            <a:off x="4892040" y="2063801"/>
            <a:ext cx="3529584" cy="3636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dirty="0">
                <a:solidFill>
                  <a:schemeClr val="bg2"/>
                </a:solidFill>
              </a:rPr>
              <a:t>程式碼＝食材</a:t>
            </a:r>
            <a:endParaRPr lang="en-US" sz="2175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dirty="0">
                <a:solidFill>
                  <a:schemeClr val="bg2"/>
                </a:solidFill>
              </a:rPr>
              <a:t>安裝說明＝食譜</a:t>
            </a:r>
            <a:endParaRPr lang="en-US" sz="2175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dirty="0">
                <a:solidFill>
                  <a:schemeClr val="bg2"/>
                </a:solidFill>
              </a:rPr>
              <a:t>每台伺服器＝不同的廚房</a:t>
            </a:r>
            <a:endParaRPr lang="en-US" sz="2175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dirty="0">
                <a:solidFill>
                  <a:schemeClr val="bg2"/>
                </a:solidFill>
              </a:rPr>
              <a:t>結果：</a:t>
            </a:r>
            <a:r>
              <a:rPr lang="en-US" sz="2175" b="1" dirty="0">
                <a:solidFill>
                  <a:schemeClr val="bg2"/>
                </a:solidFill>
              </a:rPr>
              <a:t>每台機器跑出不同的狀況</a:t>
            </a:r>
            <a:endParaRPr lang="en-US" sz="21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02920" y="3291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chemeClr val="accent2"/>
                </a:solidFill>
              </a:rPr>
              <a:t>第 1 章　傳統部署 vs 容器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02920" y="603504"/>
            <a:ext cx="8138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chemeClr val="tx1"/>
                </a:solidFill>
              </a:rPr>
              <a:t>傳統部署：每台機器自己「煮一次」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02920" y="64008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2"/>
                </a:solidFill>
              </a:rPr>
              <a:t>第 1 章　傳統部署 vs 容器　·　AI 雲端部署與容器化｜黃懷慶</a:t>
            </a:r>
            <a:endParaRPr lang="en-US" sz="1000" dirty="0"/>
          </a:p>
        </p:txBody>
      </p:sp>
      <p:sp>
        <p:nvSpPr>
          <p:cNvPr id="5" name="step-0"/>
          <p:cNvSpPr/>
          <p:nvPr/>
        </p:nvSpPr>
        <p:spPr>
          <a:xfrm>
            <a:off x="502920" y="1286764"/>
            <a:ext cx="1691640" cy="2620061"/>
          </a:xfrm>
          <a:prstGeom prst="roundRect">
            <a:avLst>
              <a:gd name="adj" fmla="val 5405"/>
            </a:avLst>
          </a:prstGeom>
          <a:solidFill>
            <a:schemeClr val="accent5"/>
          </a:solidFill>
          <a:ln w="9525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tep-title-0"/>
          <p:cNvSpPr txBox="1"/>
          <p:nvPr/>
        </p:nvSpPr>
        <p:spPr>
          <a:xfrm>
            <a:off x="649224" y="1433068"/>
            <a:ext cx="1399032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75" b="1" dirty="0">
                <a:solidFill>
                  <a:schemeClr val="tx1"/>
                </a:solidFill>
              </a:rPr>
              <a:t>開發者的電腦</a:t>
            </a:r>
            <a:endParaRPr lang="en-US" sz="2175" dirty="0"/>
          </a:p>
        </p:txBody>
      </p:sp>
      <p:sp>
        <p:nvSpPr>
          <p:cNvPr id="7" name="step-body-0"/>
          <p:cNvSpPr txBox="1"/>
          <p:nvPr/>
        </p:nvSpPr>
        <p:spPr>
          <a:xfrm>
            <a:off x="649224" y="2213356"/>
            <a:ext cx="1399032" cy="1547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58" dirty="0">
                <a:solidFill>
                  <a:schemeClr val="tx2"/>
                </a:solidFill>
              </a:rPr>
              <a:t>寫好程式，附上一份安裝說明</a:t>
            </a:r>
            <a:endParaRPr lang="en-US" sz="1958" dirty="0"/>
          </a:p>
        </p:txBody>
      </p:sp>
      <p:sp>
        <p:nvSpPr>
          <p:cNvPr id="8" name="arrow-0"/>
          <p:cNvSpPr/>
          <p:nvPr/>
        </p:nvSpPr>
        <p:spPr>
          <a:xfrm>
            <a:off x="2286000" y="2496210"/>
            <a:ext cx="274320" cy="201168"/>
          </a:xfrm>
          <a:prstGeom prst="rightArrow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step-1"/>
          <p:cNvSpPr/>
          <p:nvPr/>
        </p:nvSpPr>
        <p:spPr>
          <a:xfrm>
            <a:off x="2651760" y="1286764"/>
            <a:ext cx="1691640" cy="2620061"/>
          </a:xfrm>
          <a:prstGeom prst="roundRect">
            <a:avLst>
              <a:gd name="adj" fmla="val 5405"/>
            </a:avLst>
          </a:prstGeom>
          <a:solidFill>
            <a:schemeClr val="accent5"/>
          </a:solidFill>
          <a:ln w="9525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tep-title-1"/>
          <p:cNvSpPr txBox="1"/>
          <p:nvPr/>
        </p:nvSpPr>
        <p:spPr>
          <a:xfrm>
            <a:off x="2798064" y="1433068"/>
            <a:ext cx="139903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75" b="1" dirty="0">
                <a:solidFill>
                  <a:schemeClr val="tx1"/>
                </a:solidFill>
              </a:rPr>
              <a:t>伺服器 A</a:t>
            </a:r>
            <a:endParaRPr lang="en-US" sz="2175" dirty="0"/>
          </a:p>
        </p:txBody>
      </p:sp>
      <p:sp>
        <p:nvSpPr>
          <p:cNvPr id="11" name="step-body-1"/>
          <p:cNvSpPr txBox="1"/>
          <p:nvPr/>
        </p:nvSpPr>
        <p:spPr>
          <a:xfrm>
            <a:off x="2798064" y="1859788"/>
            <a:ext cx="1399032" cy="1900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58" dirty="0">
                <a:solidFill>
                  <a:schemeClr val="tx2"/>
                </a:solidFill>
              </a:rPr>
              <a:t>安裝語言、套件、設定檔，複製程式</a:t>
            </a:r>
            <a:endParaRPr lang="en-US" sz="1958" dirty="0"/>
          </a:p>
        </p:txBody>
      </p:sp>
      <p:sp>
        <p:nvSpPr>
          <p:cNvPr id="12" name="arrow-1"/>
          <p:cNvSpPr/>
          <p:nvPr/>
        </p:nvSpPr>
        <p:spPr>
          <a:xfrm>
            <a:off x="4434840" y="2496210"/>
            <a:ext cx="274320" cy="201168"/>
          </a:xfrm>
          <a:prstGeom prst="rightArrow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step-2"/>
          <p:cNvSpPr/>
          <p:nvPr/>
        </p:nvSpPr>
        <p:spPr>
          <a:xfrm>
            <a:off x="4800600" y="1286764"/>
            <a:ext cx="1691640" cy="2620061"/>
          </a:xfrm>
          <a:prstGeom prst="roundRect">
            <a:avLst>
              <a:gd name="adj" fmla="val 5405"/>
            </a:avLst>
          </a:prstGeom>
          <a:solidFill>
            <a:schemeClr val="accent5"/>
          </a:solidFill>
          <a:ln w="9525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tep-title-2"/>
          <p:cNvSpPr txBox="1"/>
          <p:nvPr/>
        </p:nvSpPr>
        <p:spPr>
          <a:xfrm>
            <a:off x="4946904" y="1433068"/>
            <a:ext cx="139903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75" b="1" dirty="0">
                <a:solidFill>
                  <a:schemeClr val="tx1"/>
                </a:solidFill>
              </a:rPr>
              <a:t>伺服器 B</a:t>
            </a:r>
            <a:endParaRPr lang="en-US" sz="2175" dirty="0"/>
          </a:p>
        </p:txBody>
      </p:sp>
      <p:sp>
        <p:nvSpPr>
          <p:cNvPr id="15" name="step-body-2"/>
          <p:cNvSpPr txBox="1"/>
          <p:nvPr/>
        </p:nvSpPr>
        <p:spPr>
          <a:xfrm>
            <a:off x="4946904" y="1859788"/>
            <a:ext cx="1399032" cy="1900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58" dirty="0">
                <a:solidFill>
                  <a:schemeClr val="tx2"/>
                </a:solidFill>
              </a:rPr>
              <a:t>再做一次，但版本可能已經不同</a:t>
            </a:r>
            <a:endParaRPr lang="en-US" sz="1958" dirty="0"/>
          </a:p>
        </p:txBody>
      </p:sp>
      <p:sp>
        <p:nvSpPr>
          <p:cNvPr id="16" name="arrow-2"/>
          <p:cNvSpPr/>
          <p:nvPr/>
        </p:nvSpPr>
        <p:spPr>
          <a:xfrm>
            <a:off x="6583680" y="2496210"/>
            <a:ext cx="274320" cy="201168"/>
          </a:xfrm>
          <a:prstGeom prst="rightArrow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step-3"/>
          <p:cNvSpPr/>
          <p:nvPr/>
        </p:nvSpPr>
        <p:spPr>
          <a:xfrm>
            <a:off x="6949440" y="1286764"/>
            <a:ext cx="1691640" cy="2620061"/>
          </a:xfrm>
          <a:prstGeom prst="roundRect">
            <a:avLst>
              <a:gd name="adj" fmla="val 5405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step-title-3"/>
          <p:cNvSpPr txBox="1"/>
          <p:nvPr/>
        </p:nvSpPr>
        <p:spPr>
          <a:xfrm>
            <a:off x="7095744" y="1433068"/>
            <a:ext cx="139903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75" b="1" dirty="0">
                <a:solidFill>
                  <a:schemeClr val="tx1"/>
                </a:solidFill>
              </a:rPr>
              <a:t>伺服器 C</a:t>
            </a:r>
            <a:endParaRPr lang="en-US" sz="2175" dirty="0"/>
          </a:p>
        </p:txBody>
      </p:sp>
      <p:sp>
        <p:nvSpPr>
          <p:cNvPr id="19" name="step-body-3"/>
          <p:cNvSpPr txBox="1"/>
          <p:nvPr/>
        </p:nvSpPr>
        <p:spPr>
          <a:xfrm>
            <a:off x="7095744" y="1859788"/>
            <a:ext cx="1399032" cy="1900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58" dirty="0">
                <a:solidFill>
                  <a:schemeClr val="tx1"/>
                </a:solidFill>
              </a:rPr>
              <a:t>再做一次……出錯的機率越來越高</a:t>
            </a:r>
            <a:endParaRPr lang="en-US" sz="1958" dirty="0"/>
          </a:p>
        </p:txBody>
      </p:sp>
      <p:sp>
        <p:nvSpPr>
          <p:cNvPr id="20" name="note-box"/>
          <p:cNvSpPr/>
          <p:nvPr/>
        </p:nvSpPr>
        <p:spPr>
          <a:xfrm>
            <a:off x="502920" y="4107993"/>
            <a:ext cx="8138160" cy="897738"/>
          </a:xfrm>
          <a:prstGeom prst="roundRect">
            <a:avLst>
              <a:gd name="adj" fmla="val 814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note"/>
          <p:cNvSpPr txBox="1"/>
          <p:nvPr/>
        </p:nvSpPr>
        <p:spPr>
          <a:xfrm>
            <a:off x="685800" y="4107993"/>
            <a:ext cx="7772400" cy="897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30" dirty="0">
                <a:solidFill>
                  <a:schemeClr val="tx1"/>
                </a:solidFill>
              </a:rPr>
              <a:t>問題的根源：交付的是「原料＋食譜」，而食譜每執行一次，結果都可能不同。</a:t>
            </a:r>
            <a:endParaRPr lang="en-US" sz="20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02920" y="3291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chemeClr val="accent2"/>
                </a:solidFill>
              </a:rPr>
              <a:t>第 1 章　傳統部署 vs 容器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02920" y="603504"/>
            <a:ext cx="8138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chemeClr val="tx1"/>
                </a:solidFill>
              </a:rPr>
              <a:t>傳統部署的四個痛點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02920" y="64008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2"/>
                </a:solidFill>
              </a:rPr>
              <a:t>第 1 章　傳統部署 vs 容器　·　AI 雲端部署與容器化｜黃懷慶</a:t>
            </a:r>
            <a:endParaRPr lang="en-US" sz="1000" dirty="0"/>
          </a:p>
        </p:txBody>
      </p:sp>
      <p:sp>
        <p:nvSpPr>
          <p:cNvPr id="5" name="card-0-0"/>
          <p:cNvSpPr/>
          <p:nvPr/>
        </p:nvSpPr>
        <p:spPr>
          <a:xfrm>
            <a:off x="502920" y="1286764"/>
            <a:ext cx="3968496" cy="2313432"/>
          </a:xfrm>
          <a:prstGeom prst="roundRect">
            <a:avLst>
              <a:gd name="adj" fmla="val 3953"/>
            </a:avLst>
          </a:prstGeom>
          <a:solidFill>
            <a:schemeClr val="accent5"/>
          </a:solidFill>
          <a:ln w="9525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6" name="card-icon-0-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69644"/>
            <a:ext cx="329184" cy="329184"/>
          </a:xfrm>
          <a:prstGeom prst="rect">
            <a:avLst/>
          </a:prstGeom>
        </p:spPr>
      </p:pic>
      <p:sp>
        <p:nvSpPr>
          <p:cNvPr id="7" name="card-title-0-0"/>
          <p:cNvSpPr txBox="1"/>
          <p:nvPr/>
        </p:nvSpPr>
        <p:spPr>
          <a:xfrm>
            <a:off x="685800" y="1890268"/>
            <a:ext cx="3602736" cy="400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65" b="1" dirty="0">
                <a:solidFill>
                  <a:schemeClr val="tx1"/>
                </a:solidFill>
              </a:rPr>
              <a:t>環境不一致</a:t>
            </a:r>
            <a:endParaRPr lang="en-US" sz="2465" dirty="0"/>
          </a:p>
        </p:txBody>
      </p:sp>
      <p:sp>
        <p:nvSpPr>
          <p:cNvPr id="8" name="card-body-0-0"/>
          <p:cNvSpPr txBox="1"/>
          <p:nvPr/>
        </p:nvSpPr>
        <p:spPr>
          <a:xfrm>
            <a:off x="685800" y="2345842"/>
            <a:ext cx="3602736" cy="1071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30" dirty="0">
                <a:solidFill>
                  <a:schemeClr val="tx2"/>
                </a:solidFill>
              </a:rPr>
              <a:t>你的電腦和伺服器裝的版本不同，程式就可能出錯。</a:t>
            </a:r>
            <a:endParaRPr lang="en-US" sz="2030" dirty="0"/>
          </a:p>
        </p:txBody>
      </p:sp>
      <p:sp>
        <p:nvSpPr>
          <p:cNvPr id="9" name="card-0-1"/>
          <p:cNvSpPr/>
          <p:nvPr/>
        </p:nvSpPr>
        <p:spPr>
          <a:xfrm>
            <a:off x="4672584" y="1286764"/>
            <a:ext cx="3968496" cy="2313432"/>
          </a:xfrm>
          <a:prstGeom prst="roundRect">
            <a:avLst>
              <a:gd name="adj" fmla="val 3953"/>
            </a:avLst>
          </a:prstGeom>
          <a:solidFill>
            <a:schemeClr val="accent5"/>
          </a:solidFill>
          <a:ln w="9525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10" name="card-icon-0-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5464" y="1469644"/>
            <a:ext cx="329184" cy="329184"/>
          </a:xfrm>
          <a:prstGeom prst="rect">
            <a:avLst/>
          </a:prstGeom>
        </p:spPr>
      </p:pic>
      <p:sp>
        <p:nvSpPr>
          <p:cNvPr id="11" name="card-title-0-1"/>
          <p:cNvSpPr txBox="1"/>
          <p:nvPr/>
        </p:nvSpPr>
        <p:spPr>
          <a:xfrm>
            <a:off x="4855464" y="1890268"/>
            <a:ext cx="3602736" cy="400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65" b="1" dirty="0">
                <a:solidFill>
                  <a:schemeClr val="tx1"/>
                </a:solidFill>
              </a:rPr>
              <a:t>擴充很慢</a:t>
            </a:r>
            <a:endParaRPr lang="en-US" sz="2465" dirty="0"/>
          </a:p>
        </p:txBody>
      </p:sp>
      <p:sp>
        <p:nvSpPr>
          <p:cNvPr id="12" name="card-body-0-1"/>
          <p:cNvSpPr txBox="1"/>
          <p:nvPr/>
        </p:nvSpPr>
        <p:spPr>
          <a:xfrm>
            <a:off x="4855464" y="2345842"/>
            <a:ext cx="3602736" cy="1071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30" dirty="0">
                <a:solidFill>
                  <a:schemeClr val="tx2"/>
                </a:solidFill>
              </a:rPr>
              <a:t>客人暴增要加開機器，安裝設定要好幾個小時。</a:t>
            </a:r>
            <a:endParaRPr lang="en-US" sz="2030" dirty="0"/>
          </a:p>
        </p:txBody>
      </p:sp>
      <p:sp>
        <p:nvSpPr>
          <p:cNvPr id="13" name="card-1-0"/>
          <p:cNvSpPr/>
          <p:nvPr/>
        </p:nvSpPr>
        <p:spPr>
          <a:xfrm>
            <a:off x="502920" y="3801364"/>
            <a:ext cx="3968496" cy="2313432"/>
          </a:xfrm>
          <a:prstGeom prst="roundRect">
            <a:avLst>
              <a:gd name="adj" fmla="val 3953"/>
            </a:avLst>
          </a:prstGeom>
          <a:solidFill>
            <a:schemeClr val="accent5"/>
          </a:solidFill>
          <a:ln w="9525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14" name="card-icon-1-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984244"/>
            <a:ext cx="329184" cy="329184"/>
          </a:xfrm>
          <a:prstGeom prst="rect">
            <a:avLst/>
          </a:prstGeom>
        </p:spPr>
      </p:pic>
      <p:sp>
        <p:nvSpPr>
          <p:cNvPr id="15" name="card-title-1-0"/>
          <p:cNvSpPr txBox="1"/>
          <p:nvPr/>
        </p:nvSpPr>
        <p:spPr>
          <a:xfrm>
            <a:off x="685800" y="4404868"/>
            <a:ext cx="3602736" cy="400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65" b="1" dirty="0">
                <a:solidFill>
                  <a:schemeClr val="tx1"/>
                </a:solidFill>
              </a:rPr>
              <a:t>更新半新半舊</a:t>
            </a:r>
            <a:endParaRPr lang="en-US" sz="2465" dirty="0"/>
          </a:p>
        </p:txBody>
      </p:sp>
      <p:sp>
        <p:nvSpPr>
          <p:cNvPr id="16" name="card-body-1-0"/>
          <p:cNvSpPr txBox="1"/>
          <p:nvPr/>
        </p:nvSpPr>
        <p:spPr>
          <a:xfrm>
            <a:off x="685800" y="4860442"/>
            <a:ext cx="3602736" cy="1071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30" dirty="0">
                <a:solidFill>
                  <a:schemeClr val="tx2"/>
                </a:solidFill>
              </a:rPr>
              <a:t>逐台更新，中途失敗就有些新版、有些舊版。</a:t>
            </a:r>
            <a:endParaRPr lang="en-US" sz="2030" dirty="0"/>
          </a:p>
        </p:txBody>
      </p:sp>
      <p:sp>
        <p:nvSpPr>
          <p:cNvPr id="17" name="card-1-1"/>
          <p:cNvSpPr/>
          <p:nvPr/>
        </p:nvSpPr>
        <p:spPr>
          <a:xfrm>
            <a:off x="4672584" y="3801364"/>
            <a:ext cx="3968496" cy="2313432"/>
          </a:xfrm>
          <a:prstGeom prst="roundRect">
            <a:avLst>
              <a:gd name="adj" fmla="val 3953"/>
            </a:avLst>
          </a:prstGeom>
          <a:solidFill>
            <a:schemeClr val="accent5"/>
          </a:solidFill>
          <a:ln w="9525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18" name="card-icon-1-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5464" y="3984244"/>
            <a:ext cx="329184" cy="329184"/>
          </a:xfrm>
          <a:prstGeom prst="rect">
            <a:avLst/>
          </a:prstGeom>
        </p:spPr>
      </p:pic>
      <p:sp>
        <p:nvSpPr>
          <p:cNvPr id="19" name="card-title-1-1"/>
          <p:cNvSpPr txBox="1"/>
          <p:nvPr/>
        </p:nvSpPr>
        <p:spPr>
          <a:xfrm>
            <a:off x="4855464" y="4404868"/>
            <a:ext cx="3602736" cy="400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65" b="1" dirty="0">
                <a:solidFill>
                  <a:schemeClr val="tx1"/>
                </a:solidFill>
              </a:rPr>
              <a:t>很難退回</a:t>
            </a:r>
            <a:endParaRPr lang="en-US" sz="2465" dirty="0"/>
          </a:p>
        </p:txBody>
      </p:sp>
      <p:sp>
        <p:nvSpPr>
          <p:cNvPr id="20" name="card-body-1-1"/>
          <p:cNvSpPr txBox="1"/>
          <p:nvPr/>
        </p:nvSpPr>
        <p:spPr>
          <a:xfrm>
            <a:off x="4855464" y="4860442"/>
            <a:ext cx="3602736" cy="1071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30" dirty="0">
                <a:solidFill>
                  <a:schemeClr val="tx2"/>
                </a:solidFill>
              </a:rPr>
              <a:t>新版出問題，要把每台機器的檔案一個個改回去。</a:t>
            </a:r>
            <a:endParaRPr lang="en-US" sz="203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02920" y="3291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chemeClr val="accent2"/>
                </a:solidFill>
              </a:rPr>
              <a:t>第 1 章　傳統部署 vs 容器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02920" y="603504"/>
            <a:ext cx="8138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chemeClr val="tx1"/>
                </a:solidFill>
              </a:rPr>
              <a:t>容器的想法：直接交付「冷凍調理包」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02920" y="64008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2"/>
                </a:solidFill>
              </a:rPr>
              <a:t>第 1 章　傳統部署 vs 容器　·　AI 雲端部署與容器化｜黃懷慶</a:t>
            </a:r>
            <a:endParaRPr lang="en-US" sz="1000" dirty="0"/>
          </a:p>
        </p:txBody>
      </p:sp>
      <p:sp>
        <p:nvSpPr>
          <p:cNvPr id="5" name="col-0"/>
          <p:cNvSpPr/>
          <p:nvPr/>
        </p:nvSpPr>
        <p:spPr>
          <a:xfrm>
            <a:off x="502920" y="1286764"/>
            <a:ext cx="3968496" cy="3413557"/>
          </a:xfrm>
          <a:prstGeom prst="roundRect">
            <a:avLst>
              <a:gd name="adj" fmla="val 2679"/>
            </a:avLst>
          </a:prstGeom>
          <a:solidFill>
            <a:schemeClr val="accent5"/>
          </a:solidFill>
          <a:ln w="9525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col-title-0"/>
          <p:cNvSpPr txBox="1"/>
          <p:nvPr/>
        </p:nvSpPr>
        <p:spPr>
          <a:xfrm>
            <a:off x="722376" y="1506220"/>
            <a:ext cx="3529584" cy="447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55" b="1" dirty="0">
                <a:solidFill>
                  <a:schemeClr val="tx1"/>
                </a:solidFill>
              </a:rPr>
              <a:t>中央廚房</a:t>
            </a:r>
            <a:endParaRPr lang="en-US" sz="2755" dirty="0"/>
          </a:p>
        </p:txBody>
      </p:sp>
      <p:sp>
        <p:nvSpPr>
          <p:cNvPr id="7" name="col-list-0"/>
          <p:cNvSpPr txBox="1"/>
          <p:nvPr/>
        </p:nvSpPr>
        <p:spPr>
          <a:xfrm>
            <a:off x="722376" y="2063801"/>
            <a:ext cx="3529584" cy="2417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dirty="0">
                <a:solidFill>
                  <a:schemeClr val="tx2"/>
                </a:solidFill>
              </a:rPr>
              <a:t>大廚在中央廚房做好</a:t>
            </a:r>
            <a:endParaRPr lang="en-US" sz="2175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dirty="0">
                <a:solidFill>
                  <a:schemeClr val="tx2"/>
                </a:solidFill>
              </a:rPr>
              <a:t>連同醬料一起封裝</a:t>
            </a:r>
            <a:endParaRPr lang="en-US" sz="2175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dirty="0">
                <a:solidFill>
                  <a:schemeClr val="tx2"/>
                </a:solidFill>
              </a:rPr>
              <a:t>每一包內容完全相同</a:t>
            </a:r>
            <a:endParaRPr lang="en-US" sz="2175" dirty="0"/>
          </a:p>
        </p:txBody>
      </p:sp>
      <p:sp>
        <p:nvSpPr>
          <p:cNvPr id="8" name="col-1"/>
          <p:cNvSpPr/>
          <p:nvPr/>
        </p:nvSpPr>
        <p:spPr>
          <a:xfrm>
            <a:off x="4672584" y="1286764"/>
            <a:ext cx="3968496" cy="3413557"/>
          </a:xfrm>
          <a:prstGeom prst="roundRect">
            <a:avLst>
              <a:gd name="adj" fmla="val 2679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col-title-1"/>
          <p:cNvSpPr txBox="1"/>
          <p:nvPr/>
        </p:nvSpPr>
        <p:spPr>
          <a:xfrm>
            <a:off x="4892040" y="1506220"/>
            <a:ext cx="3529584" cy="447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55" b="1" dirty="0">
                <a:solidFill>
                  <a:schemeClr val="bg1"/>
                </a:solidFill>
              </a:rPr>
              <a:t>到任何地方</a:t>
            </a:r>
            <a:endParaRPr lang="en-US" sz="2755" dirty="0"/>
          </a:p>
        </p:txBody>
      </p:sp>
      <p:sp>
        <p:nvSpPr>
          <p:cNvPr id="10" name="col-list-1"/>
          <p:cNvSpPr txBox="1"/>
          <p:nvPr/>
        </p:nvSpPr>
        <p:spPr>
          <a:xfrm>
            <a:off x="4892040" y="2063801"/>
            <a:ext cx="3529584" cy="2417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dirty="0">
                <a:solidFill>
                  <a:schemeClr val="bg2"/>
                </a:solidFill>
              </a:rPr>
              <a:t>分店只要「加熱」</a:t>
            </a:r>
            <a:endParaRPr lang="en-US" sz="2175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dirty="0">
                <a:solidFill>
                  <a:schemeClr val="bg2"/>
                </a:solidFill>
              </a:rPr>
              <a:t>不需要廚師、不需要食譜</a:t>
            </a:r>
            <a:endParaRPr lang="en-US" sz="2175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b="1" dirty="0">
                <a:solidFill>
                  <a:schemeClr val="bg2"/>
                </a:solidFill>
              </a:rPr>
              <a:t>在哪裡加熱，味道都一樣</a:t>
            </a:r>
            <a:endParaRPr lang="en-US" sz="2175" dirty="0"/>
          </a:p>
        </p:txBody>
      </p:sp>
      <p:sp>
        <p:nvSpPr>
          <p:cNvPr id="11" name="note-box"/>
          <p:cNvSpPr/>
          <p:nvPr/>
        </p:nvSpPr>
        <p:spPr>
          <a:xfrm>
            <a:off x="502920" y="4901489"/>
            <a:ext cx="8138160" cy="567741"/>
          </a:xfrm>
          <a:prstGeom prst="roundRect">
            <a:avLst>
              <a:gd name="adj" fmla="val 12885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note"/>
          <p:cNvSpPr txBox="1"/>
          <p:nvPr/>
        </p:nvSpPr>
        <p:spPr>
          <a:xfrm>
            <a:off x="685800" y="4901489"/>
            <a:ext cx="7772400" cy="5677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30" dirty="0">
                <a:solidFill>
                  <a:schemeClr val="tx1"/>
                </a:solidFill>
              </a:rPr>
              <a:t>容器部署不交付「原料＋食譜」，而是交付「做好的成品」。</a:t>
            </a:r>
            <a:endParaRPr lang="en-US" sz="203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02920" y="3291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chemeClr val="accent2"/>
                </a:solidFill>
              </a:rPr>
              <a:t>第 1 章　傳統部署 vs 容器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02920" y="603504"/>
            <a:ext cx="8138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chemeClr val="tx1"/>
                </a:solidFill>
              </a:rPr>
              <a:t>容器的三個關鍵字（加上食譜）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02920" y="64008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2"/>
                </a:solidFill>
              </a:rPr>
              <a:t>第 1 章　傳統部署 vs 容器　·　AI 雲端部署與容器化｜黃懷慶</a:t>
            </a:r>
            <a:endParaRPr lang="en-US" sz="1000" dirty="0"/>
          </a:p>
        </p:txBody>
      </p:sp>
      <p:sp>
        <p:nvSpPr>
          <p:cNvPr id="5" name="step-0"/>
          <p:cNvSpPr/>
          <p:nvPr/>
        </p:nvSpPr>
        <p:spPr>
          <a:xfrm>
            <a:off x="502920" y="1286764"/>
            <a:ext cx="1691640" cy="2446721"/>
          </a:xfrm>
          <a:prstGeom prst="roundRect">
            <a:avLst>
              <a:gd name="adj" fmla="val 5405"/>
            </a:avLst>
          </a:prstGeom>
          <a:solidFill>
            <a:schemeClr val="accent5"/>
          </a:solidFill>
          <a:ln w="9525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tep-title-0"/>
          <p:cNvSpPr txBox="1"/>
          <p:nvPr/>
        </p:nvSpPr>
        <p:spPr>
          <a:xfrm>
            <a:off x="649224" y="1433068"/>
            <a:ext cx="1399032" cy="266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42" b="1" dirty="0">
                <a:solidFill>
                  <a:schemeClr val="tx1"/>
                </a:solidFill>
              </a:rPr>
              <a:t>Dockerfile</a:t>
            </a:r>
            <a:endParaRPr lang="en-US" sz="1642" dirty="0"/>
          </a:p>
        </p:txBody>
      </p:sp>
      <p:sp>
        <p:nvSpPr>
          <p:cNvPr id="7" name="step-body-0"/>
          <p:cNvSpPr txBox="1"/>
          <p:nvPr/>
        </p:nvSpPr>
        <p:spPr>
          <a:xfrm>
            <a:off x="649224" y="1773118"/>
            <a:ext cx="1399032" cy="1814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58" dirty="0">
                <a:solidFill>
                  <a:schemeClr val="tx2"/>
                </a:solidFill>
              </a:rPr>
              <a:t>食譜：寫明怎麼做</a:t>
            </a:r>
            <a:endParaRPr lang="en-US" sz="1958" dirty="0"/>
          </a:p>
        </p:txBody>
      </p:sp>
      <p:sp>
        <p:nvSpPr>
          <p:cNvPr id="8" name="arrow-0"/>
          <p:cNvSpPr/>
          <p:nvPr/>
        </p:nvSpPr>
        <p:spPr>
          <a:xfrm>
            <a:off x="2286000" y="2409541"/>
            <a:ext cx="274320" cy="201168"/>
          </a:xfrm>
          <a:prstGeom prst="rightArrow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step-1"/>
          <p:cNvSpPr/>
          <p:nvPr/>
        </p:nvSpPr>
        <p:spPr>
          <a:xfrm>
            <a:off x="2651760" y="1286764"/>
            <a:ext cx="1691640" cy="2446721"/>
          </a:xfrm>
          <a:prstGeom prst="roundRect">
            <a:avLst>
              <a:gd name="adj" fmla="val 5405"/>
            </a:avLst>
          </a:prstGeom>
          <a:solidFill>
            <a:schemeClr val="accent5"/>
          </a:solidFill>
          <a:ln w="9525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tep-title-1"/>
          <p:cNvSpPr txBox="1"/>
          <p:nvPr/>
        </p:nvSpPr>
        <p:spPr>
          <a:xfrm>
            <a:off x="2798064" y="1433068"/>
            <a:ext cx="1399032" cy="266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42" b="1" dirty="0">
                <a:solidFill>
                  <a:schemeClr val="tx1"/>
                </a:solidFill>
              </a:rPr>
              <a:t>映像 Image</a:t>
            </a:r>
            <a:endParaRPr lang="en-US" sz="1642" dirty="0"/>
          </a:p>
        </p:txBody>
      </p:sp>
      <p:sp>
        <p:nvSpPr>
          <p:cNvPr id="11" name="step-body-1"/>
          <p:cNvSpPr txBox="1"/>
          <p:nvPr/>
        </p:nvSpPr>
        <p:spPr>
          <a:xfrm>
            <a:off x="2798064" y="1773118"/>
            <a:ext cx="1399032" cy="1814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58" dirty="0">
                <a:solidFill>
                  <a:schemeClr val="tx2"/>
                </a:solidFill>
              </a:rPr>
              <a:t>冷凍調理包：封裝好的成品</a:t>
            </a:r>
            <a:endParaRPr lang="en-US" sz="1958" dirty="0"/>
          </a:p>
        </p:txBody>
      </p:sp>
      <p:sp>
        <p:nvSpPr>
          <p:cNvPr id="12" name="arrow-1"/>
          <p:cNvSpPr/>
          <p:nvPr/>
        </p:nvSpPr>
        <p:spPr>
          <a:xfrm>
            <a:off x="4434840" y="2409541"/>
            <a:ext cx="274320" cy="201168"/>
          </a:xfrm>
          <a:prstGeom prst="rightArrow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step-2"/>
          <p:cNvSpPr/>
          <p:nvPr/>
        </p:nvSpPr>
        <p:spPr>
          <a:xfrm>
            <a:off x="4800600" y="1286764"/>
            <a:ext cx="1691640" cy="2446721"/>
          </a:xfrm>
          <a:prstGeom prst="roundRect">
            <a:avLst>
              <a:gd name="adj" fmla="val 5405"/>
            </a:avLst>
          </a:prstGeom>
          <a:solidFill>
            <a:schemeClr val="accent5"/>
          </a:solidFill>
          <a:ln w="9525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tep-title-2"/>
          <p:cNvSpPr txBox="1"/>
          <p:nvPr/>
        </p:nvSpPr>
        <p:spPr>
          <a:xfrm>
            <a:off x="4946904" y="1433068"/>
            <a:ext cx="1399032" cy="533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42" b="1" dirty="0">
                <a:solidFill>
                  <a:schemeClr val="tx1"/>
                </a:solidFill>
              </a:rPr>
              <a:t>映像倉庫 Registry</a:t>
            </a:r>
            <a:endParaRPr lang="en-US" sz="1642" dirty="0"/>
          </a:p>
        </p:txBody>
      </p:sp>
      <p:sp>
        <p:nvSpPr>
          <p:cNvPr id="15" name="step-body-2"/>
          <p:cNvSpPr txBox="1"/>
          <p:nvPr/>
        </p:nvSpPr>
        <p:spPr>
          <a:xfrm>
            <a:off x="4946904" y="2040016"/>
            <a:ext cx="1399032" cy="1547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58" dirty="0">
                <a:solidFill>
                  <a:schemeClr val="tx2"/>
                </a:solidFill>
              </a:rPr>
              <a:t>中央倉庫：存放與配送</a:t>
            </a:r>
            <a:endParaRPr lang="en-US" sz="1958" dirty="0"/>
          </a:p>
        </p:txBody>
      </p:sp>
      <p:sp>
        <p:nvSpPr>
          <p:cNvPr id="16" name="arrow-2"/>
          <p:cNvSpPr/>
          <p:nvPr/>
        </p:nvSpPr>
        <p:spPr>
          <a:xfrm>
            <a:off x="6583680" y="2409541"/>
            <a:ext cx="274320" cy="201168"/>
          </a:xfrm>
          <a:prstGeom prst="rightArrow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step-3"/>
          <p:cNvSpPr/>
          <p:nvPr/>
        </p:nvSpPr>
        <p:spPr>
          <a:xfrm>
            <a:off x="6949440" y="1286764"/>
            <a:ext cx="1691640" cy="2446721"/>
          </a:xfrm>
          <a:prstGeom prst="roundRect">
            <a:avLst>
              <a:gd name="adj" fmla="val 5405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step-title-3"/>
          <p:cNvSpPr txBox="1"/>
          <p:nvPr/>
        </p:nvSpPr>
        <p:spPr>
          <a:xfrm>
            <a:off x="7095744" y="1433068"/>
            <a:ext cx="1399032" cy="533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42" b="1" dirty="0">
                <a:solidFill>
                  <a:schemeClr val="tx1"/>
                </a:solidFill>
              </a:rPr>
              <a:t>容器 Container</a:t>
            </a:r>
            <a:endParaRPr lang="en-US" sz="1642" dirty="0"/>
          </a:p>
        </p:txBody>
      </p:sp>
      <p:sp>
        <p:nvSpPr>
          <p:cNvPr id="19" name="step-body-3"/>
          <p:cNvSpPr txBox="1"/>
          <p:nvPr/>
        </p:nvSpPr>
        <p:spPr>
          <a:xfrm>
            <a:off x="7095744" y="2040016"/>
            <a:ext cx="1399032" cy="1547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58" dirty="0">
                <a:solidFill>
                  <a:schemeClr val="tx1"/>
                </a:solidFill>
              </a:rPr>
              <a:t>加熱上桌的那一份，可以同時好幾份</a:t>
            </a:r>
            <a:endParaRPr lang="en-US" sz="1958" dirty="0"/>
          </a:p>
        </p:txBody>
      </p:sp>
      <p:sp>
        <p:nvSpPr>
          <p:cNvPr id="20" name="note-box"/>
          <p:cNvSpPr/>
          <p:nvPr/>
        </p:nvSpPr>
        <p:spPr>
          <a:xfrm>
            <a:off x="502920" y="3934653"/>
            <a:ext cx="8138160" cy="897738"/>
          </a:xfrm>
          <a:prstGeom prst="roundRect">
            <a:avLst>
              <a:gd name="adj" fmla="val 814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note"/>
          <p:cNvSpPr txBox="1"/>
          <p:nvPr/>
        </p:nvSpPr>
        <p:spPr>
          <a:xfrm>
            <a:off x="685800" y="3934653"/>
            <a:ext cx="7772400" cy="897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30" dirty="0">
                <a:solidFill>
                  <a:schemeClr val="tx1"/>
                </a:solidFill>
              </a:rPr>
              <a:t>一個映像可以同時執行成很多個容器，就像同一款調理包可以同時加熱好幾份。</a:t>
            </a:r>
            <a:endParaRPr lang="en-US" sz="203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02920" y="3291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chemeClr val="accent2"/>
                </a:solidFill>
              </a:rPr>
              <a:t>第 1 章　傳統部署 vs 容器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02920" y="603504"/>
            <a:ext cx="8138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chemeClr val="tx1"/>
                </a:solidFill>
              </a:rPr>
              <a:t>虛擬機和容器差在哪？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02920" y="64008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2"/>
                </a:solidFill>
              </a:rPr>
              <a:t>第 1 章　傳統部署 vs 容器　·　AI 雲端部署與容器化｜黃懷慶</a:t>
            </a:r>
            <a:endParaRPr lang="en-US" sz="1000" dirty="0"/>
          </a:p>
        </p:txBody>
      </p:sp>
      <p:sp>
        <p:nvSpPr>
          <p:cNvPr id="5" name="col-0"/>
          <p:cNvSpPr/>
          <p:nvPr/>
        </p:nvSpPr>
        <p:spPr>
          <a:xfrm>
            <a:off x="502920" y="1286764"/>
            <a:ext cx="3968496" cy="4278986"/>
          </a:xfrm>
          <a:prstGeom prst="roundRect">
            <a:avLst>
              <a:gd name="adj" fmla="val 2304"/>
            </a:avLst>
          </a:prstGeom>
          <a:solidFill>
            <a:schemeClr val="accent5"/>
          </a:solidFill>
          <a:ln w="9525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col-title-0"/>
          <p:cNvSpPr txBox="1"/>
          <p:nvPr/>
        </p:nvSpPr>
        <p:spPr>
          <a:xfrm>
            <a:off x="722376" y="1506220"/>
            <a:ext cx="3529584" cy="895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55" b="1" dirty="0">
                <a:solidFill>
                  <a:schemeClr val="tx1"/>
                </a:solidFill>
              </a:rPr>
              <a:t>虛擬機（VM）＝獨棟透天厝</a:t>
            </a:r>
            <a:endParaRPr lang="en-US" sz="2755" dirty="0"/>
          </a:p>
        </p:txBody>
      </p:sp>
      <p:sp>
        <p:nvSpPr>
          <p:cNvPr id="7" name="col-list-0"/>
          <p:cNvSpPr txBox="1"/>
          <p:nvPr/>
        </p:nvSpPr>
        <p:spPr>
          <a:xfrm>
            <a:off x="722376" y="2511654"/>
            <a:ext cx="3529584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dirty="0">
                <a:solidFill>
                  <a:schemeClr val="tx2"/>
                </a:solidFill>
              </a:rPr>
              <a:t>每棟都有自己的地基、水電</a:t>
            </a:r>
            <a:endParaRPr lang="en-US" sz="2175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dirty="0">
                <a:solidFill>
                  <a:schemeClr val="tx2"/>
                </a:solidFill>
              </a:rPr>
              <a:t>蓋一棟要很久，佔地很大</a:t>
            </a:r>
            <a:endParaRPr lang="en-US" sz="2175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dirty="0">
                <a:solidFill>
                  <a:schemeClr val="tx2"/>
                </a:solidFill>
              </a:rPr>
              <a:t>開機要好幾分鐘</a:t>
            </a:r>
            <a:endParaRPr lang="en-US" sz="2175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dirty="0">
                <a:solidFill>
                  <a:schemeClr val="tx2"/>
                </a:solidFill>
              </a:rPr>
              <a:t>檔案動輒好幾 GB</a:t>
            </a:r>
            <a:endParaRPr lang="en-US" sz="2175" dirty="0"/>
          </a:p>
        </p:txBody>
      </p:sp>
      <p:sp>
        <p:nvSpPr>
          <p:cNvPr id="8" name="col-1"/>
          <p:cNvSpPr/>
          <p:nvPr/>
        </p:nvSpPr>
        <p:spPr>
          <a:xfrm>
            <a:off x="4672584" y="1286764"/>
            <a:ext cx="3968496" cy="4278986"/>
          </a:xfrm>
          <a:prstGeom prst="roundRect">
            <a:avLst>
              <a:gd name="adj" fmla="val 2304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col-title-1"/>
          <p:cNvSpPr txBox="1"/>
          <p:nvPr/>
        </p:nvSpPr>
        <p:spPr>
          <a:xfrm>
            <a:off x="4892040" y="1506220"/>
            <a:ext cx="3529584" cy="447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55" b="1" dirty="0">
                <a:solidFill>
                  <a:schemeClr val="bg1"/>
                </a:solidFill>
              </a:rPr>
              <a:t>容器＝大樓裡的套房</a:t>
            </a:r>
            <a:endParaRPr lang="en-US" sz="2755" dirty="0"/>
          </a:p>
        </p:txBody>
      </p:sp>
      <p:sp>
        <p:nvSpPr>
          <p:cNvPr id="10" name="col-list-1"/>
          <p:cNvSpPr txBox="1"/>
          <p:nvPr/>
        </p:nvSpPr>
        <p:spPr>
          <a:xfrm>
            <a:off x="4892040" y="2063801"/>
            <a:ext cx="3529584" cy="3282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dirty="0">
                <a:solidFill>
                  <a:schemeClr val="bg2"/>
                </a:solidFill>
              </a:rPr>
              <a:t>共用大樓的地基和水電</a:t>
            </a:r>
            <a:endParaRPr lang="en-US" sz="2175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dirty="0">
                <a:solidFill>
                  <a:schemeClr val="bg2"/>
                </a:solidFill>
              </a:rPr>
              <a:t>每間各自上鎖，互不干擾</a:t>
            </a:r>
            <a:endParaRPr lang="en-US" sz="2175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dirty="0">
                <a:solidFill>
                  <a:schemeClr val="bg2"/>
                </a:solidFill>
              </a:rPr>
              <a:t>啟動只要幾秒</a:t>
            </a:r>
            <a:endParaRPr lang="en-US" sz="2175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dirty="0">
                <a:solidFill>
                  <a:schemeClr val="bg2"/>
                </a:solidFill>
              </a:rPr>
              <a:t>同一棟可以住很多戶</a:t>
            </a:r>
            <a:endParaRPr lang="en-US" sz="21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02920" y="3291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chemeClr val="accent2"/>
                </a:solidFill>
              </a:rPr>
              <a:t>第 1 章　傳統部署 vs 容器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02920" y="603504"/>
            <a:ext cx="8138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chemeClr val="tx1"/>
                </a:solidFill>
              </a:rPr>
              <a:t>優勢一　移植性：一次打包，到處執行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02920" y="64008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2"/>
                </a:solidFill>
              </a:rPr>
              <a:t>第 1 章　傳統部署 vs 容器　·　AI 雲端部署與容器化｜黃懷慶</a:t>
            </a:r>
            <a:endParaRPr lang="en-US" sz="1000" dirty="0"/>
          </a:p>
        </p:txBody>
      </p:sp>
      <p:sp>
        <p:nvSpPr>
          <p:cNvPr id="5" name="col-0"/>
          <p:cNvSpPr/>
          <p:nvPr/>
        </p:nvSpPr>
        <p:spPr>
          <a:xfrm>
            <a:off x="502920" y="1286764"/>
            <a:ext cx="3968496" cy="3767125"/>
          </a:xfrm>
          <a:prstGeom prst="roundRect">
            <a:avLst>
              <a:gd name="adj" fmla="val 2427"/>
            </a:avLst>
          </a:prstGeom>
          <a:solidFill>
            <a:schemeClr val="accent5"/>
          </a:solidFill>
          <a:ln w="9525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col-title-0"/>
          <p:cNvSpPr txBox="1"/>
          <p:nvPr/>
        </p:nvSpPr>
        <p:spPr>
          <a:xfrm>
            <a:off x="722376" y="1506220"/>
            <a:ext cx="3529584" cy="447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55" b="1" dirty="0">
                <a:solidFill>
                  <a:schemeClr val="tx1"/>
                </a:solidFill>
              </a:rPr>
              <a:t>傳統部署</a:t>
            </a:r>
            <a:endParaRPr lang="en-US" sz="2755" dirty="0"/>
          </a:p>
        </p:txBody>
      </p:sp>
      <p:sp>
        <p:nvSpPr>
          <p:cNvPr id="7" name="col-list-0"/>
          <p:cNvSpPr txBox="1"/>
          <p:nvPr/>
        </p:nvSpPr>
        <p:spPr>
          <a:xfrm>
            <a:off x="722376" y="2063801"/>
            <a:ext cx="3529584" cy="2770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dirty="0">
                <a:solidFill>
                  <a:schemeClr val="tx2"/>
                </a:solidFill>
              </a:rPr>
              <a:t>開發機能跑，測試機不一定</a:t>
            </a:r>
            <a:endParaRPr lang="en-US" sz="2175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dirty="0">
                <a:solidFill>
                  <a:schemeClr val="tx2"/>
                </a:solidFill>
              </a:rPr>
              <a:t>測試機能跑，正式機不一定</a:t>
            </a:r>
            <a:endParaRPr lang="en-US" sz="2175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dirty="0">
                <a:solidFill>
                  <a:schemeClr val="tx2"/>
                </a:solidFill>
              </a:rPr>
              <a:t>每換一個地方就重新安裝一次</a:t>
            </a:r>
            <a:endParaRPr lang="en-US" sz="2175" dirty="0"/>
          </a:p>
        </p:txBody>
      </p:sp>
      <p:sp>
        <p:nvSpPr>
          <p:cNvPr id="8" name="col-1"/>
          <p:cNvSpPr/>
          <p:nvPr/>
        </p:nvSpPr>
        <p:spPr>
          <a:xfrm>
            <a:off x="4672584" y="1286764"/>
            <a:ext cx="3968496" cy="3767125"/>
          </a:xfrm>
          <a:prstGeom prst="roundRect">
            <a:avLst>
              <a:gd name="adj" fmla="val 2427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col-title-1"/>
          <p:cNvSpPr txBox="1"/>
          <p:nvPr/>
        </p:nvSpPr>
        <p:spPr>
          <a:xfrm>
            <a:off x="4892040" y="1506220"/>
            <a:ext cx="3529584" cy="447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55" b="1" dirty="0">
                <a:solidFill>
                  <a:schemeClr val="bg1"/>
                </a:solidFill>
              </a:rPr>
              <a:t>容器部署</a:t>
            </a:r>
            <a:endParaRPr lang="en-US" sz="2755" dirty="0"/>
          </a:p>
        </p:txBody>
      </p:sp>
      <p:sp>
        <p:nvSpPr>
          <p:cNvPr id="10" name="col-list-1"/>
          <p:cNvSpPr txBox="1"/>
          <p:nvPr/>
        </p:nvSpPr>
        <p:spPr>
          <a:xfrm>
            <a:off x="4892040" y="2063801"/>
            <a:ext cx="3529584" cy="2770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dirty="0">
                <a:solidFill>
                  <a:schemeClr val="bg2"/>
                </a:solidFill>
              </a:rPr>
              <a:t>同一個映像</a:t>
            </a:r>
            <a:endParaRPr lang="en-US" sz="2175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dirty="0">
                <a:solidFill>
                  <a:schemeClr val="bg2"/>
                </a:solidFill>
              </a:rPr>
              <a:t>開發機、測試環境、雲端平台</a:t>
            </a:r>
            <a:endParaRPr lang="en-US" sz="2175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b="1" dirty="0">
                <a:solidFill>
                  <a:schemeClr val="bg2"/>
                </a:solidFill>
              </a:rPr>
              <a:t>執行結果都一樣</a:t>
            </a:r>
            <a:endParaRPr lang="en-US" sz="2175" dirty="0"/>
          </a:p>
        </p:txBody>
      </p:sp>
      <p:sp>
        <p:nvSpPr>
          <p:cNvPr id="11" name="note-box"/>
          <p:cNvSpPr/>
          <p:nvPr/>
        </p:nvSpPr>
        <p:spPr>
          <a:xfrm>
            <a:off x="502920" y="5255057"/>
            <a:ext cx="8138160" cy="897738"/>
          </a:xfrm>
          <a:prstGeom prst="roundRect">
            <a:avLst>
              <a:gd name="adj" fmla="val 814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note"/>
          <p:cNvSpPr txBox="1"/>
          <p:nvPr/>
        </p:nvSpPr>
        <p:spPr>
          <a:xfrm>
            <a:off x="685800" y="5255057"/>
            <a:ext cx="7772400" cy="897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30" dirty="0">
                <a:solidFill>
                  <a:schemeClr val="tx1"/>
                </a:solidFill>
              </a:rPr>
              <a:t>唯一會變的是「組態」，例如密碼和連線位址。它們會在執行時才放進去（第 7 章）。</a:t>
            </a:r>
            <a:endParaRPr lang="en-US" sz="203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02920" y="3291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chemeClr val="accent2"/>
                </a:solidFill>
              </a:rPr>
              <a:t>第 1 章　傳統部署 vs 容器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02920" y="603504"/>
            <a:ext cx="8138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chemeClr val="tx1"/>
                </a:solidFill>
              </a:rPr>
              <a:t>優勢二　自動擴展：客人變多，就多開幾個窗口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02920" y="64008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2"/>
                </a:solidFill>
              </a:rPr>
              <a:t>第 1 章　傳統部署 vs 容器　·　AI 雲端部署與容器化｜黃懷慶</a:t>
            </a:r>
            <a:endParaRPr lang="en-US" sz="1000" dirty="0"/>
          </a:p>
        </p:txBody>
      </p:sp>
      <p:sp>
        <p:nvSpPr>
          <p:cNvPr id="5" name="step-0"/>
          <p:cNvSpPr/>
          <p:nvPr/>
        </p:nvSpPr>
        <p:spPr>
          <a:xfrm>
            <a:off x="502920" y="1286764"/>
            <a:ext cx="1691640" cy="2584704"/>
          </a:xfrm>
          <a:prstGeom prst="roundRect">
            <a:avLst>
              <a:gd name="adj" fmla="val 5405"/>
            </a:avLst>
          </a:prstGeom>
          <a:solidFill>
            <a:schemeClr val="accent5"/>
          </a:solidFill>
          <a:ln w="9525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tep-title-0"/>
          <p:cNvSpPr txBox="1"/>
          <p:nvPr/>
        </p:nvSpPr>
        <p:spPr>
          <a:xfrm>
            <a:off x="649224" y="1433068"/>
            <a:ext cx="139903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75" b="1" dirty="0">
                <a:solidFill>
                  <a:schemeClr val="tx1"/>
                </a:solidFill>
              </a:rPr>
              <a:t>平常</a:t>
            </a:r>
            <a:endParaRPr lang="en-US" sz="2175" dirty="0"/>
          </a:p>
        </p:txBody>
      </p:sp>
      <p:sp>
        <p:nvSpPr>
          <p:cNvPr id="7" name="step-body-0"/>
          <p:cNvSpPr txBox="1"/>
          <p:nvPr/>
        </p:nvSpPr>
        <p:spPr>
          <a:xfrm>
            <a:off x="649224" y="1859788"/>
            <a:ext cx="1399032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58" dirty="0">
                <a:solidFill>
                  <a:schemeClr val="tx2"/>
                </a:solidFill>
              </a:rPr>
              <a:t>1 個容器就夠應付</a:t>
            </a:r>
            <a:endParaRPr lang="en-US" sz="1958" dirty="0"/>
          </a:p>
        </p:txBody>
      </p:sp>
      <p:sp>
        <p:nvSpPr>
          <p:cNvPr id="8" name="arrow-0"/>
          <p:cNvSpPr/>
          <p:nvPr/>
        </p:nvSpPr>
        <p:spPr>
          <a:xfrm>
            <a:off x="2286000" y="2478532"/>
            <a:ext cx="274320" cy="201168"/>
          </a:xfrm>
          <a:prstGeom prst="rightArrow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step-1"/>
          <p:cNvSpPr/>
          <p:nvPr/>
        </p:nvSpPr>
        <p:spPr>
          <a:xfrm>
            <a:off x="2651760" y="1286764"/>
            <a:ext cx="1691640" cy="2584704"/>
          </a:xfrm>
          <a:prstGeom prst="roundRect">
            <a:avLst>
              <a:gd name="adj" fmla="val 5405"/>
            </a:avLst>
          </a:prstGeom>
          <a:solidFill>
            <a:schemeClr val="accent5"/>
          </a:solidFill>
          <a:ln w="9525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tep-title-1"/>
          <p:cNvSpPr txBox="1"/>
          <p:nvPr/>
        </p:nvSpPr>
        <p:spPr>
          <a:xfrm>
            <a:off x="2798064" y="1433068"/>
            <a:ext cx="139903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75" b="1" dirty="0">
                <a:solidFill>
                  <a:schemeClr val="tx1"/>
                </a:solidFill>
              </a:rPr>
              <a:t>午餐尖峰</a:t>
            </a:r>
            <a:endParaRPr lang="en-US" sz="2175" dirty="0"/>
          </a:p>
        </p:txBody>
      </p:sp>
      <p:sp>
        <p:nvSpPr>
          <p:cNvPr id="11" name="step-body-1"/>
          <p:cNvSpPr txBox="1"/>
          <p:nvPr/>
        </p:nvSpPr>
        <p:spPr>
          <a:xfrm>
            <a:off x="2798064" y="1859788"/>
            <a:ext cx="1399032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58" dirty="0">
                <a:solidFill>
                  <a:schemeClr val="tx2"/>
                </a:solidFill>
              </a:rPr>
              <a:t>自動加開到 4 個容器</a:t>
            </a:r>
            <a:endParaRPr lang="en-US" sz="1958" dirty="0"/>
          </a:p>
        </p:txBody>
      </p:sp>
      <p:sp>
        <p:nvSpPr>
          <p:cNvPr id="12" name="arrow-1"/>
          <p:cNvSpPr/>
          <p:nvPr/>
        </p:nvSpPr>
        <p:spPr>
          <a:xfrm>
            <a:off x="4434840" y="2478532"/>
            <a:ext cx="274320" cy="201168"/>
          </a:xfrm>
          <a:prstGeom prst="rightArrow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step-2"/>
          <p:cNvSpPr/>
          <p:nvPr/>
        </p:nvSpPr>
        <p:spPr>
          <a:xfrm>
            <a:off x="4800600" y="1286764"/>
            <a:ext cx="1691640" cy="2584704"/>
          </a:xfrm>
          <a:prstGeom prst="roundRect">
            <a:avLst>
              <a:gd name="adj" fmla="val 5405"/>
            </a:avLst>
          </a:prstGeom>
          <a:solidFill>
            <a:schemeClr val="accent5"/>
          </a:solidFill>
          <a:ln w="9525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tep-title-2"/>
          <p:cNvSpPr txBox="1"/>
          <p:nvPr/>
        </p:nvSpPr>
        <p:spPr>
          <a:xfrm>
            <a:off x="4946904" y="1433068"/>
            <a:ext cx="139903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75" b="1" dirty="0">
                <a:solidFill>
                  <a:schemeClr val="tx1"/>
                </a:solidFill>
              </a:rPr>
              <a:t>人潮散去</a:t>
            </a:r>
            <a:endParaRPr lang="en-US" sz="2175" dirty="0"/>
          </a:p>
        </p:txBody>
      </p:sp>
      <p:sp>
        <p:nvSpPr>
          <p:cNvPr id="15" name="step-body-2"/>
          <p:cNvSpPr txBox="1"/>
          <p:nvPr/>
        </p:nvSpPr>
        <p:spPr>
          <a:xfrm>
            <a:off x="4946904" y="1859788"/>
            <a:ext cx="1399032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58" dirty="0">
                <a:solidFill>
                  <a:schemeClr val="tx2"/>
                </a:solidFill>
              </a:rPr>
              <a:t>自動縮回 2 個容器</a:t>
            </a:r>
            <a:endParaRPr lang="en-US" sz="1958" dirty="0"/>
          </a:p>
        </p:txBody>
      </p:sp>
      <p:sp>
        <p:nvSpPr>
          <p:cNvPr id="16" name="arrow-2"/>
          <p:cNvSpPr/>
          <p:nvPr/>
        </p:nvSpPr>
        <p:spPr>
          <a:xfrm>
            <a:off x="6583680" y="2478532"/>
            <a:ext cx="274320" cy="201168"/>
          </a:xfrm>
          <a:prstGeom prst="rightArrow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step-3"/>
          <p:cNvSpPr/>
          <p:nvPr/>
        </p:nvSpPr>
        <p:spPr>
          <a:xfrm>
            <a:off x="6949440" y="1286764"/>
            <a:ext cx="1691640" cy="2584704"/>
          </a:xfrm>
          <a:prstGeom prst="roundRect">
            <a:avLst>
              <a:gd name="adj" fmla="val 5405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step-title-3"/>
          <p:cNvSpPr txBox="1"/>
          <p:nvPr/>
        </p:nvSpPr>
        <p:spPr>
          <a:xfrm>
            <a:off x="7095744" y="1433068"/>
            <a:ext cx="139903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75" b="1" dirty="0">
                <a:solidFill>
                  <a:schemeClr val="tx1"/>
                </a:solidFill>
              </a:rPr>
              <a:t>結果</a:t>
            </a:r>
            <a:endParaRPr lang="en-US" sz="2175" dirty="0"/>
          </a:p>
        </p:txBody>
      </p:sp>
      <p:sp>
        <p:nvSpPr>
          <p:cNvPr id="19" name="step-body-3"/>
          <p:cNvSpPr txBox="1"/>
          <p:nvPr/>
        </p:nvSpPr>
        <p:spPr>
          <a:xfrm>
            <a:off x="7095744" y="1859788"/>
            <a:ext cx="1399032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58" dirty="0">
                <a:solidFill>
                  <a:schemeClr val="tx1"/>
                </a:solidFill>
              </a:rPr>
              <a:t>只為真正用到的量付費，而且以「秒」反應</a:t>
            </a:r>
            <a:endParaRPr lang="en-US" sz="1958" dirty="0"/>
          </a:p>
        </p:txBody>
      </p:sp>
      <p:sp>
        <p:nvSpPr>
          <p:cNvPr id="20" name="note-box"/>
          <p:cNvSpPr/>
          <p:nvPr/>
        </p:nvSpPr>
        <p:spPr>
          <a:xfrm>
            <a:off x="502920" y="4072636"/>
            <a:ext cx="8138160" cy="897738"/>
          </a:xfrm>
          <a:prstGeom prst="roundRect">
            <a:avLst>
              <a:gd name="adj" fmla="val 814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note"/>
          <p:cNvSpPr txBox="1"/>
          <p:nvPr/>
        </p:nvSpPr>
        <p:spPr>
          <a:xfrm>
            <a:off x="685800" y="4072636"/>
            <a:ext cx="7772400" cy="897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30" dirty="0">
                <a:solidFill>
                  <a:schemeClr val="tx1"/>
                </a:solidFill>
              </a:rPr>
              <a:t>因為映像已經包含一切，「擴充一台」就只是「多加熱一份」，不需要再安裝任何東西。</a:t>
            </a:r>
            <a:endParaRPr lang="en-US" sz="203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02920" y="3291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chemeClr val="accent2"/>
                </a:solidFill>
              </a:rPr>
              <a:t>第 1 章　傳統部署 vs 容器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02920" y="603504"/>
            <a:ext cx="8138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chemeClr val="tx1"/>
                </a:solidFill>
              </a:rPr>
              <a:t>優勢三　版本回溯：新口味不受歡迎，馬上換回舊包裝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02920" y="64008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2"/>
                </a:solidFill>
              </a:rPr>
              <a:t>第 1 章　傳統部署 vs 容器　·　AI 雲端部署與容器化｜黃懷慶</a:t>
            </a:r>
            <a:endParaRPr lang="en-US" sz="1000" dirty="0"/>
          </a:p>
        </p:txBody>
      </p:sp>
      <p:sp>
        <p:nvSpPr>
          <p:cNvPr id="5" name="col-0"/>
          <p:cNvSpPr/>
          <p:nvPr/>
        </p:nvSpPr>
        <p:spPr>
          <a:xfrm>
            <a:off x="502920" y="1695704"/>
            <a:ext cx="3968496" cy="3059989"/>
          </a:xfrm>
          <a:prstGeom prst="roundRect">
            <a:avLst>
              <a:gd name="adj" fmla="val 2988"/>
            </a:avLst>
          </a:prstGeom>
          <a:solidFill>
            <a:schemeClr val="accent5"/>
          </a:solidFill>
          <a:ln w="9525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col-title-0"/>
          <p:cNvSpPr txBox="1"/>
          <p:nvPr/>
        </p:nvSpPr>
        <p:spPr>
          <a:xfrm>
            <a:off x="722376" y="1915160"/>
            <a:ext cx="3529584" cy="447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55" b="1" dirty="0">
                <a:solidFill>
                  <a:schemeClr val="tx1"/>
                </a:solidFill>
              </a:rPr>
              <a:t>每一版映像都有標籤</a:t>
            </a:r>
            <a:endParaRPr lang="en-US" sz="2755" dirty="0"/>
          </a:p>
        </p:txBody>
      </p:sp>
      <p:sp>
        <p:nvSpPr>
          <p:cNvPr id="7" name="col-list-0"/>
          <p:cNvSpPr txBox="1"/>
          <p:nvPr/>
        </p:nvSpPr>
        <p:spPr>
          <a:xfrm>
            <a:off x="722376" y="2472741"/>
            <a:ext cx="3529584" cy="2063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dirty="0">
                <a:solidFill>
                  <a:schemeClr val="tx2"/>
                </a:solidFill>
              </a:rPr>
              <a:t>像調理包上的批號</a:t>
            </a:r>
            <a:endParaRPr lang="en-US" sz="2175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dirty="0">
                <a:solidFill>
                  <a:schemeClr val="tx2"/>
                </a:solidFill>
              </a:rPr>
              <a:t>1 號、2 號、3 號……</a:t>
            </a:r>
            <a:endParaRPr lang="en-US" sz="2175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dirty="0">
                <a:solidFill>
                  <a:schemeClr val="tx2"/>
                </a:solidFill>
              </a:rPr>
              <a:t>舊批號一直保留在倉庫</a:t>
            </a:r>
            <a:endParaRPr lang="en-US" sz="2175" dirty="0"/>
          </a:p>
        </p:txBody>
      </p:sp>
      <p:sp>
        <p:nvSpPr>
          <p:cNvPr id="8" name="col-1"/>
          <p:cNvSpPr/>
          <p:nvPr/>
        </p:nvSpPr>
        <p:spPr>
          <a:xfrm>
            <a:off x="4672584" y="1695704"/>
            <a:ext cx="3968496" cy="3059989"/>
          </a:xfrm>
          <a:prstGeom prst="roundRect">
            <a:avLst>
              <a:gd name="adj" fmla="val 2988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col-title-1"/>
          <p:cNvSpPr txBox="1"/>
          <p:nvPr/>
        </p:nvSpPr>
        <p:spPr>
          <a:xfrm>
            <a:off x="4892040" y="1915160"/>
            <a:ext cx="3529584" cy="447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55" b="1" dirty="0">
                <a:solidFill>
                  <a:schemeClr val="bg1"/>
                </a:solidFill>
              </a:rPr>
              <a:t>出問題時</a:t>
            </a:r>
            <a:endParaRPr lang="en-US" sz="2755" dirty="0"/>
          </a:p>
        </p:txBody>
      </p:sp>
      <p:sp>
        <p:nvSpPr>
          <p:cNvPr id="10" name="col-list-1"/>
          <p:cNvSpPr txBox="1"/>
          <p:nvPr/>
        </p:nvSpPr>
        <p:spPr>
          <a:xfrm>
            <a:off x="4892040" y="2472741"/>
            <a:ext cx="3529584" cy="2063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dirty="0">
                <a:solidFill>
                  <a:schemeClr val="bg2"/>
                </a:solidFill>
              </a:rPr>
              <a:t>把「正在用的批號」換回上一版</a:t>
            </a:r>
            <a:endParaRPr lang="en-US" sz="2175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dirty="0">
                <a:solidFill>
                  <a:schemeClr val="bg2"/>
                </a:solidFill>
              </a:rPr>
              <a:t>不用重新安裝</a:t>
            </a:r>
            <a:endParaRPr lang="en-US" sz="2175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b="1" dirty="0">
                <a:solidFill>
                  <a:schemeClr val="bg2"/>
                </a:solidFill>
              </a:rPr>
              <a:t>幾秒鐘就恢復正常</a:t>
            </a:r>
            <a:endParaRPr lang="en-US" sz="217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02920" y="3291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chemeClr val="accent2"/>
                </a:solidFill>
              </a:rPr>
              <a:t>第 1 章　傳統部署 vs 容器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02920" y="603504"/>
            <a:ext cx="8138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chemeClr val="tx1"/>
                </a:solidFill>
              </a:rPr>
              <a:t>一張表看懂差異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02920" y="64008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2"/>
                </a:solidFill>
              </a:rPr>
              <a:t>第 1 章　傳統部署 vs 容器　·　AI 雲端部署與容器化｜黃懷慶</a:t>
            </a:r>
            <a:endParaRPr lang="en-US" sz="1000" dirty="0"/>
          </a:p>
        </p:txBody>
      </p:sp>
      <p:graphicFrame>
        <p:nvGraphicFramePr>
          <p:cNvPr id="1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6764"/>
          <a:ext cx="8138160" cy="2744850"/>
        </p:xfrm>
        <a:graphic>
          <a:graphicData uri="http://schemas.openxmlformats.org/drawingml/2006/table">
            <a:tbl>
              <a:tblPr/>
              <a:tblGrid>
                <a:gridCol w="19531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25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925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9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b="1" dirty="0">
                          <a:solidFill>
                            <a:schemeClr val="bg1"/>
                          </a:solidFill>
                        </a:rPr>
                        <a:t>傳統部署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b="1" dirty="0">
                          <a:solidFill>
                            <a:schemeClr val="bg1"/>
                          </a:solidFill>
                        </a:rPr>
                        <a:t>容器部署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9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交付的東西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原始碼＋安裝說明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映像（成品）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9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環境一致性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靠人工小心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由映像保證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9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擴充速度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安裝新機器：小時到天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多跑一個容器：秒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9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退回舊版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逐台改回舊檔案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換回舊標籤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note"/>
          <p:cNvSpPr txBox="1"/>
          <p:nvPr/>
        </p:nvSpPr>
        <p:spPr>
          <a:xfrm>
            <a:off x="502920" y="4232783"/>
            <a:ext cx="8138160" cy="329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30" b="1" dirty="0" err="1">
                <a:solidFill>
                  <a:schemeClr val="accent2"/>
                </a:solidFill>
              </a:rPr>
              <a:t>映像是成品，原始碼是原料。我們交付的是成品</a:t>
            </a:r>
            <a:r>
              <a:rPr lang="en-US" sz="2030" b="1" dirty="0">
                <a:solidFill>
                  <a:schemeClr val="accent2"/>
                </a:solidFill>
              </a:rPr>
              <a:t>。</a:t>
            </a:r>
            <a:endParaRPr lang="en-US" sz="203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731520" y="1417320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8000" b="1" dirty="0">
                <a:solidFill>
                  <a:schemeClr val="accent1"/>
                </a:solidFill>
              </a:rPr>
              <a:t>02</a:t>
            </a:r>
            <a:endParaRPr lang="en-US" sz="80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731520" y="26974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 dirty="0">
                <a:solidFill>
                  <a:schemeClr val="tx1"/>
                </a:solidFill>
              </a:rPr>
              <a:t>常見容器方案</a:t>
            </a:r>
            <a:endParaRPr lang="en-US" sz="3600" dirty="0"/>
          </a:p>
        </p:txBody>
      </p:sp>
      <p:sp>
        <p:nvSpPr>
          <p:cNvPr id="4" name="Text 1"/>
          <p:cNvSpPr>
            <a:spLocks noGrp="1"/>
          </p:cNvSpPr>
          <p:nvPr>
            <p:ph type="body" idx="103" hasCustomPrompt="1"/>
          </p:nvPr>
        </p:nvSpPr>
        <p:spPr>
          <a:xfrm>
            <a:off x="731520" y="416052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accent2"/>
                </a:solidFill>
              </a:rPr>
              <a:t>從「自己在家煮」到「進駐美食街」，有哪些選擇？</a:t>
            </a:r>
            <a:endParaRPr lang="en-US" sz="1800" dirty="0"/>
          </a:p>
        </p:txBody>
      </p:sp>
      <p:sp>
        <p:nvSpPr>
          <p:cNvPr id="5" name="Text 1"/>
          <p:cNvSpPr>
            <a:spLocks noGrp="1"/>
          </p:cNvSpPr>
          <p:nvPr>
            <p:ph type="body" idx="104" hasCustomPrompt="1"/>
          </p:nvPr>
        </p:nvSpPr>
        <p:spPr>
          <a:xfrm>
            <a:off x="731520" y="49377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300" dirty="0">
                <a:solidFill>
                  <a:schemeClr val="tx2"/>
                </a:solidFill>
              </a:rPr>
              <a:t>講授　｜　建議 2 小時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02920" y="3291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chemeClr val="accent2"/>
                </a:solidFill>
              </a:rPr>
              <a:t>第 2 章　常見容器方案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02920" y="603504"/>
            <a:ext cx="8138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chemeClr val="tx1"/>
                </a:solidFill>
              </a:rPr>
              <a:t>容器方案的光譜：自己管越少，平台管越多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02920" y="64008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2"/>
                </a:solidFill>
              </a:rPr>
              <a:t>第 2 章　常見容器方案　·　AI 雲端部署與容器化｜黃懷慶</a:t>
            </a:r>
            <a:endParaRPr lang="en-US" sz="1000" dirty="0"/>
          </a:p>
        </p:txBody>
      </p:sp>
      <p:sp>
        <p:nvSpPr>
          <p:cNvPr id="5" name="step-0"/>
          <p:cNvSpPr/>
          <p:nvPr/>
        </p:nvSpPr>
        <p:spPr>
          <a:xfrm>
            <a:off x="502920" y="1286764"/>
            <a:ext cx="1691640" cy="2179823"/>
          </a:xfrm>
          <a:prstGeom prst="roundRect">
            <a:avLst>
              <a:gd name="adj" fmla="val 5405"/>
            </a:avLst>
          </a:prstGeom>
          <a:solidFill>
            <a:schemeClr val="accent5"/>
          </a:solidFill>
          <a:ln w="9525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tep-title-0"/>
          <p:cNvSpPr txBox="1"/>
          <p:nvPr/>
        </p:nvSpPr>
        <p:spPr>
          <a:xfrm>
            <a:off x="649224" y="1433068"/>
            <a:ext cx="1399032" cy="266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42" b="1" dirty="0">
                <a:solidFill>
                  <a:schemeClr val="tx1"/>
                </a:solidFill>
              </a:rPr>
              <a:t>Docker</a:t>
            </a:r>
            <a:endParaRPr lang="en-US" sz="1642" dirty="0"/>
          </a:p>
        </p:txBody>
      </p:sp>
      <p:sp>
        <p:nvSpPr>
          <p:cNvPr id="7" name="step-body-0"/>
          <p:cNvSpPr txBox="1"/>
          <p:nvPr/>
        </p:nvSpPr>
        <p:spPr>
          <a:xfrm>
            <a:off x="649224" y="1773118"/>
            <a:ext cx="1399032" cy="1547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58" dirty="0">
                <a:solidFill>
                  <a:schemeClr val="tx2"/>
                </a:solidFill>
              </a:rPr>
              <a:t>在家用電鍋：一次煮一道</a:t>
            </a:r>
            <a:endParaRPr lang="en-US" sz="1958" dirty="0"/>
          </a:p>
        </p:txBody>
      </p:sp>
      <p:sp>
        <p:nvSpPr>
          <p:cNvPr id="8" name="arrow-0"/>
          <p:cNvSpPr/>
          <p:nvPr/>
        </p:nvSpPr>
        <p:spPr>
          <a:xfrm>
            <a:off x="2286000" y="2276091"/>
            <a:ext cx="274320" cy="201168"/>
          </a:xfrm>
          <a:prstGeom prst="rightArrow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step-1"/>
          <p:cNvSpPr/>
          <p:nvPr/>
        </p:nvSpPr>
        <p:spPr>
          <a:xfrm>
            <a:off x="2651760" y="1286764"/>
            <a:ext cx="1691640" cy="2179823"/>
          </a:xfrm>
          <a:prstGeom prst="roundRect">
            <a:avLst>
              <a:gd name="adj" fmla="val 5405"/>
            </a:avLst>
          </a:prstGeom>
          <a:solidFill>
            <a:schemeClr val="accent5"/>
          </a:solidFill>
          <a:ln w="9525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tep-title-1"/>
          <p:cNvSpPr txBox="1"/>
          <p:nvPr/>
        </p:nvSpPr>
        <p:spPr>
          <a:xfrm>
            <a:off x="2798064" y="1433068"/>
            <a:ext cx="1399032" cy="533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42" b="1" dirty="0">
                <a:solidFill>
                  <a:schemeClr val="tx1"/>
                </a:solidFill>
              </a:rPr>
              <a:t>Docker Compose</a:t>
            </a:r>
            <a:endParaRPr lang="en-US" sz="1642" dirty="0"/>
          </a:p>
        </p:txBody>
      </p:sp>
      <p:sp>
        <p:nvSpPr>
          <p:cNvPr id="11" name="step-body-1"/>
          <p:cNvSpPr txBox="1"/>
          <p:nvPr/>
        </p:nvSpPr>
        <p:spPr>
          <a:xfrm>
            <a:off x="2798064" y="2040016"/>
            <a:ext cx="1399032" cy="1280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58" dirty="0">
                <a:solidFill>
                  <a:schemeClr val="tx2"/>
                </a:solidFill>
              </a:rPr>
              <a:t>一次準備整桌菜的流程</a:t>
            </a:r>
            <a:endParaRPr lang="en-US" sz="1958" dirty="0"/>
          </a:p>
        </p:txBody>
      </p:sp>
      <p:sp>
        <p:nvSpPr>
          <p:cNvPr id="12" name="arrow-1"/>
          <p:cNvSpPr/>
          <p:nvPr/>
        </p:nvSpPr>
        <p:spPr>
          <a:xfrm>
            <a:off x="4434840" y="2276091"/>
            <a:ext cx="274320" cy="201168"/>
          </a:xfrm>
          <a:prstGeom prst="rightArrow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step-2"/>
          <p:cNvSpPr/>
          <p:nvPr/>
        </p:nvSpPr>
        <p:spPr>
          <a:xfrm>
            <a:off x="4800600" y="1286764"/>
            <a:ext cx="1691640" cy="2179823"/>
          </a:xfrm>
          <a:prstGeom prst="roundRect">
            <a:avLst>
              <a:gd name="adj" fmla="val 5405"/>
            </a:avLst>
          </a:prstGeom>
          <a:solidFill>
            <a:schemeClr val="accent5"/>
          </a:solidFill>
          <a:ln w="9525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tep-title-2"/>
          <p:cNvSpPr txBox="1"/>
          <p:nvPr/>
        </p:nvSpPr>
        <p:spPr>
          <a:xfrm>
            <a:off x="4946904" y="1433068"/>
            <a:ext cx="1399032" cy="266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42" b="1" dirty="0">
                <a:solidFill>
                  <a:schemeClr val="tx1"/>
                </a:solidFill>
              </a:rPr>
              <a:t>Kubernetes</a:t>
            </a:r>
            <a:endParaRPr lang="en-US" sz="1642" dirty="0"/>
          </a:p>
        </p:txBody>
      </p:sp>
      <p:sp>
        <p:nvSpPr>
          <p:cNvPr id="15" name="step-body-2"/>
          <p:cNvSpPr txBox="1"/>
          <p:nvPr/>
        </p:nvSpPr>
        <p:spPr>
          <a:xfrm>
            <a:off x="4946904" y="1773118"/>
            <a:ext cx="1399032" cy="1547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58" dirty="0">
                <a:solidFill>
                  <a:schemeClr val="tx2"/>
                </a:solidFill>
              </a:rPr>
              <a:t>連鎖餐廳總部：調度上百家分店</a:t>
            </a:r>
            <a:endParaRPr lang="en-US" sz="1958" dirty="0"/>
          </a:p>
        </p:txBody>
      </p:sp>
      <p:sp>
        <p:nvSpPr>
          <p:cNvPr id="16" name="arrow-2"/>
          <p:cNvSpPr/>
          <p:nvPr/>
        </p:nvSpPr>
        <p:spPr>
          <a:xfrm>
            <a:off x="6583680" y="2276091"/>
            <a:ext cx="274320" cy="201168"/>
          </a:xfrm>
          <a:prstGeom prst="rightArrow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step-3"/>
          <p:cNvSpPr/>
          <p:nvPr/>
        </p:nvSpPr>
        <p:spPr>
          <a:xfrm>
            <a:off x="6949440" y="1286764"/>
            <a:ext cx="1691640" cy="2179823"/>
          </a:xfrm>
          <a:prstGeom prst="roundRect">
            <a:avLst>
              <a:gd name="adj" fmla="val 5405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step-title-3"/>
          <p:cNvSpPr txBox="1"/>
          <p:nvPr/>
        </p:nvSpPr>
        <p:spPr>
          <a:xfrm>
            <a:off x="7095744" y="1433068"/>
            <a:ext cx="1399032" cy="266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42" b="1" dirty="0">
                <a:solidFill>
                  <a:schemeClr val="tx1"/>
                </a:solidFill>
              </a:rPr>
              <a:t>雲端 PaaS</a:t>
            </a:r>
            <a:endParaRPr lang="en-US" sz="1642" dirty="0"/>
          </a:p>
        </p:txBody>
      </p:sp>
      <p:sp>
        <p:nvSpPr>
          <p:cNvPr id="19" name="step-body-3"/>
          <p:cNvSpPr txBox="1"/>
          <p:nvPr/>
        </p:nvSpPr>
        <p:spPr>
          <a:xfrm>
            <a:off x="7095744" y="1773118"/>
            <a:ext cx="1399032" cy="1547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58" dirty="0">
                <a:solidFill>
                  <a:schemeClr val="tx1"/>
                </a:solidFill>
              </a:rPr>
              <a:t>進駐美食街：你只負責出餐</a:t>
            </a:r>
            <a:endParaRPr lang="en-US" sz="1958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02920" y="3291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chemeClr val="accent2"/>
                </a:solidFill>
              </a:rPr>
              <a:t>第 2 章　常見容器方案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02920" y="603504"/>
            <a:ext cx="8138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chemeClr val="tx1"/>
                </a:solidFill>
              </a:rPr>
              <a:t>地端方案：Docker 與 Docker Compose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02920" y="64008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2"/>
                </a:solidFill>
              </a:rPr>
              <a:t>第 2 章　常見容器方案　·　AI 雲端部署與容器化｜黃懷慶</a:t>
            </a:r>
            <a:endParaRPr lang="en-US" sz="1000" dirty="0"/>
          </a:p>
        </p:txBody>
      </p:sp>
      <p:sp>
        <p:nvSpPr>
          <p:cNvPr id="5" name="lead"/>
          <p:cNvSpPr txBox="1"/>
          <p:nvPr/>
        </p:nvSpPr>
        <p:spPr>
          <a:xfrm>
            <a:off x="502920" y="1286764"/>
            <a:ext cx="8138160" cy="377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20" dirty="0">
                <a:solidFill>
                  <a:schemeClr val="tx2"/>
                </a:solidFill>
              </a:rPr>
              <a:t>「地端」指的是在自己的電腦或自己的機房執行。</a:t>
            </a:r>
            <a:endParaRPr lang="en-US" sz="2320" dirty="0"/>
          </a:p>
        </p:txBody>
      </p:sp>
      <p:sp>
        <p:nvSpPr>
          <p:cNvPr id="6" name="card-0-0"/>
          <p:cNvSpPr/>
          <p:nvPr/>
        </p:nvSpPr>
        <p:spPr>
          <a:xfrm>
            <a:off x="502920" y="1865071"/>
            <a:ext cx="3968496" cy="2643429"/>
          </a:xfrm>
          <a:prstGeom prst="roundRect">
            <a:avLst>
              <a:gd name="adj" fmla="val 3459"/>
            </a:avLst>
          </a:prstGeom>
          <a:solidFill>
            <a:schemeClr val="accent5"/>
          </a:solidFill>
          <a:ln w="9525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7" name="card-icon-0-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047951"/>
            <a:ext cx="329184" cy="329184"/>
          </a:xfrm>
          <a:prstGeom prst="rect">
            <a:avLst/>
          </a:prstGeom>
        </p:spPr>
      </p:pic>
      <p:sp>
        <p:nvSpPr>
          <p:cNvPr id="8" name="card-title-0-0"/>
          <p:cNvSpPr txBox="1"/>
          <p:nvPr/>
        </p:nvSpPr>
        <p:spPr>
          <a:xfrm>
            <a:off x="685800" y="2468575"/>
            <a:ext cx="3602736" cy="400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65" b="1" dirty="0">
                <a:solidFill>
                  <a:schemeClr val="tx1"/>
                </a:solidFill>
              </a:rPr>
              <a:t>Docker</a:t>
            </a:r>
            <a:endParaRPr lang="en-US" sz="2465" dirty="0"/>
          </a:p>
        </p:txBody>
      </p:sp>
      <p:sp>
        <p:nvSpPr>
          <p:cNvPr id="9" name="card-body-0-0"/>
          <p:cNvSpPr txBox="1"/>
          <p:nvPr/>
        </p:nvSpPr>
        <p:spPr>
          <a:xfrm>
            <a:off x="685800" y="2924150"/>
            <a:ext cx="3602736" cy="1401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30" dirty="0">
                <a:solidFill>
                  <a:schemeClr val="tx2"/>
                </a:solidFill>
              </a:rPr>
              <a:t>建置映像、執行容器的標準工具。本課程第 7 到 9 章都會使用它。</a:t>
            </a:r>
            <a:endParaRPr lang="en-US" sz="2030" dirty="0"/>
          </a:p>
        </p:txBody>
      </p:sp>
      <p:sp>
        <p:nvSpPr>
          <p:cNvPr id="10" name="card-0-1"/>
          <p:cNvSpPr/>
          <p:nvPr/>
        </p:nvSpPr>
        <p:spPr>
          <a:xfrm>
            <a:off x="4672584" y="1865071"/>
            <a:ext cx="3968496" cy="2643429"/>
          </a:xfrm>
          <a:prstGeom prst="roundRect">
            <a:avLst>
              <a:gd name="adj" fmla="val 3459"/>
            </a:avLst>
          </a:prstGeom>
          <a:solidFill>
            <a:schemeClr val="accent5"/>
          </a:solidFill>
          <a:ln w="9525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11" name="card-icon-0-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5464" y="2047951"/>
            <a:ext cx="329184" cy="329184"/>
          </a:xfrm>
          <a:prstGeom prst="rect">
            <a:avLst/>
          </a:prstGeom>
        </p:spPr>
      </p:pic>
      <p:sp>
        <p:nvSpPr>
          <p:cNvPr id="12" name="card-title-0-1"/>
          <p:cNvSpPr txBox="1"/>
          <p:nvPr/>
        </p:nvSpPr>
        <p:spPr>
          <a:xfrm>
            <a:off x="4855464" y="2468575"/>
            <a:ext cx="3602736" cy="400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65" b="1" dirty="0">
                <a:solidFill>
                  <a:schemeClr val="tx1"/>
                </a:solidFill>
              </a:rPr>
              <a:t>Docker Compose</a:t>
            </a:r>
            <a:endParaRPr lang="en-US" sz="2465" dirty="0"/>
          </a:p>
        </p:txBody>
      </p:sp>
      <p:sp>
        <p:nvSpPr>
          <p:cNvPr id="13" name="card-body-0-1"/>
          <p:cNvSpPr txBox="1"/>
          <p:nvPr/>
        </p:nvSpPr>
        <p:spPr>
          <a:xfrm>
            <a:off x="4855464" y="2924150"/>
            <a:ext cx="3602736" cy="1401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30" dirty="0">
                <a:solidFill>
                  <a:schemeClr val="tx2"/>
                </a:solidFill>
              </a:rPr>
              <a:t>用一個設定檔描述「網站＋資料庫＋快取」好幾個容器，一個指令一起啟動。</a:t>
            </a:r>
            <a:endParaRPr lang="en-US" sz="203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02920" y="3291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chemeClr val="accent2"/>
                </a:solidFill>
              </a:rPr>
              <a:t>第 2 章　常見容器方案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02920" y="603504"/>
            <a:ext cx="8138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chemeClr val="tx1"/>
                </a:solidFill>
              </a:rPr>
              <a:t>Kubernetes（K8s）：容器的調度中心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02920" y="64008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2"/>
                </a:solidFill>
              </a:rPr>
              <a:t>第 2 章　常見容器方案　·　AI 雲端部署與容器化｜黃懷慶</a:t>
            </a:r>
            <a:endParaRPr lang="en-US" sz="1000" dirty="0"/>
          </a:p>
        </p:txBody>
      </p:sp>
      <p:sp>
        <p:nvSpPr>
          <p:cNvPr id="5" name="lead"/>
          <p:cNvSpPr txBox="1"/>
          <p:nvPr/>
        </p:nvSpPr>
        <p:spPr>
          <a:xfrm>
            <a:off x="502920" y="1286764"/>
            <a:ext cx="8138160" cy="728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40" dirty="0">
                <a:solidFill>
                  <a:schemeClr val="tx2"/>
                </a:solidFill>
              </a:rPr>
              <a:t>像連鎖餐廳總部：上百家分店的人力、備料、營業時間，都由總部統一調度。</a:t>
            </a:r>
            <a:endParaRPr lang="en-US" sz="2240" dirty="0"/>
          </a:p>
        </p:txBody>
      </p:sp>
      <p:sp>
        <p:nvSpPr>
          <p:cNvPr id="6" name="card-0-0"/>
          <p:cNvSpPr/>
          <p:nvPr/>
        </p:nvSpPr>
        <p:spPr>
          <a:xfrm>
            <a:off x="502920" y="2216201"/>
            <a:ext cx="3968496" cy="1891132"/>
          </a:xfrm>
          <a:prstGeom prst="roundRect">
            <a:avLst>
              <a:gd name="adj" fmla="val 4835"/>
            </a:avLst>
          </a:prstGeom>
          <a:solidFill>
            <a:schemeClr val="accent5"/>
          </a:solidFill>
          <a:ln w="9525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7" name="card-icon-0-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399081"/>
            <a:ext cx="329184" cy="329184"/>
          </a:xfrm>
          <a:prstGeom prst="rect">
            <a:avLst/>
          </a:prstGeom>
        </p:spPr>
      </p:pic>
      <p:sp>
        <p:nvSpPr>
          <p:cNvPr id="8" name="card-title-0-0"/>
          <p:cNvSpPr txBox="1"/>
          <p:nvPr/>
        </p:nvSpPr>
        <p:spPr>
          <a:xfrm>
            <a:off x="685800" y="2819705"/>
            <a:ext cx="3602736" cy="386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80" b="1" dirty="0">
                <a:solidFill>
                  <a:schemeClr val="tx1"/>
                </a:solidFill>
              </a:rPr>
              <a:t>安排位置</a:t>
            </a:r>
            <a:endParaRPr lang="en-US" sz="2380" dirty="0"/>
          </a:p>
        </p:txBody>
      </p:sp>
      <p:sp>
        <p:nvSpPr>
          <p:cNvPr id="9" name="card-body-0-0"/>
          <p:cNvSpPr txBox="1"/>
          <p:nvPr/>
        </p:nvSpPr>
        <p:spPr>
          <a:xfrm>
            <a:off x="685800" y="3261462"/>
            <a:ext cx="3602736" cy="6629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60" dirty="0">
                <a:solidFill>
                  <a:schemeClr val="tx2"/>
                </a:solidFill>
              </a:rPr>
              <a:t>決定每個容器要跑在哪一台機器上。</a:t>
            </a:r>
            <a:endParaRPr lang="en-US" sz="1960" dirty="0"/>
          </a:p>
        </p:txBody>
      </p:sp>
      <p:sp>
        <p:nvSpPr>
          <p:cNvPr id="10" name="card-0-1"/>
          <p:cNvSpPr/>
          <p:nvPr/>
        </p:nvSpPr>
        <p:spPr>
          <a:xfrm>
            <a:off x="4672584" y="2216201"/>
            <a:ext cx="3968496" cy="1891132"/>
          </a:xfrm>
          <a:prstGeom prst="roundRect">
            <a:avLst>
              <a:gd name="adj" fmla="val 4835"/>
            </a:avLst>
          </a:prstGeom>
          <a:solidFill>
            <a:schemeClr val="accent5"/>
          </a:solidFill>
          <a:ln w="9525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11" name="card-icon-0-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5464" y="2399081"/>
            <a:ext cx="329184" cy="329184"/>
          </a:xfrm>
          <a:prstGeom prst="rect">
            <a:avLst/>
          </a:prstGeom>
        </p:spPr>
      </p:pic>
      <p:sp>
        <p:nvSpPr>
          <p:cNvPr id="12" name="card-title-0-1"/>
          <p:cNvSpPr txBox="1"/>
          <p:nvPr/>
        </p:nvSpPr>
        <p:spPr>
          <a:xfrm>
            <a:off x="4855464" y="2819705"/>
            <a:ext cx="3602736" cy="386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80" b="1" dirty="0">
                <a:solidFill>
                  <a:schemeClr val="tx1"/>
                </a:solidFill>
              </a:rPr>
              <a:t>自動修復</a:t>
            </a:r>
            <a:endParaRPr lang="en-US" sz="2380" dirty="0"/>
          </a:p>
        </p:txBody>
      </p:sp>
      <p:sp>
        <p:nvSpPr>
          <p:cNvPr id="13" name="card-body-0-1"/>
          <p:cNvSpPr txBox="1"/>
          <p:nvPr/>
        </p:nvSpPr>
        <p:spPr>
          <a:xfrm>
            <a:off x="4855464" y="3261462"/>
            <a:ext cx="3602736" cy="6629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60" dirty="0">
                <a:solidFill>
                  <a:schemeClr val="tx2"/>
                </a:solidFill>
              </a:rPr>
              <a:t>容器掛掉就重開，機器故障就搬家。</a:t>
            </a:r>
            <a:endParaRPr lang="en-US" sz="1960" dirty="0"/>
          </a:p>
        </p:txBody>
      </p:sp>
      <p:sp>
        <p:nvSpPr>
          <p:cNvPr id="14" name="card-1-0"/>
          <p:cNvSpPr/>
          <p:nvPr/>
        </p:nvSpPr>
        <p:spPr>
          <a:xfrm>
            <a:off x="502920" y="4308500"/>
            <a:ext cx="3968496" cy="1891132"/>
          </a:xfrm>
          <a:prstGeom prst="roundRect">
            <a:avLst>
              <a:gd name="adj" fmla="val 4835"/>
            </a:avLst>
          </a:prstGeom>
          <a:solidFill>
            <a:schemeClr val="accent5"/>
          </a:solidFill>
          <a:ln w="9525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15" name="card-icon-1-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491380"/>
            <a:ext cx="329184" cy="329184"/>
          </a:xfrm>
          <a:prstGeom prst="rect">
            <a:avLst/>
          </a:prstGeom>
        </p:spPr>
      </p:pic>
      <p:sp>
        <p:nvSpPr>
          <p:cNvPr id="16" name="card-title-1-0"/>
          <p:cNvSpPr txBox="1"/>
          <p:nvPr/>
        </p:nvSpPr>
        <p:spPr>
          <a:xfrm>
            <a:off x="685800" y="4912004"/>
            <a:ext cx="3602736" cy="386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80" b="1" dirty="0">
                <a:solidFill>
                  <a:schemeClr val="tx1"/>
                </a:solidFill>
              </a:rPr>
              <a:t>自動擴展</a:t>
            </a:r>
            <a:endParaRPr lang="en-US" sz="2380" dirty="0"/>
          </a:p>
        </p:txBody>
      </p:sp>
      <p:sp>
        <p:nvSpPr>
          <p:cNvPr id="17" name="card-body-1-0"/>
          <p:cNvSpPr txBox="1"/>
          <p:nvPr/>
        </p:nvSpPr>
        <p:spPr>
          <a:xfrm>
            <a:off x="685800" y="5353761"/>
            <a:ext cx="3602736" cy="6629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60" dirty="0">
                <a:solidFill>
                  <a:schemeClr val="tx2"/>
                </a:solidFill>
              </a:rPr>
              <a:t>依照忙碌程度增減容器數量。</a:t>
            </a:r>
            <a:endParaRPr lang="en-US" sz="1960" dirty="0"/>
          </a:p>
        </p:txBody>
      </p:sp>
      <p:sp>
        <p:nvSpPr>
          <p:cNvPr id="18" name="card-1-1"/>
          <p:cNvSpPr/>
          <p:nvPr/>
        </p:nvSpPr>
        <p:spPr>
          <a:xfrm>
            <a:off x="4672584" y="4308500"/>
            <a:ext cx="3968496" cy="1891132"/>
          </a:xfrm>
          <a:prstGeom prst="roundRect">
            <a:avLst>
              <a:gd name="adj" fmla="val 4835"/>
            </a:avLst>
          </a:prstGeom>
          <a:solidFill>
            <a:schemeClr val="accent5"/>
          </a:solidFill>
          <a:ln w="9525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19" name="card-icon-1-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5464" y="4491380"/>
            <a:ext cx="329184" cy="329184"/>
          </a:xfrm>
          <a:prstGeom prst="rect">
            <a:avLst/>
          </a:prstGeom>
        </p:spPr>
      </p:pic>
      <p:sp>
        <p:nvSpPr>
          <p:cNvPr id="20" name="card-title-1-1"/>
          <p:cNvSpPr txBox="1"/>
          <p:nvPr/>
        </p:nvSpPr>
        <p:spPr>
          <a:xfrm>
            <a:off x="4855464" y="4912004"/>
            <a:ext cx="3602736" cy="386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80" b="1" dirty="0">
                <a:solidFill>
                  <a:schemeClr val="tx1"/>
                </a:solidFill>
              </a:rPr>
              <a:t>逐步換新</a:t>
            </a:r>
            <a:endParaRPr lang="en-US" sz="2380" dirty="0"/>
          </a:p>
        </p:txBody>
      </p:sp>
      <p:sp>
        <p:nvSpPr>
          <p:cNvPr id="21" name="card-body-1-1"/>
          <p:cNvSpPr txBox="1"/>
          <p:nvPr/>
        </p:nvSpPr>
        <p:spPr>
          <a:xfrm>
            <a:off x="4855464" y="5353761"/>
            <a:ext cx="3602736" cy="6629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60" dirty="0">
                <a:solidFill>
                  <a:schemeClr val="tx2"/>
                </a:solidFill>
              </a:rPr>
              <a:t>新版一台台換上，出問題自動退回。</a:t>
            </a:r>
            <a:endParaRPr lang="en-US" sz="196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02920" y="3291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chemeClr val="accent2"/>
                </a:solidFill>
              </a:rPr>
              <a:t>第 2 章　常見容器方案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02920" y="603504"/>
            <a:ext cx="8138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chemeClr val="tx1"/>
                </a:solidFill>
              </a:rPr>
              <a:t>雲端 PaaS：只要交出映像，其他交給平台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02920" y="64008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2"/>
                </a:solidFill>
              </a:rPr>
              <a:t>第 2 章　常見容器方案　·　AI 雲端部署與容器化｜黃懷慶</a:t>
            </a:r>
            <a:endParaRPr lang="en-US" sz="1000" dirty="0"/>
          </a:p>
        </p:txBody>
      </p:sp>
      <p:sp>
        <p:nvSpPr>
          <p:cNvPr id="5" name="lead"/>
          <p:cNvSpPr txBox="1"/>
          <p:nvPr/>
        </p:nvSpPr>
        <p:spPr>
          <a:xfrm>
            <a:off x="502920" y="1286764"/>
            <a:ext cx="8138160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60" dirty="0">
                <a:solidFill>
                  <a:schemeClr val="tx2"/>
                </a:solidFill>
              </a:rPr>
              <a:t>像進駐百貨美食街：場地、水電、清潔、排隊動線都由商場負責，你只要專心出餐。</a:t>
            </a:r>
            <a:endParaRPr lang="en-US" sz="2160" dirty="0"/>
          </a:p>
        </p:txBody>
      </p:sp>
      <p:graphicFrame>
        <p:nvGraphicFramePr>
          <p:cNvPr id="21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190191"/>
          <a:ext cx="8138160" cy="3981983"/>
        </p:xfrm>
        <a:graphic>
          <a:graphicData uri="http://schemas.openxmlformats.org/drawingml/2006/table">
            <a:tbl>
              <a:tblPr/>
              <a:tblGrid>
                <a:gridCol w="24414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45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621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37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90" b="1" dirty="0">
                          <a:solidFill>
                            <a:schemeClr val="bg1"/>
                          </a:solidFill>
                        </a:rPr>
                        <a:t>平台</a:t>
                      </a:r>
                      <a:endParaRPr lang="en-US" sz="189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90" b="1" dirty="0">
                          <a:solidFill>
                            <a:schemeClr val="bg1"/>
                          </a:solidFill>
                        </a:rPr>
                        <a:t>供應商</a:t>
                      </a:r>
                      <a:endParaRPr lang="en-US" sz="189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90" b="1" dirty="0">
                          <a:solidFill>
                            <a:schemeClr val="bg1"/>
                          </a:solidFill>
                        </a:rPr>
                        <a:t>特色</a:t>
                      </a:r>
                      <a:endParaRPr lang="en-US" sz="189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45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90" dirty="0">
                          <a:solidFill>
                            <a:schemeClr val="tx1"/>
                          </a:solidFill>
                        </a:rPr>
                        <a:t>Cloud Run</a:t>
                      </a:r>
                      <a:endParaRPr lang="en-US" sz="189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90" dirty="0">
                          <a:solidFill>
                            <a:schemeClr val="tx1"/>
                          </a:solidFill>
                        </a:rPr>
                        <a:t>Google Cloud</a:t>
                      </a:r>
                      <a:endParaRPr lang="en-US" sz="189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90" dirty="0">
                          <a:solidFill>
                            <a:schemeClr val="tx1"/>
                          </a:solidFill>
                        </a:rPr>
                        <a:t>依流量自動擴展，沒人用時可縮到 0</a:t>
                      </a:r>
                      <a:endParaRPr lang="en-US" sz="189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45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90" dirty="0">
                          <a:solidFill>
                            <a:schemeClr val="tx1"/>
                          </a:solidFill>
                        </a:rPr>
                        <a:t>ECS / Fargate</a:t>
                      </a:r>
                      <a:endParaRPr lang="en-US" sz="189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90" dirty="0">
                          <a:solidFill>
                            <a:schemeClr val="tx1"/>
                          </a:solidFill>
                        </a:rPr>
                        <a:t>AWS</a:t>
                      </a:r>
                      <a:endParaRPr lang="en-US" sz="189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90" dirty="0">
                          <a:solidFill>
                            <a:schemeClr val="tx1"/>
                          </a:solidFill>
                        </a:rPr>
                        <a:t>不必管理伺服器的容器執行環境</a:t>
                      </a:r>
                      <a:endParaRPr lang="en-US" sz="189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45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90" dirty="0">
                          <a:solidFill>
                            <a:schemeClr val="tx1"/>
                          </a:solidFill>
                        </a:rPr>
                        <a:t>Azure Container Apps</a:t>
                      </a:r>
                      <a:endParaRPr lang="en-US" sz="189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90" dirty="0">
                          <a:solidFill>
                            <a:schemeClr val="tx1"/>
                          </a:solidFill>
                        </a:rPr>
                        <a:t>Microsoft Azure</a:t>
                      </a:r>
                      <a:endParaRPr lang="en-US" sz="189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90" dirty="0">
                          <a:solidFill>
                            <a:schemeClr val="tx1"/>
                          </a:solidFill>
                        </a:rPr>
                        <a:t>以 Kubernetes 為基礎的代管服務</a:t>
                      </a:r>
                      <a:endParaRPr lang="en-US" sz="189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45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90" dirty="0">
                          <a:solidFill>
                            <a:schemeClr val="tx1"/>
                          </a:solidFill>
                        </a:rPr>
                        <a:t>Render、Railway 等</a:t>
                      </a:r>
                      <a:endParaRPr lang="en-US" sz="189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90" dirty="0">
                          <a:solidFill>
                            <a:schemeClr val="tx1"/>
                          </a:solidFill>
                        </a:rPr>
                        <a:t>第三方</a:t>
                      </a:r>
                      <a:endParaRPr lang="en-US" sz="189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90" dirty="0">
                          <a:solidFill>
                            <a:schemeClr val="tx1"/>
                          </a:solidFill>
                        </a:rPr>
                        <a:t>介面簡單，常見於個人專案</a:t>
                      </a:r>
                      <a:endParaRPr lang="en-US" sz="189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02920" y="3291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chemeClr val="accent2"/>
                </a:solidFill>
              </a:rPr>
              <a:t>第 2 章　常見容器方案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02920" y="603504"/>
            <a:ext cx="8138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chemeClr val="tx1"/>
                </a:solidFill>
              </a:rPr>
              <a:t>PaaS 在背後幫你做了什麼？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02920" y="64008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2"/>
                </a:solidFill>
              </a:rPr>
              <a:t>第 2 章　常見容器方案　·　AI 雲端部署與容器化｜黃懷慶</a:t>
            </a:r>
            <a:endParaRPr lang="en-US" sz="1000" dirty="0"/>
          </a:p>
        </p:txBody>
      </p:sp>
      <p:graphicFrame>
        <p:nvGraphicFramePr>
          <p:cNvPr id="22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6764"/>
          <a:ext cx="8138160" cy="3293820"/>
        </p:xfrm>
        <a:graphic>
          <a:graphicData uri="http://schemas.openxmlformats.org/drawingml/2006/table">
            <a:tbl>
              <a:tblPr/>
              <a:tblGrid>
                <a:gridCol w="44759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21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9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b="1" dirty="0">
                          <a:solidFill>
                            <a:schemeClr val="bg1"/>
                          </a:solidFill>
                        </a:rPr>
                        <a:t>你需要做的事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b="1" dirty="0">
                          <a:solidFill>
                            <a:schemeClr val="bg1"/>
                          </a:solidFill>
                        </a:rPr>
                        <a:t>在 PaaS 上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9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取得映像並啟動服務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自動完成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9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設定密碼、金鑰等組態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在控制台填寫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9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設定網址與加密連線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自動配置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9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服務掛掉時重新啟動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自動完成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9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新版出問題時退回舊版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按一個按鈕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note"/>
          <p:cNvSpPr txBox="1"/>
          <p:nvPr/>
        </p:nvSpPr>
        <p:spPr>
          <a:xfrm>
            <a:off x="502920" y="4781753"/>
            <a:ext cx="8138160" cy="329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30" b="1" dirty="0">
                <a:solidFill>
                  <a:schemeClr val="accent2"/>
                </a:solidFill>
              </a:rPr>
              <a:t>第 9 章，我們會用兩支小工具，親手把左邊這些事做一遍。</a:t>
            </a:r>
            <a:endParaRPr lang="en-US" sz="203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02920" y="3291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chemeClr val="accent2"/>
                </a:solidFill>
              </a:rPr>
              <a:t>第 2 章　常見容器方案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02920" y="603504"/>
            <a:ext cx="8138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chemeClr val="tx1"/>
                </a:solidFill>
              </a:rPr>
              <a:t>本課程的教室：GitHub Codespaces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02920" y="64008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2"/>
                </a:solidFill>
              </a:rPr>
              <a:t>第 2 章　常見容器方案　·　AI 雲端部署與容器化｜黃懷慶</a:t>
            </a:r>
            <a:endParaRPr lang="en-US" sz="1000" dirty="0"/>
          </a:p>
        </p:txBody>
      </p:sp>
      <p:sp>
        <p:nvSpPr>
          <p:cNvPr id="5" name="card-0-0"/>
          <p:cNvSpPr/>
          <p:nvPr/>
        </p:nvSpPr>
        <p:spPr>
          <a:xfrm>
            <a:off x="502920" y="1286764"/>
            <a:ext cx="2578608" cy="3044139"/>
          </a:xfrm>
          <a:prstGeom prst="roundRect">
            <a:avLst>
              <a:gd name="adj" fmla="val 3546"/>
            </a:avLst>
          </a:prstGeom>
          <a:solidFill>
            <a:schemeClr val="accent5"/>
          </a:solidFill>
          <a:ln w="9525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6" name="card-icon-0-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69644"/>
            <a:ext cx="329184" cy="329184"/>
          </a:xfrm>
          <a:prstGeom prst="rect">
            <a:avLst/>
          </a:prstGeom>
        </p:spPr>
      </p:pic>
      <p:sp>
        <p:nvSpPr>
          <p:cNvPr id="7" name="card-title-0-0"/>
          <p:cNvSpPr txBox="1"/>
          <p:nvPr/>
        </p:nvSpPr>
        <p:spPr>
          <a:xfrm>
            <a:off x="685800" y="1890268"/>
            <a:ext cx="2212848" cy="400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65" b="1" dirty="0">
                <a:solidFill>
                  <a:schemeClr val="tx1"/>
                </a:solidFill>
              </a:rPr>
              <a:t>雲端上的電腦</a:t>
            </a:r>
            <a:endParaRPr lang="en-US" sz="2465" dirty="0"/>
          </a:p>
        </p:txBody>
      </p:sp>
      <p:sp>
        <p:nvSpPr>
          <p:cNvPr id="8" name="card-body-0-0"/>
          <p:cNvSpPr txBox="1"/>
          <p:nvPr/>
        </p:nvSpPr>
        <p:spPr>
          <a:xfrm>
            <a:off x="685800" y="2345842"/>
            <a:ext cx="2212848" cy="1802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30" dirty="0">
                <a:solidFill>
                  <a:schemeClr val="tx2"/>
                </a:solidFill>
              </a:rPr>
              <a:t>GitHub 幫你開一台雲端電腦，裡面已經裝好開發工具。</a:t>
            </a:r>
            <a:endParaRPr lang="en-US" sz="2030" dirty="0"/>
          </a:p>
        </p:txBody>
      </p:sp>
      <p:sp>
        <p:nvSpPr>
          <p:cNvPr id="9" name="card-0-1"/>
          <p:cNvSpPr/>
          <p:nvPr/>
        </p:nvSpPr>
        <p:spPr>
          <a:xfrm>
            <a:off x="3282696" y="1286764"/>
            <a:ext cx="2578608" cy="3044139"/>
          </a:xfrm>
          <a:prstGeom prst="roundRect">
            <a:avLst>
              <a:gd name="adj" fmla="val 3546"/>
            </a:avLst>
          </a:prstGeom>
          <a:solidFill>
            <a:schemeClr val="accent5"/>
          </a:solidFill>
          <a:ln w="9525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10" name="card-icon-0-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5576" y="1469644"/>
            <a:ext cx="329184" cy="329184"/>
          </a:xfrm>
          <a:prstGeom prst="rect">
            <a:avLst/>
          </a:prstGeom>
        </p:spPr>
      </p:pic>
      <p:sp>
        <p:nvSpPr>
          <p:cNvPr id="11" name="card-title-0-1"/>
          <p:cNvSpPr txBox="1"/>
          <p:nvPr/>
        </p:nvSpPr>
        <p:spPr>
          <a:xfrm>
            <a:off x="3465576" y="1890268"/>
            <a:ext cx="2212848" cy="400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65" b="1" dirty="0">
                <a:solidFill>
                  <a:schemeClr val="tx1"/>
                </a:solidFill>
              </a:rPr>
              <a:t>只要瀏覽器</a:t>
            </a:r>
            <a:endParaRPr lang="en-US" sz="2465" dirty="0"/>
          </a:p>
        </p:txBody>
      </p:sp>
      <p:sp>
        <p:nvSpPr>
          <p:cNvPr id="12" name="card-body-0-1"/>
          <p:cNvSpPr txBox="1"/>
          <p:nvPr/>
        </p:nvSpPr>
        <p:spPr>
          <a:xfrm>
            <a:off x="3465576" y="2345842"/>
            <a:ext cx="2212848" cy="1802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30" dirty="0">
                <a:solidFill>
                  <a:schemeClr val="tx2"/>
                </a:solidFill>
              </a:rPr>
              <a:t>不用在自己的電腦安裝任何軟體，打開網頁就能用。</a:t>
            </a:r>
            <a:endParaRPr lang="en-US" sz="2030" dirty="0"/>
          </a:p>
        </p:txBody>
      </p:sp>
      <p:sp>
        <p:nvSpPr>
          <p:cNvPr id="13" name="card-0-2"/>
          <p:cNvSpPr/>
          <p:nvPr/>
        </p:nvSpPr>
        <p:spPr>
          <a:xfrm>
            <a:off x="6062472" y="1286764"/>
            <a:ext cx="2578608" cy="3044139"/>
          </a:xfrm>
          <a:prstGeom prst="roundRect">
            <a:avLst>
              <a:gd name="adj" fmla="val 3546"/>
            </a:avLst>
          </a:prstGeom>
          <a:solidFill>
            <a:schemeClr val="accent5"/>
          </a:solidFill>
          <a:ln w="9525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14" name="card-icon-0-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5352" y="1469644"/>
            <a:ext cx="329184" cy="329184"/>
          </a:xfrm>
          <a:prstGeom prst="rect">
            <a:avLst/>
          </a:prstGeom>
        </p:spPr>
      </p:pic>
      <p:sp>
        <p:nvSpPr>
          <p:cNvPr id="15" name="card-title-0-2"/>
          <p:cNvSpPr txBox="1"/>
          <p:nvPr/>
        </p:nvSpPr>
        <p:spPr>
          <a:xfrm>
            <a:off x="6245352" y="1890268"/>
            <a:ext cx="2212848" cy="8014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65" b="1" dirty="0">
                <a:solidFill>
                  <a:schemeClr val="tx1"/>
                </a:solidFill>
              </a:rPr>
              <a:t>免費、免信用卡</a:t>
            </a:r>
            <a:endParaRPr lang="en-US" sz="2465" dirty="0"/>
          </a:p>
        </p:txBody>
      </p:sp>
      <p:sp>
        <p:nvSpPr>
          <p:cNvPr id="16" name="card-body-0-2"/>
          <p:cNvSpPr txBox="1"/>
          <p:nvPr/>
        </p:nvSpPr>
        <p:spPr>
          <a:xfrm>
            <a:off x="6245352" y="2746553"/>
            <a:ext cx="2212848" cy="1401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30" dirty="0">
                <a:solidFill>
                  <a:schemeClr val="tx2"/>
                </a:solidFill>
              </a:rPr>
              <a:t>每月有免費額度，用完只會暫停，不會扣款。</a:t>
            </a:r>
            <a:endParaRPr lang="en-US" sz="203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02920" y="3291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chemeClr val="accent2"/>
                </a:solidFill>
              </a:rPr>
              <a:t>第 2 章　常見容器方案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02920" y="603504"/>
            <a:ext cx="8138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chemeClr val="tx1"/>
                </a:solidFill>
              </a:rPr>
              <a:t>為什麼選 Codespaces？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02920" y="64008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2"/>
                </a:solidFill>
              </a:rPr>
              <a:t>第 2 章　常見容器方案　·　AI 雲端部署與容器化｜黃懷慶</a:t>
            </a:r>
            <a:endParaRPr lang="en-US" sz="1000" dirty="0"/>
          </a:p>
        </p:txBody>
      </p:sp>
      <p:graphicFrame>
        <p:nvGraphicFramePr>
          <p:cNvPr id="24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6764"/>
          <a:ext cx="8138160" cy="3293820"/>
        </p:xfrm>
        <a:graphic>
          <a:graphicData uri="http://schemas.openxmlformats.org/drawingml/2006/table">
            <a:tbl>
              <a:tblPr/>
              <a:tblGrid>
                <a:gridCol w="3662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59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9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b="1" dirty="0">
                          <a:solidFill>
                            <a:schemeClr val="bg1"/>
                          </a:solidFill>
                        </a:rPr>
                        <a:t>我們的需求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b="1" dirty="0">
                          <a:solidFill>
                            <a:schemeClr val="bg1"/>
                          </a:solidFill>
                        </a:rPr>
                        <a:t>Codespaces 怎麼滿足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9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不花錢、不綁信用卡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個人帳號每月有免費額度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9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不用在電腦安裝軟體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只需要瀏覽器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9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每個人的環境都一樣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所有人開出來的環境相同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9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要能執行容器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環境內建 Docker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9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成果要帶得走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成果都留在你的 GitHub 帳號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02920" y="3291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chemeClr val="accent2"/>
                </a:solidFill>
              </a:rPr>
              <a:t>第 2 章　常見容器方案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02920" y="603504"/>
            <a:ext cx="8138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chemeClr val="tx1"/>
                </a:solidFill>
              </a:rPr>
              <a:t>該選哪一種？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02920" y="64008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2"/>
                </a:solidFill>
              </a:rPr>
              <a:t>第 2 章　常見容器方案　·　AI 雲端部署與容器化｜黃懷慶</a:t>
            </a:r>
            <a:endParaRPr lang="en-US" sz="1000" dirty="0"/>
          </a:p>
        </p:txBody>
      </p:sp>
      <p:graphicFrame>
        <p:nvGraphicFramePr>
          <p:cNvPr id="25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6764"/>
          <a:ext cx="8138160" cy="2744850"/>
        </p:xfrm>
        <a:graphic>
          <a:graphicData uri="http://schemas.openxmlformats.org/drawingml/2006/table">
            <a:tbl>
              <a:tblPr/>
              <a:tblGrid>
                <a:gridCol w="48828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52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9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b="1" dirty="0">
                          <a:solidFill>
                            <a:schemeClr val="bg1"/>
                          </a:solidFill>
                        </a:rPr>
                        <a:t>情境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b="1" dirty="0">
                          <a:solidFill>
                            <a:schemeClr val="bg1"/>
                          </a:solidFill>
                        </a:rPr>
                        <a:t>建議方案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9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學習、開發、單一服務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Docker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9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一台機器上的多個服務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Docker Compose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9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小團隊，想專心做產品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雲端 PaaS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9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大規模、有專職維運團隊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Kubernetes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731520" y="1417320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8000" b="1" dirty="0">
                <a:solidFill>
                  <a:schemeClr val="accent1"/>
                </a:solidFill>
              </a:rPr>
              <a:t>03</a:t>
            </a:r>
            <a:endParaRPr lang="en-US" sz="80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731520" y="26974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 dirty="0">
                <a:solidFill>
                  <a:schemeClr val="tx1"/>
                </a:solidFill>
              </a:rPr>
              <a:t>帳號申請</a:t>
            </a:r>
            <a:endParaRPr lang="en-US" sz="36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 dirty="0">
                <a:solidFill>
                  <a:schemeClr val="tx1"/>
                </a:solidFill>
              </a:rPr>
              <a:t>（不綁信用卡）</a:t>
            </a:r>
            <a:endParaRPr lang="en-US" sz="3600" dirty="0"/>
          </a:p>
        </p:txBody>
      </p:sp>
      <p:sp>
        <p:nvSpPr>
          <p:cNvPr id="4" name="Text 1"/>
          <p:cNvSpPr>
            <a:spLocks noGrp="1"/>
          </p:cNvSpPr>
          <p:nvPr>
            <p:ph type="body" idx="103" hasCustomPrompt="1"/>
          </p:nvPr>
        </p:nvSpPr>
        <p:spPr>
          <a:xfrm>
            <a:off x="731520" y="416052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accent2"/>
                </a:solidFill>
              </a:rPr>
              <a:t>先把鑰匙備好，而且一毛錢都不花</a:t>
            </a:r>
            <a:endParaRPr lang="en-US" sz="1800" dirty="0"/>
          </a:p>
        </p:txBody>
      </p:sp>
      <p:sp>
        <p:nvSpPr>
          <p:cNvPr id="5" name="Text 1"/>
          <p:cNvSpPr>
            <a:spLocks noGrp="1"/>
          </p:cNvSpPr>
          <p:nvPr>
            <p:ph type="body" idx="104" hasCustomPrompt="1"/>
          </p:nvPr>
        </p:nvSpPr>
        <p:spPr>
          <a:xfrm>
            <a:off x="731520" y="49377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300" dirty="0">
                <a:solidFill>
                  <a:schemeClr val="tx2"/>
                </a:solidFill>
              </a:rPr>
              <a:t>建議開課前完成　｜　建議 1 小時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02920" y="3291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chemeClr val="accent2"/>
                </a:solidFill>
              </a:rPr>
              <a:t>第 3 章　帳號申請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02920" y="603504"/>
            <a:ext cx="8138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chemeClr val="tx1"/>
                </a:solidFill>
              </a:rPr>
              <a:t>請在家先申請，不要在教室才申請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02920" y="64008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2"/>
                </a:solidFill>
              </a:rPr>
              <a:t>第 3 章　帳號申請　·　AI 雲端部署與容器化｜黃懷慶</a:t>
            </a:r>
            <a:endParaRPr lang="en-US" sz="1000" dirty="0"/>
          </a:p>
        </p:txBody>
      </p:sp>
      <p:sp>
        <p:nvSpPr>
          <p:cNvPr id="5" name="callout"/>
          <p:cNvSpPr/>
          <p:nvPr/>
        </p:nvSpPr>
        <p:spPr>
          <a:xfrm>
            <a:off x="502920" y="1378204"/>
            <a:ext cx="8138160" cy="3035808"/>
          </a:xfrm>
          <a:prstGeom prst="roundRect">
            <a:avLst>
              <a:gd name="adj" fmla="val 3614"/>
            </a:avLst>
          </a:prstGeom>
          <a:solidFill>
            <a:schemeClr val="accent5"/>
          </a:solidFill>
          <a:ln w="19050">
            <a:solidFill>
              <a:srgbClr val="D9692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6" name="callout-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461768"/>
            <a:ext cx="868680" cy="868680"/>
          </a:xfrm>
          <a:prstGeom prst="rect">
            <a:avLst/>
          </a:prstGeom>
        </p:spPr>
      </p:pic>
      <p:sp>
        <p:nvSpPr>
          <p:cNvPr id="7" name="callout-text"/>
          <p:cNvSpPr txBox="1"/>
          <p:nvPr/>
        </p:nvSpPr>
        <p:spPr>
          <a:xfrm>
            <a:off x="2011680" y="1698244"/>
            <a:ext cx="6309360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700"/>
              </a:spcAft>
              <a:buNone/>
            </a:pPr>
            <a:r>
              <a:rPr lang="en-US" sz="2610" dirty="0">
                <a:solidFill>
                  <a:schemeClr val="tx1"/>
                </a:solidFill>
              </a:rPr>
              <a:t>同一間教室、同一個網路、同一時間</a:t>
            </a:r>
            <a:r>
              <a:rPr lang="en-US" sz="2610" b="1" dirty="0">
                <a:solidFill>
                  <a:schemeClr val="tx1"/>
                </a:solidFill>
              </a:rPr>
              <a:t>好幾十人一起註冊</a:t>
            </a:r>
            <a:endParaRPr lang="en-US" sz="261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2610" dirty="0">
                <a:solidFill>
                  <a:schemeClr val="tx1"/>
                </a:solidFill>
              </a:rPr>
              <a:t>平台會以為是</a:t>
            </a:r>
            <a:r>
              <a:rPr lang="en-US" sz="2610" b="1" dirty="0">
                <a:solidFill>
                  <a:schemeClr val="tx1"/>
                </a:solidFill>
              </a:rPr>
              <a:t>機器人在大量開帳號</a:t>
            </a:r>
            <a:endParaRPr lang="en-US" sz="261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2610" dirty="0">
                <a:solidFill>
                  <a:schemeClr val="tx1"/>
                </a:solidFill>
              </a:rPr>
              <a:t>結果：被要求額外驗證，甚至帳號被暫停</a:t>
            </a:r>
            <a:endParaRPr lang="en-US" sz="2610" dirty="0"/>
          </a:p>
        </p:txBody>
      </p:sp>
      <p:sp>
        <p:nvSpPr>
          <p:cNvPr id="8" name="note"/>
          <p:cNvSpPr txBox="1"/>
          <p:nvPr/>
        </p:nvSpPr>
        <p:spPr>
          <a:xfrm>
            <a:off x="502920" y="4615180"/>
            <a:ext cx="8138160" cy="329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30" dirty="0">
                <a:solidFill>
                  <a:schemeClr val="tx2"/>
                </a:solidFill>
              </a:rPr>
              <a:t>請準備：一個可以收信的 email、一支可以收驗證碼的手機。</a:t>
            </a:r>
            <a:endParaRPr lang="en-US" sz="203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02920" y="3291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chemeClr val="accent2"/>
                </a:solidFill>
              </a:rPr>
              <a:t>第 3 章　帳號申請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02920" y="603504"/>
            <a:ext cx="8138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chemeClr val="tx1"/>
                </a:solidFill>
              </a:rPr>
              <a:t>我們需要哪些帳號？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02920" y="64008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2"/>
                </a:solidFill>
              </a:rPr>
              <a:t>第 3 章　帳號申請　·　AI 雲端部署與容器化｜黃懷慶</a:t>
            </a:r>
            <a:endParaRPr lang="en-US" sz="1000" dirty="0"/>
          </a:p>
        </p:txBody>
      </p:sp>
      <p:sp>
        <p:nvSpPr>
          <p:cNvPr id="5" name="card-0-0"/>
          <p:cNvSpPr/>
          <p:nvPr/>
        </p:nvSpPr>
        <p:spPr>
          <a:xfrm>
            <a:off x="502920" y="1286764"/>
            <a:ext cx="2578608" cy="3374136"/>
          </a:xfrm>
          <a:prstGeom prst="roundRect">
            <a:avLst>
              <a:gd name="adj" fmla="val 3546"/>
            </a:avLst>
          </a:prstGeom>
          <a:solidFill>
            <a:schemeClr val="accent5"/>
          </a:solidFill>
          <a:ln w="9525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6" name="card-icon-0-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69644"/>
            <a:ext cx="329184" cy="329184"/>
          </a:xfrm>
          <a:prstGeom prst="rect">
            <a:avLst/>
          </a:prstGeom>
        </p:spPr>
      </p:pic>
      <p:sp>
        <p:nvSpPr>
          <p:cNvPr id="7" name="card-title-0-0"/>
          <p:cNvSpPr txBox="1"/>
          <p:nvPr/>
        </p:nvSpPr>
        <p:spPr>
          <a:xfrm>
            <a:off x="685800" y="1890268"/>
            <a:ext cx="2212848" cy="400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65" b="1" dirty="0">
                <a:solidFill>
                  <a:schemeClr val="tx1"/>
                </a:solidFill>
              </a:rPr>
              <a:t>GitHub</a:t>
            </a:r>
            <a:endParaRPr lang="en-US" sz="2465" dirty="0"/>
          </a:p>
        </p:txBody>
      </p:sp>
      <p:sp>
        <p:nvSpPr>
          <p:cNvPr id="8" name="card-body-0-0"/>
          <p:cNvSpPr txBox="1"/>
          <p:nvPr/>
        </p:nvSpPr>
        <p:spPr>
          <a:xfrm>
            <a:off x="685800" y="2345842"/>
            <a:ext cx="2212848" cy="2132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30" dirty="0">
                <a:solidFill>
                  <a:schemeClr val="tx2"/>
                </a:solidFill>
              </a:rPr>
              <a:t>程式碼的家，也是我們的雲端教室和成果展示區。</a:t>
            </a:r>
            <a:endParaRPr lang="en-US" sz="2030" dirty="0"/>
          </a:p>
        </p:txBody>
      </p:sp>
      <p:sp>
        <p:nvSpPr>
          <p:cNvPr id="9" name="card-0-1"/>
          <p:cNvSpPr/>
          <p:nvPr/>
        </p:nvSpPr>
        <p:spPr>
          <a:xfrm>
            <a:off x="3282696" y="1286764"/>
            <a:ext cx="2578608" cy="3374136"/>
          </a:xfrm>
          <a:prstGeom prst="roundRect">
            <a:avLst>
              <a:gd name="adj" fmla="val 3546"/>
            </a:avLst>
          </a:prstGeom>
          <a:solidFill>
            <a:schemeClr val="accent5"/>
          </a:solidFill>
          <a:ln w="9525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10" name="card-icon-0-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5576" y="1469644"/>
            <a:ext cx="329184" cy="329184"/>
          </a:xfrm>
          <a:prstGeom prst="rect">
            <a:avLst/>
          </a:prstGeom>
        </p:spPr>
      </p:pic>
      <p:sp>
        <p:nvSpPr>
          <p:cNvPr id="11" name="card-title-0-1"/>
          <p:cNvSpPr txBox="1"/>
          <p:nvPr/>
        </p:nvSpPr>
        <p:spPr>
          <a:xfrm>
            <a:off x="3465576" y="1890268"/>
            <a:ext cx="2212848" cy="8014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65" b="1" dirty="0">
                <a:solidFill>
                  <a:schemeClr val="tx1"/>
                </a:solidFill>
              </a:rPr>
              <a:t>Google AI Studio</a:t>
            </a:r>
            <a:endParaRPr lang="en-US" sz="2465" dirty="0"/>
          </a:p>
        </p:txBody>
      </p:sp>
      <p:sp>
        <p:nvSpPr>
          <p:cNvPr id="12" name="card-body-0-1"/>
          <p:cNvSpPr txBox="1"/>
          <p:nvPr/>
        </p:nvSpPr>
        <p:spPr>
          <a:xfrm>
            <a:off x="3465576" y="2746553"/>
            <a:ext cx="2212848" cy="17314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30" dirty="0">
                <a:solidFill>
                  <a:schemeClr val="tx2"/>
                </a:solidFill>
              </a:rPr>
              <a:t>AI 大腦的鑰匙。讓我們的網站能呼叫 AI 模型。</a:t>
            </a:r>
            <a:endParaRPr lang="en-US" sz="2030" dirty="0"/>
          </a:p>
        </p:txBody>
      </p:sp>
      <p:sp>
        <p:nvSpPr>
          <p:cNvPr id="13" name="card-0-2"/>
          <p:cNvSpPr/>
          <p:nvPr/>
        </p:nvSpPr>
        <p:spPr>
          <a:xfrm>
            <a:off x="6062472" y="1286764"/>
            <a:ext cx="2578608" cy="3374136"/>
          </a:xfrm>
          <a:prstGeom prst="roundRect">
            <a:avLst>
              <a:gd name="adj" fmla="val 3546"/>
            </a:avLst>
          </a:prstGeom>
          <a:solidFill>
            <a:schemeClr val="accent5"/>
          </a:solidFill>
          <a:ln w="9525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14" name="card-icon-0-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5352" y="1469644"/>
            <a:ext cx="329184" cy="329184"/>
          </a:xfrm>
          <a:prstGeom prst="rect">
            <a:avLst/>
          </a:prstGeom>
        </p:spPr>
      </p:pic>
      <p:sp>
        <p:nvSpPr>
          <p:cNvPr id="15" name="card-title-0-2"/>
          <p:cNvSpPr txBox="1"/>
          <p:nvPr/>
        </p:nvSpPr>
        <p:spPr>
          <a:xfrm>
            <a:off x="6245352" y="1890268"/>
            <a:ext cx="2212848" cy="8014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65" b="1" dirty="0">
                <a:solidFill>
                  <a:schemeClr val="tx1"/>
                </a:solidFill>
              </a:rPr>
              <a:t>Groq（選用）</a:t>
            </a:r>
            <a:endParaRPr lang="en-US" sz="2465" dirty="0"/>
          </a:p>
        </p:txBody>
      </p:sp>
      <p:sp>
        <p:nvSpPr>
          <p:cNvPr id="16" name="card-body-0-2"/>
          <p:cNvSpPr txBox="1"/>
          <p:nvPr/>
        </p:nvSpPr>
        <p:spPr>
          <a:xfrm>
            <a:off x="6245352" y="2746553"/>
            <a:ext cx="2212848" cy="17314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30" dirty="0">
                <a:solidFill>
                  <a:schemeClr val="tx2"/>
                </a:solidFill>
              </a:rPr>
              <a:t>備用的 AI 大腦。主要的那個暫時不能用時可以切換。</a:t>
            </a:r>
            <a:endParaRPr lang="en-US" sz="2030" dirty="0"/>
          </a:p>
        </p:txBody>
      </p:sp>
      <p:sp>
        <p:nvSpPr>
          <p:cNvPr id="17" name="note-box"/>
          <p:cNvSpPr/>
          <p:nvPr/>
        </p:nvSpPr>
        <p:spPr>
          <a:xfrm>
            <a:off x="502920" y="4862068"/>
            <a:ext cx="8138160" cy="567741"/>
          </a:xfrm>
          <a:prstGeom prst="roundRect">
            <a:avLst>
              <a:gd name="adj" fmla="val 12885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note"/>
          <p:cNvSpPr txBox="1"/>
          <p:nvPr/>
        </p:nvSpPr>
        <p:spPr>
          <a:xfrm>
            <a:off x="685800" y="4862068"/>
            <a:ext cx="7772400" cy="5677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30" dirty="0">
                <a:solidFill>
                  <a:schemeClr val="tx1"/>
                </a:solidFill>
              </a:rPr>
              <a:t>三個都是免費方案，</a:t>
            </a:r>
            <a:r>
              <a:rPr lang="en-US" sz="2030" b="1" dirty="0">
                <a:solidFill>
                  <a:schemeClr val="tx1"/>
                </a:solidFill>
              </a:rPr>
              <a:t>全程不需要、也不應該綁定信用卡</a:t>
            </a:r>
            <a:r>
              <a:rPr lang="en-US" sz="2030" dirty="0">
                <a:solidFill>
                  <a:schemeClr val="tx1"/>
                </a:solidFill>
              </a:rPr>
              <a:t>。</a:t>
            </a:r>
            <a:endParaRPr lang="en-US" sz="203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02920" y="3291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chemeClr val="accent2"/>
                </a:solidFill>
              </a:rPr>
              <a:t>第 3 章　帳號申請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02920" y="603504"/>
            <a:ext cx="8138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chemeClr val="tx1"/>
                </a:solidFill>
              </a:rPr>
              <a:t>GitHub 註冊：每一步都有原因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02920" y="64008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2"/>
                </a:solidFill>
              </a:rPr>
              <a:t>第 3 章　帳號申請　·　AI 雲端部署與容器化｜黃懷慶</a:t>
            </a:r>
            <a:endParaRPr lang="en-US" sz="1000" dirty="0"/>
          </a:p>
        </p:txBody>
      </p:sp>
      <p:graphicFrame>
        <p:nvGraphicFramePr>
          <p:cNvPr id="29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6764"/>
          <a:ext cx="8138161" cy="4209210"/>
        </p:xfrm>
        <a:graphic>
          <a:graphicData uri="http://schemas.openxmlformats.org/drawingml/2006/table">
            <a:tbl>
              <a:tblPr/>
              <a:tblGrid>
                <a:gridCol w="21159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97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925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9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b="1" dirty="0">
                          <a:solidFill>
                            <a:schemeClr val="bg1"/>
                          </a:solidFill>
                        </a:rPr>
                        <a:t>步驟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b="1" dirty="0">
                          <a:solidFill>
                            <a:schemeClr val="bg1"/>
                          </a:solidFill>
                        </a:rPr>
                        <a:t>是什麼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b="1" dirty="0">
                          <a:solidFill>
                            <a:schemeClr val="bg1"/>
                          </a:solidFill>
                        </a:rPr>
                        <a:t>為什麼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5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1. 註冊 Free 方案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免費的個人帳號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本課程所有功能都在免費額度內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5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2. 取一個專業的帳號名稱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例如姓名的英文拼音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會出現在作品網址上，也是你對外的名片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5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3. 開啟雙重驗證（2FA）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登入時要再輸入手機上的驗證碼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帳號之後會保存 AI 金鑰，要保護好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5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4. 隱藏 email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設定 Keep my email private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避免 email 永久留在公開的紀錄中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02920" y="3291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chemeClr val="accent2"/>
                </a:solidFill>
              </a:rPr>
              <a:t>第 3 章　帳號申請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02920" y="603504"/>
            <a:ext cx="8138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chemeClr val="tx1"/>
                </a:solidFill>
              </a:rPr>
              <a:t>Google AI Studio：登入就好，不要辦卡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02920" y="64008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2"/>
                </a:solidFill>
              </a:rPr>
              <a:t>第 3 章　帳號申請　·　AI 雲端部署與容器化｜黃懷慶</a:t>
            </a:r>
            <a:endParaRPr lang="en-US" sz="1000" dirty="0"/>
          </a:p>
        </p:txBody>
      </p:sp>
      <p:graphicFrame>
        <p:nvGraphicFramePr>
          <p:cNvPr id="30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6764"/>
          <a:ext cx="8138160" cy="2928060"/>
        </p:xfrm>
        <a:graphic>
          <a:graphicData uri="http://schemas.openxmlformats.org/drawingml/2006/table">
            <a:tbl>
              <a:tblPr/>
              <a:tblGrid>
                <a:gridCol w="24414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69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97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9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b="1" dirty="0">
                          <a:solidFill>
                            <a:schemeClr val="bg1"/>
                          </a:solidFill>
                        </a:rPr>
                        <a:t>步驟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b="1" dirty="0">
                          <a:solidFill>
                            <a:schemeClr val="bg1"/>
                          </a:solidFill>
                        </a:rPr>
                        <a:t>是什麼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b="1" dirty="0">
                          <a:solidFill>
                            <a:schemeClr val="bg1"/>
                          </a:solidFill>
                        </a:rPr>
                        <a:t>為什麼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5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1. 用 Google 帳號登入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前往 AI Studio 網站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沒有 Google 帳號要先註冊一個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9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2. 同意服務條款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首次登入時出現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5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3. 不要建立帳單帳戶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不要綁定任何付款方式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這是「不會被扣錢」的關鍵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02920" y="3291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chemeClr val="accent2"/>
                </a:solidFill>
              </a:rPr>
              <a:t>第 3 章　帳號申請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02920" y="603504"/>
            <a:ext cx="8138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chemeClr val="tx1"/>
                </a:solidFill>
              </a:rPr>
              <a:t>為什麼不會被扣錢？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02920" y="64008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2"/>
                </a:solidFill>
              </a:rPr>
              <a:t>第 3 章　帳號申請　·　AI 雲端部署與容器化｜黃懷慶</a:t>
            </a:r>
            <a:endParaRPr lang="en-US" sz="1000" dirty="0"/>
          </a:p>
        </p:txBody>
      </p:sp>
      <p:sp>
        <p:nvSpPr>
          <p:cNvPr id="5" name="col-0"/>
          <p:cNvSpPr/>
          <p:nvPr/>
        </p:nvSpPr>
        <p:spPr>
          <a:xfrm>
            <a:off x="502920" y="1286764"/>
            <a:ext cx="3968496" cy="3059989"/>
          </a:xfrm>
          <a:prstGeom prst="roundRect">
            <a:avLst>
              <a:gd name="adj" fmla="val 2988"/>
            </a:avLst>
          </a:prstGeom>
          <a:solidFill>
            <a:schemeClr val="accent5"/>
          </a:solidFill>
          <a:ln w="9525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col-title-0"/>
          <p:cNvSpPr txBox="1"/>
          <p:nvPr/>
        </p:nvSpPr>
        <p:spPr>
          <a:xfrm>
            <a:off x="722376" y="1506220"/>
            <a:ext cx="3529584" cy="447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55" b="1" dirty="0">
                <a:solidFill>
                  <a:schemeClr val="tx1"/>
                </a:solidFill>
              </a:rPr>
              <a:t>像賣場的免費試吃</a:t>
            </a:r>
            <a:endParaRPr lang="en-US" sz="2755" dirty="0"/>
          </a:p>
        </p:txBody>
      </p:sp>
      <p:sp>
        <p:nvSpPr>
          <p:cNvPr id="7" name="col-list-0"/>
          <p:cNvSpPr txBox="1"/>
          <p:nvPr/>
        </p:nvSpPr>
        <p:spPr>
          <a:xfrm>
            <a:off x="722376" y="2063801"/>
            <a:ext cx="3529584" cy="2063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dirty="0">
                <a:solidFill>
                  <a:schemeClr val="tx2"/>
                </a:solidFill>
              </a:rPr>
              <a:t>每天可以試吃一定的量</a:t>
            </a:r>
            <a:endParaRPr lang="en-US" sz="2175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dirty="0">
                <a:solidFill>
                  <a:schemeClr val="tx2"/>
                </a:solidFill>
              </a:rPr>
              <a:t>吃完了就是吃完了</a:t>
            </a:r>
            <a:endParaRPr lang="en-US" sz="2175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b="1" dirty="0">
                <a:solidFill>
                  <a:schemeClr val="tx2"/>
                </a:solidFill>
              </a:rPr>
              <a:t>不會因為多吃而收錢</a:t>
            </a:r>
            <a:endParaRPr lang="en-US" sz="2175" dirty="0"/>
          </a:p>
        </p:txBody>
      </p:sp>
      <p:sp>
        <p:nvSpPr>
          <p:cNvPr id="8" name="col-1"/>
          <p:cNvSpPr/>
          <p:nvPr/>
        </p:nvSpPr>
        <p:spPr>
          <a:xfrm>
            <a:off x="4672584" y="1286764"/>
            <a:ext cx="3968496" cy="3059989"/>
          </a:xfrm>
          <a:prstGeom prst="roundRect">
            <a:avLst>
              <a:gd name="adj" fmla="val 2988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col-title-1"/>
          <p:cNvSpPr txBox="1"/>
          <p:nvPr/>
        </p:nvSpPr>
        <p:spPr>
          <a:xfrm>
            <a:off x="4892040" y="1506220"/>
            <a:ext cx="3529584" cy="447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55" b="1" dirty="0">
                <a:solidFill>
                  <a:schemeClr val="bg1"/>
                </a:solidFill>
              </a:rPr>
              <a:t>但如果你「辦了卡」</a:t>
            </a:r>
            <a:endParaRPr lang="en-US" sz="2755" dirty="0"/>
          </a:p>
        </p:txBody>
      </p:sp>
      <p:sp>
        <p:nvSpPr>
          <p:cNvPr id="10" name="col-list-1"/>
          <p:cNvSpPr txBox="1"/>
          <p:nvPr/>
        </p:nvSpPr>
        <p:spPr>
          <a:xfrm>
            <a:off x="4892040" y="2063801"/>
            <a:ext cx="3529584" cy="2063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dirty="0">
                <a:solidFill>
                  <a:schemeClr val="bg2"/>
                </a:solidFill>
              </a:rPr>
              <a:t>在 Google Cloud 啟用帳單</a:t>
            </a:r>
            <a:endParaRPr lang="en-US" sz="2175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dirty="0">
                <a:solidFill>
                  <a:schemeClr val="bg2"/>
                </a:solidFill>
              </a:rPr>
              <a:t>就會進入付費方案</a:t>
            </a:r>
            <a:endParaRPr lang="en-US" sz="2175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b="1" dirty="0">
                <a:solidFill>
                  <a:schemeClr val="bg2"/>
                </a:solidFill>
              </a:rPr>
              <a:t>超過的用量開始計費</a:t>
            </a:r>
            <a:endParaRPr lang="en-US" sz="2175" dirty="0"/>
          </a:p>
        </p:txBody>
      </p:sp>
      <p:sp>
        <p:nvSpPr>
          <p:cNvPr id="11" name="note-box"/>
          <p:cNvSpPr/>
          <p:nvPr/>
        </p:nvSpPr>
        <p:spPr>
          <a:xfrm>
            <a:off x="502920" y="4547921"/>
            <a:ext cx="8138160" cy="897738"/>
          </a:xfrm>
          <a:prstGeom prst="roundRect">
            <a:avLst>
              <a:gd name="adj" fmla="val 814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note"/>
          <p:cNvSpPr txBox="1"/>
          <p:nvPr/>
        </p:nvSpPr>
        <p:spPr>
          <a:xfrm>
            <a:off x="685800" y="4547921"/>
            <a:ext cx="7772400" cy="897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30" dirty="0">
                <a:solidFill>
                  <a:schemeClr val="tx1"/>
                </a:solidFill>
              </a:rPr>
              <a:t>三條規則：① 不要啟用帳單　② 確認專案方案顯示為 Free　③ 一旦有任一專案啟用帳單，整個帳號都適用付費條款</a:t>
            </a:r>
            <a:endParaRPr lang="en-US" sz="203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731520" y="1417320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8000" b="1" dirty="0">
                <a:solidFill>
                  <a:schemeClr val="accent1"/>
                </a:solidFill>
              </a:rPr>
              <a:t>04</a:t>
            </a:r>
            <a:endParaRPr lang="en-US" sz="80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731520" y="26974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 dirty="0">
                <a:solidFill>
                  <a:schemeClr val="tx1"/>
                </a:solidFill>
              </a:rPr>
              <a:t>Google AI Studio</a:t>
            </a:r>
            <a:endParaRPr lang="en-US" sz="36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 dirty="0">
                <a:solidFill>
                  <a:schemeClr val="tx1"/>
                </a:solidFill>
              </a:rPr>
              <a:t>試用模型及產生金鑰</a:t>
            </a:r>
            <a:endParaRPr lang="en-US" sz="3600" dirty="0"/>
          </a:p>
        </p:txBody>
      </p:sp>
      <p:sp>
        <p:nvSpPr>
          <p:cNvPr id="4" name="Text 1"/>
          <p:cNvSpPr>
            <a:spLocks noGrp="1"/>
          </p:cNvSpPr>
          <p:nvPr>
            <p:ph type="body" idx="103" hasCustomPrompt="1"/>
          </p:nvPr>
        </p:nvSpPr>
        <p:spPr>
          <a:xfrm>
            <a:off x="731520" y="416052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accent2"/>
                </a:solidFill>
              </a:rPr>
              <a:t>先在網頁上和 AI 聊聊，再拿到讓程式呼叫它的鑰匙</a:t>
            </a:r>
            <a:endParaRPr lang="en-US" sz="1800" dirty="0"/>
          </a:p>
        </p:txBody>
      </p:sp>
      <p:sp>
        <p:nvSpPr>
          <p:cNvPr id="5" name="Text 1"/>
          <p:cNvSpPr>
            <a:spLocks noGrp="1"/>
          </p:cNvSpPr>
          <p:nvPr>
            <p:ph type="body" idx="104" hasCustomPrompt="1"/>
          </p:nvPr>
        </p:nvSpPr>
        <p:spPr>
          <a:xfrm>
            <a:off x="731520" y="49377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300" dirty="0">
                <a:solidFill>
                  <a:schemeClr val="tx2"/>
                </a:solidFill>
              </a:rPr>
              <a:t>實作　｜　建議 1 小時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02920" y="3291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chemeClr val="accent2"/>
                </a:solidFill>
              </a:rPr>
              <a:t>第 4 章　AI 模型與金鑰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02920" y="603504"/>
            <a:ext cx="8138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chemeClr val="tx1"/>
                </a:solidFill>
              </a:rPr>
              <a:t>API 是什麼？想像你在餐廳點餐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02920" y="64008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2"/>
                </a:solidFill>
              </a:rPr>
              <a:t>第 4 章　AI 模型與金鑰　·　AI 雲端部署與容器化｜黃懷慶</a:t>
            </a:r>
            <a:endParaRPr lang="en-US" sz="1000" dirty="0"/>
          </a:p>
        </p:txBody>
      </p:sp>
      <p:sp>
        <p:nvSpPr>
          <p:cNvPr id="5" name="step-0"/>
          <p:cNvSpPr/>
          <p:nvPr/>
        </p:nvSpPr>
        <p:spPr>
          <a:xfrm>
            <a:off x="502920" y="1286764"/>
            <a:ext cx="1691640" cy="2973629"/>
          </a:xfrm>
          <a:prstGeom prst="roundRect">
            <a:avLst>
              <a:gd name="adj" fmla="val 5405"/>
            </a:avLst>
          </a:prstGeom>
          <a:solidFill>
            <a:schemeClr val="accent5"/>
          </a:solidFill>
          <a:ln w="9525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tep-title-0"/>
          <p:cNvSpPr txBox="1"/>
          <p:nvPr/>
        </p:nvSpPr>
        <p:spPr>
          <a:xfrm>
            <a:off x="649224" y="1433068"/>
            <a:ext cx="1399032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75" b="1" dirty="0">
                <a:solidFill>
                  <a:schemeClr val="tx1"/>
                </a:solidFill>
              </a:rPr>
              <a:t>你</a:t>
            </a:r>
            <a:br>
              <a:rPr lang="en-US" sz="2175" b="1" dirty="0">
                <a:solidFill>
                  <a:schemeClr val="tx1"/>
                </a:solidFill>
              </a:rPr>
            </a:br>
            <a:r>
              <a:rPr lang="en-US" sz="1400" b="1" dirty="0">
                <a:solidFill>
                  <a:schemeClr val="tx1"/>
                </a:solidFill>
              </a:rPr>
              <a:t>（</a:t>
            </a:r>
            <a:r>
              <a:rPr lang="en-US" sz="1400" b="1" dirty="0" err="1">
                <a:solidFill>
                  <a:schemeClr val="tx1"/>
                </a:solidFill>
              </a:rPr>
              <a:t>我們的程式</a:t>
            </a:r>
            <a:r>
              <a:rPr lang="en-US" sz="1400" b="1" dirty="0">
                <a:solidFill>
                  <a:schemeClr val="tx1"/>
                </a:solidFill>
              </a:rPr>
              <a:t>）</a:t>
            </a:r>
            <a:endParaRPr lang="en-US" sz="1400" dirty="0"/>
          </a:p>
        </p:txBody>
      </p:sp>
      <p:sp>
        <p:nvSpPr>
          <p:cNvPr id="7" name="step-body-0"/>
          <p:cNvSpPr txBox="1"/>
          <p:nvPr/>
        </p:nvSpPr>
        <p:spPr>
          <a:xfrm>
            <a:off x="649224" y="2213356"/>
            <a:ext cx="1399032" cy="1900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58" dirty="0">
                <a:solidFill>
                  <a:schemeClr val="tx2"/>
                </a:solidFill>
              </a:rPr>
              <a:t>想要一份回答</a:t>
            </a:r>
            <a:endParaRPr lang="en-US" sz="1958" dirty="0"/>
          </a:p>
        </p:txBody>
      </p:sp>
      <p:sp>
        <p:nvSpPr>
          <p:cNvPr id="8" name="arrow-0"/>
          <p:cNvSpPr/>
          <p:nvPr/>
        </p:nvSpPr>
        <p:spPr>
          <a:xfrm>
            <a:off x="2286000" y="2672994"/>
            <a:ext cx="274320" cy="201168"/>
          </a:xfrm>
          <a:prstGeom prst="rightArrow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step-1"/>
          <p:cNvSpPr/>
          <p:nvPr/>
        </p:nvSpPr>
        <p:spPr>
          <a:xfrm>
            <a:off x="2651760" y="1286764"/>
            <a:ext cx="1691640" cy="2973629"/>
          </a:xfrm>
          <a:prstGeom prst="roundRect">
            <a:avLst>
              <a:gd name="adj" fmla="val 5405"/>
            </a:avLst>
          </a:prstGeom>
          <a:solidFill>
            <a:schemeClr val="accent5"/>
          </a:solidFill>
          <a:ln w="9525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tep-title-1"/>
          <p:cNvSpPr txBox="1"/>
          <p:nvPr/>
        </p:nvSpPr>
        <p:spPr>
          <a:xfrm>
            <a:off x="2798064" y="1433068"/>
            <a:ext cx="1399032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75" b="1" dirty="0" err="1">
                <a:solidFill>
                  <a:schemeClr val="tx1"/>
                </a:solidFill>
              </a:rPr>
              <a:t>服務生</a:t>
            </a:r>
            <a:br>
              <a:rPr lang="en-US" sz="2175" b="1" dirty="0">
                <a:solidFill>
                  <a:schemeClr val="tx1"/>
                </a:solidFill>
              </a:rPr>
            </a:br>
            <a:r>
              <a:rPr lang="en-US" b="1" dirty="0">
                <a:solidFill>
                  <a:schemeClr val="tx1"/>
                </a:solidFill>
              </a:rPr>
              <a:t>（API）</a:t>
            </a:r>
            <a:endParaRPr lang="en-US" dirty="0"/>
          </a:p>
        </p:txBody>
      </p:sp>
      <p:sp>
        <p:nvSpPr>
          <p:cNvPr id="11" name="step-body-1"/>
          <p:cNvSpPr txBox="1"/>
          <p:nvPr/>
        </p:nvSpPr>
        <p:spPr>
          <a:xfrm>
            <a:off x="2798064" y="2213356"/>
            <a:ext cx="1399032" cy="1900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58" dirty="0">
                <a:solidFill>
                  <a:schemeClr val="tx2"/>
                </a:solidFill>
              </a:rPr>
              <a:t>負責傳話，有固定的點餐方式</a:t>
            </a:r>
            <a:endParaRPr lang="en-US" sz="1958" dirty="0"/>
          </a:p>
        </p:txBody>
      </p:sp>
      <p:sp>
        <p:nvSpPr>
          <p:cNvPr id="12" name="arrow-1"/>
          <p:cNvSpPr/>
          <p:nvPr/>
        </p:nvSpPr>
        <p:spPr>
          <a:xfrm>
            <a:off x="4434840" y="2672994"/>
            <a:ext cx="274320" cy="201168"/>
          </a:xfrm>
          <a:prstGeom prst="rightArrow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step-2"/>
          <p:cNvSpPr/>
          <p:nvPr/>
        </p:nvSpPr>
        <p:spPr>
          <a:xfrm>
            <a:off x="4800600" y="1286764"/>
            <a:ext cx="1691640" cy="2973629"/>
          </a:xfrm>
          <a:prstGeom prst="roundRect">
            <a:avLst>
              <a:gd name="adj" fmla="val 5405"/>
            </a:avLst>
          </a:prstGeom>
          <a:solidFill>
            <a:schemeClr val="accent5"/>
          </a:solidFill>
          <a:ln w="9525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tep-title-2"/>
          <p:cNvSpPr txBox="1"/>
          <p:nvPr/>
        </p:nvSpPr>
        <p:spPr>
          <a:xfrm>
            <a:off x="4946904" y="1433068"/>
            <a:ext cx="1399032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75" b="1" dirty="0" err="1">
                <a:solidFill>
                  <a:schemeClr val="tx1"/>
                </a:solidFill>
              </a:rPr>
              <a:t>廚房</a:t>
            </a:r>
            <a:br>
              <a:rPr lang="en-US" sz="2175" b="1" dirty="0">
                <a:solidFill>
                  <a:schemeClr val="tx1"/>
                </a:solidFill>
              </a:rPr>
            </a:br>
            <a:r>
              <a:rPr lang="en-US" b="1" dirty="0">
                <a:solidFill>
                  <a:schemeClr val="tx1"/>
                </a:solidFill>
              </a:rPr>
              <a:t>（AI 模型）</a:t>
            </a:r>
            <a:endParaRPr lang="en-US" dirty="0"/>
          </a:p>
        </p:txBody>
      </p:sp>
      <p:sp>
        <p:nvSpPr>
          <p:cNvPr id="15" name="step-body-2"/>
          <p:cNvSpPr txBox="1"/>
          <p:nvPr/>
        </p:nvSpPr>
        <p:spPr>
          <a:xfrm>
            <a:off x="4946904" y="2213356"/>
            <a:ext cx="1399032" cy="1900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58" dirty="0">
                <a:solidFill>
                  <a:schemeClr val="tx2"/>
                </a:solidFill>
              </a:rPr>
              <a:t>真正做出回答的地方</a:t>
            </a:r>
            <a:endParaRPr lang="en-US" sz="1958" dirty="0"/>
          </a:p>
        </p:txBody>
      </p:sp>
      <p:sp>
        <p:nvSpPr>
          <p:cNvPr id="16" name="arrow-2"/>
          <p:cNvSpPr/>
          <p:nvPr/>
        </p:nvSpPr>
        <p:spPr>
          <a:xfrm>
            <a:off x="6583680" y="2672994"/>
            <a:ext cx="274320" cy="201168"/>
          </a:xfrm>
          <a:prstGeom prst="rightArrow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step-3"/>
          <p:cNvSpPr/>
          <p:nvPr/>
        </p:nvSpPr>
        <p:spPr>
          <a:xfrm>
            <a:off x="6949440" y="1286764"/>
            <a:ext cx="1691640" cy="2973629"/>
          </a:xfrm>
          <a:prstGeom prst="roundRect">
            <a:avLst>
              <a:gd name="adj" fmla="val 5405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step-title-3"/>
          <p:cNvSpPr txBox="1"/>
          <p:nvPr/>
        </p:nvSpPr>
        <p:spPr>
          <a:xfrm>
            <a:off x="7095744" y="1433068"/>
            <a:ext cx="139903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75" b="1" dirty="0" err="1">
                <a:solidFill>
                  <a:schemeClr val="tx1"/>
                </a:solidFill>
              </a:rPr>
              <a:t>會員卡</a:t>
            </a:r>
            <a:br>
              <a:rPr lang="en-US" sz="2175" b="1" dirty="0">
                <a:solidFill>
                  <a:schemeClr val="tx1"/>
                </a:solidFill>
              </a:rPr>
            </a:br>
            <a:r>
              <a:rPr lang="en-US" b="1" dirty="0">
                <a:solidFill>
                  <a:schemeClr val="tx1"/>
                </a:solidFill>
              </a:rPr>
              <a:t>（API 金鑰）</a:t>
            </a:r>
            <a:endParaRPr lang="en-US" dirty="0"/>
          </a:p>
        </p:txBody>
      </p:sp>
      <p:sp>
        <p:nvSpPr>
          <p:cNvPr id="19" name="step-body-3"/>
          <p:cNvSpPr txBox="1"/>
          <p:nvPr/>
        </p:nvSpPr>
        <p:spPr>
          <a:xfrm>
            <a:off x="7095744" y="2566924"/>
            <a:ext cx="1399032" cy="1547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58" dirty="0">
                <a:solidFill>
                  <a:schemeClr val="tx1"/>
                </a:solidFill>
              </a:rPr>
              <a:t>證明你是誰、記錄你用了多少</a:t>
            </a:r>
            <a:endParaRPr lang="en-US" sz="1958" dirty="0"/>
          </a:p>
        </p:txBody>
      </p:sp>
      <p:sp>
        <p:nvSpPr>
          <p:cNvPr id="20" name="note-box"/>
          <p:cNvSpPr/>
          <p:nvPr/>
        </p:nvSpPr>
        <p:spPr>
          <a:xfrm>
            <a:off x="502920" y="4461561"/>
            <a:ext cx="8138160" cy="897738"/>
          </a:xfrm>
          <a:prstGeom prst="roundRect">
            <a:avLst>
              <a:gd name="adj" fmla="val 814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note"/>
          <p:cNvSpPr txBox="1"/>
          <p:nvPr/>
        </p:nvSpPr>
        <p:spPr>
          <a:xfrm>
            <a:off x="685800" y="4461561"/>
            <a:ext cx="7772400" cy="897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30" dirty="0">
                <a:solidFill>
                  <a:schemeClr val="tx1"/>
                </a:solidFill>
              </a:rPr>
              <a:t>我們的網站不需要自己會「思考」，只要學會怎麼向服務生點餐。</a:t>
            </a:r>
            <a:endParaRPr lang="en-US" sz="203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02920" y="3291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chemeClr val="accent2"/>
                </a:solidFill>
              </a:rPr>
              <a:t>第 4 章　AI 模型與金鑰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02920" y="603504"/>
            <a:ext cx="8138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chemeClr val="tx1"/>
                </a:solidFill>
              </a:rPr>
              <a:t>先在網頁上試用模型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02920" y="64008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2"/>
                </a:solidFill>
              </a:rPr>
              <a:t>第 4 章　AI 模型與金鑰　·　AI 雲端部署與容器化｜黃懷慶</a:t>
            </a:r>
            <a:endParaRPr lang="en-US" sz="1000" dirty="0"/>
          </a:p>
        </p:txBody>
      </p:sp>
      <p:sp>
        <p:nvSpPr>
          <p:cNvPr id="5" name="card-0-0"/>
          <p:cNvSpPr/>
          <p:nvPr/>
        </p:nvSpPr>
        <p:spPr>
          <a:xfrm>
            <a:off x="502920" y="1286764"/>
            <a:ext cx="2578608" cy="2973426"/>
          </a:xfrm>
          <a:prstGeom prst="roundRect">
            <a:avLst>
              <a:gd name="adj" fmla="val 3546"/>
            </a:avLst>
          </a:prstGeom>
          <a:solidFill>
            <a:schemeClr val="accent5"/>
          </a:solidFill>
          <a:ln w="9525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6" name="card-icon-0-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69644"/>
            <a:ext cx="329184" cy="329184"/>
          </a:xfrm>
          <a:prstGeom prst="rect">
            <a:avLst/>
          </a:prstGeom>
        </p:spPr>
      </p:pic>
      <p:sp>
        <p:nvSpPr>
          <p:cNvPr id="7" name="card-title-0-0"/>
          <p:cNvSpPr txBox="1"/>
          <p:nvPr/>
        </p:nvSpPr>
        <p:spPr>
          <a:xfrm>
            <a:off x="685800" y="1890268"/>
            <a:ext cx="2212848" cy="400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65" b="1" dirty="0">
                <a:solidFill>
                  <a:schemeClr val="tx1"/>
                </a:solidFill>
              </a:rPr>
              <a:t>選一個模型</a:t>
            </a:r>
            <a:endParaRPr lang="en-US" sz="2465" dirty="0"/>
          </a:p>
        </p:txBody>
      </p:sp>
      <p:sp>
        <p:nvSpPr>
          <p:cNvPr id="8" name="card-body-0-0"/>
          <p:cNvSpPr txBox="1"/>
          <p:nvPr/>
        </p:nvSpPr>
        <p:spPr>
          <a:xfrm>
            <a:off x="685800" y="2345842"/>
            <a:ext cx="2212848" cy="17314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30" dirty="0">
                <a:solidFill>
                  <a:schemeClr val="tx2"/>
                </a:solidFill>
              </a:rPr>
              <a:t>選擇 Gemini 3.x Flash-Lite，問它幾個問題。</a:t>
            </a:r>
            <a:endParaRPr lang="en-US" sz="2030" dirty="0"/>
          </a:p>
        </p:txBody>
      </p:sp>
      <p:sp>
        <p:nvSpPr>
          <p:cNvPr id="9" name="card-0-1"/>
          <p:cNvSpPr/>
          <p:nvPr/>
        </p:nvSpPr>
        <p:spPr>
          <a:xfrm>
            <a:off x="3282696" y="1286764"/>
            <a:ext cx="2578608" cy="2973426"/>
          </a:xfrm>
          <a:prstGeom prst="roundRect">
            <a:avLst>
              <a:gd name="adj" fmla="val 3546"/>
            </a:avLst>
          </a:prstGeom>
          <a:solidFill>
            <a:schemeClr val="accent5"/>
          </a:solidFill>
          <a:ln w="9525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10" name="card-icon-0-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5576" y="1469644"/>
            <a:ext cx="329184" cy="329184"/>
          </a:xfrm>
          <a:prstGeom prst="rect">
            <a:avLst/>
          </a:prstGeom>
        </p:spPr>
      </p:pic>
      <p:sp>
        <p:nvSpPr>
          <p:cNvPr id="11" name="card-title-0-1"/>
          <p:cNvSpPr txBox="1"/>
          <p:nvPr/>
        </p:nvSpPr>
        <p:spPr>
          <a:xfrm>
            <a:off x="3465576" y="1890268"/>
            <a:ext cx="2212848" cy="400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65" b="1" dirty="0">
                <a:solidFill>
                  <a:schemeClr val="tx1"/>
                </a:solidFill>
              </a:rPr>
              <a:t>比較速度</a:t>
            </a:r>
            <a:endParaRPr lang="en-US" sz="2465" dirty="0"/>
          </a:p>
        </p:txBody>
      </p:sp>
      <p:sp>
        <p:nvSpPr>
          <p:cNvPr id="12" name="card-body-0-1"/>
          <p:cNvSpPr txBox="1"/>
          <p:nvPr/>
        </p:nvSpPr>
        <p:spPr>
          <a:xfrm>
            <a:off x="3465576" y="2345842"/>
            <a:ext cx="2212848" cy="17314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30" dirty="0">
                <a:solidFill>
                  <a:schemeClr val="tx2"/>
                </a:solidFill>
              </a:rPr>
              <a:t>切換到 Gemma 4 問同樣的問題，感受速度差異。</a:t>
            </a:r>
            <a:endParaRPr lang="en-US" sz="2030" dirty="0"/>
          </a:p>
        </p:txBody>
      </p:sp>
      <p:sp>
        <p:nvSpPr>
          <p:cNvPr id="13" name="card-0-2"/>
          <p:cNvSpPr/>
          <p:nvPr/>
        </p:nvSpPr>
        <p:spPr>
          <a:xfrm>
            <a:off x="6062472" y="1286764"/>
            <a:ext cx="2578608" cy="2973426"/>
          </a:xfrm>
          <a:prstGeom prst="roundRect">
            <a:avLst>
              <a:gd name="adj" fmla="val 3546"/>
            </a:avLst>
          </a:prstGeom>
          <a:solidFill>
            <a:schemeClr val="accent5"/>
          </a:solidFill>
          <a:ln w="9525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14" name="card-icon-0-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5352" y="1469644"/>
            <a:ext cx="329184" cy="329184"/>
          </a:xfrm>
          <a:prstGeom prst="rect">
            <a:avLst/>
          </a:prstGeom>
        </p:spPr>
      </p:pic>
      <p:sp>
        <p:nvSpPr>
          <p:cNvPr id="15" name="card-title-0-2"/>
          <p:cNvSpPr txBox="1"/>
          <p:nvPr/>
        </p:nvSpPr>
        <p:spPr>
          <a:xfrm>
            <a:off x="6245352" y="1890268"/>
            <a:ext cx="2212848" cy="400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65" b="1" dirty="0">
                <a:solidFill>
                  <a:schemeClr val="tx1"/>
                </a:solidFill>
              </a:rPr>
              <a:t>試試系統指示</a:t>
            </a:r>
            <a:endParaRPr lang="en-US" sz="2465" dirty="0"/>
          </a:p>
        </p:txBody>
      </p:sp>
      <p:sp>
        <p:nvSpPr>
          <p:cNvPr id="16" name="card-body-0-2"/>
          <p:cNvSpPr txBox="1"/>
          <p:nvPr/>
        </p:nvSpPr>
        <p:spPr>
          <a:xfrm>
            <a:off x="6245352" y="2345842"/>
            <a:ext cx="2212848" cy="17314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30" dirty="0">
                <a:solidFill>
                  <a:schemeClr val="tx2"/>
                </a:solidFill>
              </a:rPr>
              <a:t>加上「請用繁體中文、像老師一樣回答」，看回答怎麼變。</a:t>
            </a:r>
            <a:endParaRPr lang="en-US" sz="2030" dirty="0"/>
          </a:p>
        </p:txBody>
      </p:sp>
      <p:sp>
        <p:nvSpPr>
          <p:cNvPr id="17" name="note-box"/>
          <p:cNvSpPr/>
          <p:nvPr/>
        </p:nvSpPr>
        <p:spPr>
          <a:xfrm>
            <a:off x="502920" y="4461358"/>
            <a:ext cx="8138160" cy="897738"/>
          </a:xfrm>
          <a:prstGeom prst="roundRect">
            <a:avLst>
              <a:gd name="adj" fmla="val 814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note"/>
          <p:cNvSpPr txBox="1"/>
          <p:nvPr/>
        </p:nvSpPr>
        <p:spPr>
          <a:xfrm>
            <a:off x="685800" y="4461358"/>
            <a:ext cx="7772400" cy="897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30" dirty="0">
                <a:solidFill>
                  <a:schemeClr val="tx1"/>
                </a:solidFill>
              </a:rPr>
              <a:t>等一下我們的程式，做的就是和這個網頁一模一樣的事，只是改用 API。</a:t>
            </a:r>
            <a:endParaRPr lang="en-US" sz="203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02920" y="3291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chemeClr val="accent2"/>
                </a:solidFill>
              </a:rPr>
              <a:t>第 4 章　AI 模型與金鑰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02920" y="603504"/>
            <a:ext cx="8138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chemeClr val="tx1"/>
                </a:solidFill>
              </a:rPr>
              <a:t>選用哪個模型？（講師實測，2026-10-</a:t>
            </a:r>
            <a:r>
              <a:rPr lang="en-US" altLang="zh-TW" sz="2800" b="1" dirty="0">
                <a:solidFill>
                  <a:schemeClr val="tx1"/>
                </a:solidFill>
              </a:rPr>
              <a:t>1</a:t>
            </a:r>
            <a:r>
              <a:rPr lang="en-US" sz="2800" b="1" dirty="0">
                <a:solidFill>
                  <a:schemeClr val="tx1"/>
                </a:solidFill>
              </a:rPr>
              <a:t>2）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02920" y="64008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2"/>
                </a:solidFill>
              </a:rPr>
              <a:t>第 4 章　AI 模型與金鑰　·　AI 雲端部署與容器化｜黃懷慶</a:t>
            </a:r>
            <a:endParaRPr lang="en-US" sz="1000" dirty="0"/>
          </a:p>
        </p:txBody>
      </p:sp>
      <p:graphicFrame>
        <p:nvGraphicFramePr>
          <p:cNvPr id="35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6764"/>
          <a:ext cx="8138159" cy="3110940"/>
        </p:xfrm>
        <a:graphic>
          <a:graphicData uri="http://schemas.openxmlformats.org/drawingml/2006/table">
            <a:tbl>
              <a:tblPr/>
              <a:tblGrid>
                <a:gridCol w="27669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31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93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786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9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b="1" dirty="0">
                          <a:solidFill>
                            <a:schemeClr val="bg1"/>
                          </a:solidFill>
                        </a:rPr>
                        <a:t>模型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b="1" dirty="0">
                          <a:solidFill>
                            <a:schemeClr val="bg1"/>
                          </a:solidFill>
                        </a:rPr>
                        <a:t>每天免費次數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b="1" dirty="0">
                          <a:solidFill>
                            <a:schemeClr val="bg1"/>
                          </a:solidFill>
                        </a:rPr>
                        <a:t>速度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b="1" dirty="0">
                          <a:solidFill>
                            <a:schemeClr val="bg1"/>
                          </a:solidFill>
                        </a:rPr>
                        <a:t>本課程用途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5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Gemini 3.x Flash-Lite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約 500 次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快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主力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9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Gemma 4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約 1,600 次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很慢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備援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9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其他 Gemini 3.x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不到 100 次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不建議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9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Gemini 2.x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價目表上有列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實際無法使用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note"/>
          <p:cNvSpPr txBox="1"/>
          <p:nvPr/>
        </p:nvSpPr>
        <p:spPr>
          <a:xfrm>
            <a:off x="502920" y="4598873"/>
            <a:ext cx="8138160" cy="659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30" b="1" dirty="0">
                <a:solidFill>
                  <a:schemeClr val="accent2"/>
                </a:solidFill>
              </a:rPr>
              <a:t>額度和可用模型會隨 Google 的政策改變，每期開課前會重新確認。</a:t>
            </a:r>
            <a:endParaRPr lang="en-US" sz="203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02920" y="3291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chemeClr val="accent2"/>
                </a:solidFill>
              </a:rPr>
              <a:t>第 4 章　AI 模型與金鑰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02920" y="603504"/>
            <a:ext cx="8138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chemeClr val="tx1"/>
                </a:solidFill>
              </a:rPr>
              <a:t>為什麼選 Flash-Lite 當主力？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02920" y="64008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2"/>
                </a:solidFill>
              </a:rPr>
              <a:t>第 4 章　AI 模型與金鑰　·　AI 雲端部署與容器化｜黃懷慶</a:t>
            </a:r>
            <a:endParaRPr lang="en-US" sz="1000" dirty="0"/>
          </a:p>
        </p:txBody>
      </p:sp>
      <p:sp>
        <p:nvSpPr>
          <p:cNvPr id="5" name="card-0-0"/>
          <p:cNvSpPr/>
          <p:nvPr/>
        </p:nvSpPr>
        <p:spPr>
          <a:xfrm>
            <a:off x="502920" y="1286764"/>
            <a:ext cx="2578608" cy="3704133"/>
          </a:xfrm>
          <a:prstGeom prst="roundRect">
            <a:avLst>
              <a:gd name="adj" fmla="val 3546"/>
            </a:avLst>
          </a:prstGeom>
          <a:solidFill>
            <a:schemeClr val="accent5"/>
          </a:solidFill>
          <a:ln w="9525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6" name="card-icon-0-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69644"/>
            <a:ext cx="329184" cy="329184"/>
          </a:xfrm>
          <a:prstGeom prst="rect">
            <a:avLst/>
          </a:prstGeom>
        </p:spPr>
      </p:pic>
      <p:sp>
        <p:nvSpPr>
          <p:cNvPr id="7" name="card-title-0-0"/>
          <p:cNvSpPr txBox="1"/>
          <p:nvPr/>
        </p:nvSpPr>
        <p:spPr>
          <a:xfrm>
            <a:off x="685800" y="1890268"/>
            <a:ext cx="2212848" cy="8014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65" b="1" dirty="0">
                <a:solidFill>
                  <a:schemeClr val="tx1"/>
                </a:solidFill>
              </a:rPr>
              <a:t>額度夠你回家練習</a:t>
            </a:r>
            <a:endParaRPr lang="en-US" sz="2465" dirty="0"/>
          </a:p>
        </p:txBody>
      </p:sp>
      <p:sp>
        <p:nvSpPr>
          <p:cNvPr id="8" name="card-body-0-0"/>
          <p:cNvSpPr txBox="1"/>
          <p:nvPr/>
        </p:nvSpPr>
        <p:spPr>
          <a:xfrm>
            <a:off x="685800" y="2746553"/>
            <a:ext cx="2212848" cy="2061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30" dirty="0">
                <a:solidFill>
                  <a:schemeClr val="tx2"/>
                </a:solidFill>
              </a:rPr>
              <a:t>課後修改程式、反覆除錯會一直呼叫。每天不到 100 次很快就用完。</a:t>
            </a:r>
            <a:endParaRPr lang="en-US" sz="2030" dirty="0"/>
          </a:p>
        </p:txBody>
      </p:sp>
      <p:sp>
        <p:nvSpPr>
          <p:cNvPr id="9" name="card-0-1"/>
          <p:cNvSpPr/>
          <p:nvPr/>
        </p:nvSpPr>
        <p:spPr>
          <a:xfrm>
            <a:off x="3282696" y="1286764"/>
            <a:ext cx="2578608" cy="3704133"/>
          </a:xfrm>
          <a:prstGeom prst="roundRect">
            <a:avLst>
              <a:gd name="adj" fmla="val 3546"/>
            </a:avLst>
          </a:prstGeom>
          <a:solidFill>
            <a:schemeClr val="accent5"/>
          </a:solidFill>
          <a:ln w="9525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10" name="card-icon-0-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5576" y="1469644"/>
            <a:ext cx="329184" cy="329184"/>
          </a:xfrm>
          <a:prstGeom prst="rect">
            <a:avLst/>
          </a:prstGeom>
        </p:spPr>
      </p:pic>
      <p:sp>
        <p:nvSpPr>
          <p:cNvPr id="11" name="card-title-0-1"/>
          <p:cNvSpPr txBox="1"/>
          <p:nvPr/>
        </p:nvSpPr>
        <p:spPr>
          <a:xfrm>
            <a:off x="3465576" y="1890268"/>
            <a:ext cx="2212848" cy="400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65" b="1" dirty="0">
                <a:solidFill>
                  <a:schemeClr val="tx1"/>
                </a:solidFill>
              </a:rPr>
              <a:t>速度影響學習</a:t>
            </a:r>
            <a:endParaRPr lang="en-US" sz="2465" dirty="0"/>
          </a:p>
        </p:txBody>
      </p:sp>
      <p:sp>
        <p:nvSpPr>
          <p:cNvPr id="12" name="card-body-0-1"/>
          <p:cNvSpPr txBox="1"/>
          <p:nvPr/>
        </p:nvSpPr>
        <p:spPr>
          <a:xfrm>
            <a:off x="3465576" y="2345842"/>
            <a:ext cx="2212848" cy="2462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30" dirty="0">
                <a:solidFill>
                  <a:schemeClr val="tx2"/>
                </a:solidFill>
              </a:rPr>
              <a:t>Gemma 4 額度最多，但每次等很久，不適合反覆嘗試。</a:t>
            </a:r>
            <a:endParaRPr lang="en-US" sz="2030" dirty="0"/>
          </a:p>
        </p:txBody>
      </p:sp>
      <p:sp>
        <p:nvSpPr>
          <p:cNvPr id="13" name="card-0-2"/>
          <p:cNvSpPr/>
          <p:nvPr/>
        </p:nvSpPr>
        <p:spPr>
          <a:xfrm>
            <a:off x="6062472" y="1286764"/>
            <a:ext cx="2578608" cy="3704133"/>
          </a:xfrm>
          <a:prstGeom prst="roundRect">
            <a:avLst>
              <a:gd name="adj" fmla="val 3546"/>
            </a:avLst>
          </a:prstGeom>
          <a:solidFill>
            <a:schemeClr val="accent5"/>
          </a:solidFill>
          <a:ln w="9525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14" name="card-icon-0-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5352" y="1469644"/>
            <a:ext cx="329184" cy="329184"/>
          </a:xfrm>
          <a:prstGeom prst="rect">
            <a:avLst/>
          </a:prstGeom>
        </p:spPr>
      </p:pic>
      <p:sp>
        <p:nvSpPr>
          <p:cNvPr id="15" name="card-title-0-2"/>
          <p:cNvSpPr txBox="1"/>
          <p:nvPr/>
        </p:nvSpPr>
        <p:spPr>
          <a:xfrm>
            <a:off x="6245352" y="1890268"/>
            <a:ext cx="2212848" cy="8014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65" b="1" dirty="0">
                <a:solidFill>
                  <a:schemeClr val="tx1"/>
                </a:solidFill>
              </a:rPr>
              <a:t>列出來不等於能用</a:t>
            </a:r>
            <a:endParaRPr lang="en-US" sz="2465" dirty="0"/>
          </a:p>
        </p:txBody>
      </p:sp>
      <p:sp>
        <p:nvSpPr>
          <p:cNvPr id="16" name="card-body-0-2"/>
          <p:cNvSpPr txBox="1"/>
          <p:nvPr/>
        </p:nvSpPr>
        <p:spPr>
          <a:xfrm>
            <a:off x="6245352" y="2746553"/>
            <a:ext cx="2212848" cy="2061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30" dirty="0">
                <a:solidFill>
                  <a:schemeClr val="tx2"/>
                </a:solidFill>
              </a:rPr>
              <a:t>Gemini 2.x 還在價目表上，實際卻呼叫不到。一律以實測為準。</a:t>
            </a:r>
            <a:endParaRPr lang="en-US" sz="203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02920" y="3291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chemeClr val="accent2"/>
                </a:solidFill>
              </a:rPr>
              <a:t>第 4 章　AI 模型與金鑰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02920" y="603504"/>
            <a:ext cx="8138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chemeClr val="tx1"/>
                </a:solidFill>
              </a:rPr>
              <a:t>產生金鑰：兩件事要記下來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02920" y="64008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2"/>
                </a:solidFill>
              </a:rPr>
              <a:t>第 4 章　AI 模型與金鑰　·　AI 雲端部署與容器化｜黃懷慶</a:t>
            </a:r>
            <a:endParaRPr lang="en-US" sz="1000" dirty="0"/>
          </a:p>
        </p:txBody>
      </p:sp>
      <p:graphicFrame>
        <p:nvGraphicFramePr>
          <p:cNvPr id="37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9504920"/>
              </p:ext>
            </p:extLst>
          </p:nvPr>
        </p:nvGraphicFramePr>
        <p:xfrm>
          <a:off x="502920" y="1286764"/>
          <a:ext cx="8138161" cy="2379090"/>
        </p:xfrm>
        <a:graphic>
          <a:graphicData uri="http://schemas.openxmlformats.org/drawingml/2006/table">
            <a:tbl>
              <a:tblPr/>
              <a:tblGrid>
                <a:gridCol w="21159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25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97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9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b="1" dirty="0">
                          <a:solidFill>
                            <a:schemeClr val="bg1"/>
                          </a:solidFill>
                        </a:rPr>
                        <a:t>要記的東西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b="1" dirty="0">
                          <a:solidFill>
                            <a:schemeClr val="bg1"/>
                          </a:solidFill>
                        </a:rPr>
                        <a:t>是什麼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b="1" dirty="0">
                          <a:solidFill>
                            <a:schemeClr val="bg1"/>
                          </a:solidFill>
                        </a:rPr>
                        <a:t>注意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5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API 金鑰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一長串英數字，代表「你本人」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只會完整顯示一次，先存在安全的地方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5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 err="1">
                          <a:solidFill>
                            <a:schemeClr val="tx1"/>
                          </a:solidFill>
                        </a:rPr>
                        <a:t>模型名稱</a:t>
                      </a:r>
                      <a:br>
                        <a:rPr lang="en-US" sz="203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（model ID）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程式用來指定模型的確切名稱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從畫面上複製，不要憑印象打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02920" y="3291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chemeClr val="accent2"/>
                </a:solidFill>
              </a:rPr>
              <a:t>第 4 章　AI 模型與金鑰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02920" y="603504"/>
            <a:ext cx="8138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chemeClr val="tx1"/>
                </a:solidFill>
              </a:rPr>
              <a:t>金鑰就是你的身分證，要這樣保護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02920" y="64008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2"/>
                </a:solidFill>
              </a:rPr>
              <a:t>第 4 章　AI 模型與金鑰　·　AI 雲端部署與容器化｜黃懷慶</a:t>
            </a:r>
            <a:endParaRPr lang="en-US" sz="1000" dirty="0"/>
          </a:p>
        </p:txBody>
      </p:sp>
      <p:graphicFrame>
        <p:nvGraphicFramePr>
          <p:cNvPr id="38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6764"/>
          <a:ext cx="8138160" cy="4758180"/>
        </p:xfrm>
        <a:graphic>
          <a:graphicData uri="http://schemas.openxmlformats.org/drawingml/2006/table">
            <a:tbl>
              <a:tblPr/>
              <a:tblGrid>
                <a:gridCol w="21159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318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03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9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b="1" dirty="0">
                          <a:solidFill>
                            <a:schemeClr val="bg1"/>
                          </a:solidFill>
                        </a:rPr>
                        <a:t>原則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b="1" dirty="0">
                          <a:solidFill>
                            <a:schemeClr val="bg1"/>
                          </a:solidFill>
                        </a:rPr>
                        <a:t>我們怎麼做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b="1" dirty="0">
                          <a:solidFill>
                            <a:schemeClr val="bg1"/>
                          </a:solidFill>
                        </a:rPr>
                        <a:t>在哪一章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9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不寫進程式碼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程式只從「環境變數」讀取金鑰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第 7 章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5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不上傳到 GitHub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用設定檔擋住含金鑰的檔案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第 7 章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5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加密保存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存進 GitHub 的保管箱（Secrets）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第 5 章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5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不顯示在畫面上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輸入時不顯示，檢查時只看前 4 碼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第 6、9 章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5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外洩就作廢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到 AI Studio 刪掉舊的、重新產生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731520" y="1417320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8000" b="1" dirty="0">
                <a:solidFill>
                  <a:schemeClr val="accent1"/>
                </a:solidFill>
              </a:rPr>
              <a:t>05</a:t>
            </a:r>
            <a:endParaRPr lang="en-US" sz="80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731520" y="26974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 dirty="0">
                <a:solidFill>
                  <a:schemeClr val="tx1"/>
                </a:solidFill>
              </a:rPr>
              <a:t>GitHub、Repo、</a:t>
            </a:r>
            <a:endParaRPr lang="en-US" sz="36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 dirty="0">
                <a:solidFill>
                  <a:schemeClr val="tx1"/>
                </a:solidFill>
              </a:rPr>
              <a:t>Codespace 設置</a:t>
            </a:r>
            <a:endParaRPr lang="en-US" sz="3600" dirty="0"/>
          </a:p>
        </p:txBody>
      </p:sp>
      <p:sp>
        <p:nvSpPr>
          <p:cNvPr id="4" name="Text 1"/>
          <p:cNvSpPr>
            <a:spLocks noGrp="1"/>
          </p:cNvSpPr>
          <p:nvPr>
            <p:ph type="body" idx="103" hasCustomPrompt="1"/>
          </p:nvPr>
        </p:nvSpPr>
        <p:spPr>
          <a:xfrm>
            <a:off x="731520" y="416052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accent2"/>
                </a:solidFill>
              </a:rPr>
              <a:t>打開我們的雲端教室，並把鑰匙鎖進保管箱</a:t>
            </a:r>
            <a:endParaRPr lang="en-US" sz="1800" dirty="0"/>
          </a:p>
        </p:txBody>
      </p:sp>
      <p:sp>
        <p:nvSpPr>
          <p:cNvPr id="5" name="Text 1"/>
          <p:cNvSpPr>
            <a:spLocks noGrp="1"/>
          </p:cNvSpPr>
          <p:nvPr>
            <p:ph type="body" idx="104" hasCustomPrompt="1"/>
          </p:nvPr>
        </p:nvSpPr>
        <p:spPr>
          <a:xfrm>
            <a:off x="731520" y="49377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300" dirty="0">
                <a:solidFill>
                  <a:schemeClr val="tx2"/>
                </a:solidFill>
              </a:rPr>
              <a:t>實作　｜　建議 2 小時</a:t>
            </a:r>
            <a:endParaRPr lang="en-US" sz="13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02920" y="3291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chemeClr val="accent2"/>
                </a:solidFill>
              </a:rPr>
              <a:t>第 5 章　GitHub 與 Codespace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02920" y="603504"/>
            <a:ext cx="8138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chemeClr val="tx1"/>
                </a:solidFill>
              </a:rPr>
              <a:t>Codespace 到底是什麼？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02920" y="64008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2"/>
                </a:solidFill>
              </a:rPr>
              <a:t>第 5 章　GitHub 與 Codespace　·　AI 雲端部署與容器化｜黃懷慶</a:t>
            </a:r>
            <a:endParaRPr lang="en-US" sz="1000" dirty="0"/>
          </a:p>
        </p:txBody>
      </p:sp>
      <p:sp>
        <p:nvSpPr>
          <p:cNvPr id="5" name="step-0"/>
          <p:cNvSpPr/>
          <p:nvPr/>
        </p:nvSpPr>
        <p:spPr>
          <a:xfrm>
            <a:off x="502920" y="1286764"/>
            <a:ext cx="2407920" cy="1983638"/>
          </a:xfrm>
          <a:prstGeom prst="roundRect">
            <a:avLst>
              <a:gd name="adj" fmla="val 4610"/>
            </a:avLst>
          </a:prstGeom>
          <a:solidFill>
            <a:schemeClr val="accent5"/>
          </a:solidFill>
          <a:ln w="9525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tep-title-0"/>
          <p:cNvSpPr txBox="1"/>
          <p:nvPr/>
        </p:nvSpPr>
        <p:spPr>
          <a:xfrm>
            <a:off x="649224" y="1433068"/>
            <a:ext cx="211531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75" b="1" dirty="0">
                <a:solidFill>
                  <a:schemeClr val="tx1"/>
                </a:solidFill>
              </a:rPr>
              <a:t>一台雲端電腦</a:t>
            </a:r>
            <a:endParaRPr lang="en-US" sz="2175" dirty="0"/>
          </a:p>
        </p:txBody>
      </p:sp>
      <p:sp>
        <p:nvSpPr>
          <p:cNvPr id="7" name="step-body-0"/>
          <p:cNvSpPr txBox="1"/>
          <p:nvPr/>
        </p:nvSpPr>
        <p:spPr>
          <a:xfrm>
            <a:off x="649224" y="1859788"/>
            <a:ext cx="2115312" cy="1264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58" dirty="0">
                <a:solidFill>
                  <a:schemeClr val="tx2"/>
                </a:solidFill>
              </a:rPr>
              <a:t>GitHub 在機房幫你開的虛擬機</a:t>
            </a:r>
            <a:endParaRPr lang="en-US" sz="1958" dirty="0"/>
          </a:p>
        </p:txBody>
      </p:sp>
      <p:sp>
        <p:nvSpPr>
          <p:cNvPr id="8" name="arrow-0"/>
          <p:cNvSpPr/>
          <p:nvPr/>
        </p:nvSpPr>
        <p:spPr>
          <a:xfrm>
            <a:off x="3002280" y="2177999"/>
            <a:ext cx="274320" cy="201168"/>
          </a:xfrm>
          <a:prstGeom prst="rightArrow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step-1"/>
          <p:cNvSpPr/>
          <p:nvPr/>
        </p:nvSpPr>
        <p:spPr>
          <a:xfrm>
            <a:off x="3368040" y="1286764"/>
            <a:ext cx="2407920" cy="1983638"/>
          </a:xfrm>
          <a:prstGeom prst="roundRect">
            <a:avLst>
              <a:gd name="adj" fmla="val 4610"/>
            </a:avLst>
          </a:prstGeom>
          <a:solidFill>
            <a:schemeClr val="accent5"/>
          </a:solidFill>
          <a:ln w="9525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tep-title-1"/>
          <p:cNvSpPr txBox="1"/>
          <p:nvPr/>
        </p:nvSpPr>
        <p:spPr>
          <a:xfrm>
            <a:off x="3514344" y="1433068"/>
            <a:ext cx="211531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75" b="1" dirty="0">
                <a:solidFill>
                  <a:schemeClr val="tx1"/>
                </a:solidFill>
              </a:rPr>
              <a:t>裡面一個容器</a:t>
            </a:r>
            <a:endParaRPr lang="en-US" sz="2175" dirty="0"/>
          </a:p>
        </p:txBody>
      </p:sp>
      <p:sp>
        <p:nvSpPr>
          <p:cNvPr id="11" name="step-body-1"/>
          <p:cNvSpPr txBox="1"/>
          <p:nvPr/>
        </p:nvSpPr>
        <p:spPr>
          <a:xfrm>
            <a:off x="3514344" y="1859788"/>
            <a:ext cx="2115312" cy="1264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58" dirty="0">
                <a:solidFill>
                  <a:schemeClr val="tx2"/>
                </a:solidFill>
              </a:rPr>
              <a:t>裝好開發工具的工作環境</a:t>
            </a:r>
            <a:endParaRPr lang="en-US" sz="1958" dirty="0"/>
          </a:p>
        </p:txBody>
      </p:sp>
      <p:sp>
        <p:nvSpPr>
          <p:cNvPr id="12" name="arrow-1"/>
          <p:cNvSpPr/>
          <p:nvPr/>
        </p:nvSpPr>
        <p:spPr>
          <a:xfrm>
            <a:off x="5867400" y="2177999"/>
            <a:ext cx="274320" cy="201168"/>
          </a:xfrm>
          <a:prstGeom prst="rightArrow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step-2"/>
          <p:cNvSpPr/>
          <p:nvPr/>
        </p:nvSpPr>
        <p:spPr>
          <a:xfrm>
            <a:off x="6233160" y="1286764"/>
            <a:ext cx="2407920" cy="1983638"/>
          </a:xfrm>
          <a:prstGeom prst="roundRect">
            <a:avLst>
              <a:gd name="adj" fmla="val 461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step-title-2"/>
          <p:cNvSpPr txBox="1"/>
          <p:nvPr/>
        </p:nvSpPr>
        <p:spPr>
          <a:xfrm>
            <a:off x="6379464" y="1433068"/>
            <a:ext cx="2115312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75" b="1" dirty="0">
                <a:solidFill>
                  <a:schemeClr val="tx1"/>
                </a:solidFill>
              </a:rPr>
              <a:t>瀏覽器裡的 VS Code</a:t>
            </a:r>
            <a:endParaRPr lang="en-US" sz="2175" dirty="0"/>
          </a:p>
        </p:txBody>
      </p:sp>
      <p:sp>
        <p:nvSpPr>
          <p:cNvPr id="15" name="step-body-2"/>
          <p:cNvSpPr txBox="1"/>
          <p:nvPr/>
        </p:nvSpPr>
        <p:spPr>
          <a:xfrm>
            <a:off x="6379464" y="2213356"/>
            <a:ext cx="2115312" cy="9107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58" dirty="0">
                <a:solidFill>
                  <a:schemeClr val="tx1"/>
                </a:solidFill>
              </a:rPr>
              <a:t>透過網頁操作這個環境</a:t>
            </a:r>
            <a:endParaRPr lang="en-US" sz="1958" dirty="0"/>
          </a:p>
        </p:txBody>
      </p:sp>
      <p:sp>
        <p:nvSpPr>
          <p:cNvPr id="16" name="note-box"/>
          <p:cNvSpPr/>
          <p:nvPr/>
        </p:nvSpPr>
        <p:spPr>
          <a:xfrm>
            <a:off x="502920" y="3471570"/>
            <a:ext cx="8138160" cy="897738"/>
          </a:xfrm>
          <a:prstGeom prst="roundRect">
            <a:avLst>
              <a:gd name="adj" fmla="val 814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note"/>
          <p:cNvSpPr txBox="1"/>
          <p:nvPr/>
        </p:nvSpPr>
        <p:spPr>
          <a:xfrm>
            <a:off x="685800" y="3471570"/>
            <a:ext cx="7772400" cy="897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30" dirty="0">
                <a:solidFill>
                  <a:schemeClr val="tx1"/>
                </a:solidFill>
              </a:rPr>
              <a:t>你在瀏覽器裡看到的，是一台遠在機房的電腦。關掉瀏覽器，它還在那裡。</a:t>
            </a:r>
            <a:endParaRPr lang="en-US" sz="203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02920" y="3291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chemeClr val="accent2"/>
                </a:solidFill>
              </a:rPr>
              <a:t>第 5 章　GitHub 與 Codespace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02920" y="603504"/>
            <a:ext cx="8138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chemeClr val="tx1"/>
                </a:solidFill>
              </a:rPr>
              <a:t>先認識幾個名詞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02920" y="64008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2"/>
                </a:solidFill>
              </a:rPr>
              <a:t>第 5 章　GitHub 與 Codespace　·　AI 雲端部署與容器化｜黃懷慶</a:t>
            </a:r>
            <a:endParaRPr lang="en-US" sz="1000" dirty="0"/>
          </a:p>
        </p:txBody>
      </p:sp>
      <p:graphicFrame>
        <p:nvGraphicFramePr>
          <p:cNvPr id="41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6764"/>
          <a:ext cx="8138160" cy="4814823"/>
        </p:xfrm>
        <a:graphic>
          <a:graphicData uri="http://schemas.openxmlformats.org/drawingml/2006/table">
            <a:tbl>
              <a:tblPr/>
              <a:tblGrid>
                <a:gridCol w="26042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39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63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60" b="1" dirty="0">
                          <a:solidFill>
                            <a:schemeClr val="bg1"/>
                          </a:solidFill>
                        </a:rPr>
                        <a:t>名詞</a:t>
                      </a:r>
                      <a:endParaRPr lang="en-US" sz="196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60" b="1" dirty="0">
                          <a:solidFill>
                            <a:schemeClr val="bg1"/>
                          </a:solidFill>
                        </a:rPr>
                        <a:t>白話解釋</a:t>
                      </a:r>
                      <a:endParaRPr lang="en-US" sz="196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981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60" dirty="0">
                          <a:solidFill>
                            <a:schemeClr val="tx1"/>
                          </a:solidFill>
                        </a:rPr>
                        <a:t>Repository（Repo）</a:t>
                      </a:r>
                      <a:endParaRPr lang="en-US" sz="196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60" dirty="0">
                          <a:solidFill>
                            <a:schemeClr val="tx1"/>
                          </a:solidFill>
                        </a:rPr>
                        <a:t>一個專案的資料夾，而且記得每一次修改的歷史</a:t>
                      </a:r>
                      <a:endParaRPr lang="en-US" sz="196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63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60" dirty="0">
                          <a:solidFill>
                            <a:schemeClr val="tx1"/>
                          </a:solidFill>
                        </a:rPr>
                        <a:t>Commit</a:t>
                      </a:r>
                      <a:endParaRPr lang="en-US" sz="196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60" dirty="0">
                          <a:solidFill>
                            <a:schemeClr val="tx1"/>
                          </a:solidFill>
                        </a:rPr>
                        <a:t>存一個「版本快照」，並寫下這次改了什麼</a:t>
                      </a:r>
                      <a:endParaRPr lang="en-US" sz="196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981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60" dirty="0">
                          <a:solidFill>
                            <a:schemeClr val="tx1"/>
                          </a:solidFill>
                        </a:rPr>
                        <a:t>Branch（分支）</a:t>
                      </a:r>
                      <a:endParaRPr lang="en-US" sz="196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60" dirty="0">
                          <a:solidFill>
                            <a:schemeClr val="tx1"/>
                          </a:solidFill>
                        </a:rPr>
                        <a:t>從主線分出去的草稿線，改壞了也不影響主線</a:t>
                      </a:r>
                      <a:endParaRPr lang="en-US" sz="196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981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60" dirty="0">
                          <a:solidFill>
                            <a:schemeClr val="tx1"/>
                          </a:solidFill>
                        </a:rPr>
                        <a:t>Pull Request（PR）</a:t>
                      </a:r>
                      <a:endParaRPr lang="en-US" sz="196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60" dirty="0">
                          <a:solidFill>
                            <a:schemeClr val="tx1"/>
                          </a:solidFill>
                        </a:rPr>
                        <a:t>請別人審查你的修改，同意後才合併回主線</a:t>
                      </a:r>
                      <a:endParaRPr lang="en-US" sz="196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63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60" dirty="0">
                          <a:solidFill>
                            <a:schemeClr val="tx1"/>
                          </a:solidFill>
                        </a:rPr>
                        <a:t>Codespace</a:t>
                      </a:r>
                      <a:endParaRPr lang="en-US" sz="196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60" dirty="0">
                          <a:solidFill>
                            <a:schemeClr val="tx1"/>
                          </a:solidFill>
                        </a:rPr>
                        <a:t>開在雲端的開發環境（上一張投影片）</a:t>
                      </a:r>
                      <a:endParaRPr lang="en-US" sz="196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63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60" dirty="0">
                          <a:solidFill>
                            <a:schemeClr val="tx1"/>
                          </a:solidFill>
                        </a:rPr>
                        <a:t>Secrets</a:t>
                      </a:r>
                      <a:endParaRPr lang="en-US" sz="196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60" dirty="0">
                          <a:solidFill>
                            <a:schemeClr val="tx1"/>
                          </a:solidFill>
                        </a:rPr>
                        <a:t>GitHub 幫你加密保管密碼和金鑰的保管箱</a:t>
                      </a:r>
                      <a:endParaRPr lang="en-US" sz="196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02920" y="3291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chemeClr val="accent2"/>
                </a:solidFill>
              </a:rPr>
              <a:t>第 5 章　GitHub 與 Codespace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02920" y="603504"/>
            <a:ext cx="8138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chemeClr val="tx1"/>
                </a:solidFill>
              </a:rPr>
              <a:t>第一件事：設定「防超量」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02920" y="64008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2"/>
                </a:solidFill>
              </a:rPr>
              <a:t>第 5 章　GitHub 與 Codespace　·　AI 雲端部署與容器化｜黃懷慶</a:t>
            </a:r>
            <a:endParaRPr lang="en-US" sz="1000" dirty="0"/>
          </a:p>
        </p:txBody>
      </p:sp>
      <p:graphicFrame>
        <p:nvGraphicFramePr>
          <p:cNvPr id="42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6764"/>
          <a:ext cx="8138161" cy="4209210"/>
        </p:xfrm>
        <a:graphic>
          <a:graphicData uri="http://schemas.openxmlformats.org/drawingml/2006/table">
            <a:tbl>
              <a:tblPr/>
              <a:tblGrid>
                <a:gridCol w="21159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25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97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9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b="1" dirty="0">
                          <a:solidFill>
                            <a:schemeClr val="bg1"/>
                          </a:solidFill>
                        </a:rPr>
                        <a:t>設定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b="1" dirty="0">
                          <a:solidFill>
                            <a:schemeClr val="bg1"/>
                          </a:solidFill>
                        </a:rPr>
                        <a:t>是什麼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b="1" dirty="0">
                          <a:solidFill>
                            <a:schemeClr val="bg1"/>
                          </a:solidFill>
                        </a:rPr>
                        <a:t>為什麼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5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閒置自動關機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一段時間沒操作就自動關機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關機時不消耗運算時數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5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自動刪除期限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關機超過幾天就自動刪除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避免儲存空間額度被吃光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5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機房區域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選東南亞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離台灣近，操作比較順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5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確認沒有付款方式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帳單頁面上沒有綁定任何卡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額度用完只會暫停，不會扣款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02920" y="3291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chemeClr val="accent2"/>
                </a:solidFill>
              </a:rPr>
              <a:t>第 5 章　GitHub 與 Codespace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02920" y="603504"/>
            <a:ext cx="8138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chemeClr val="tx1"/>
                </a:solidFill>
              </a:rPr>
              <a:t>建立 Repo：為什麼設成「公開」？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02920" y="64008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2"/>
                </a:solidFill>
              </a:rPr>
              <a:t>第 5 章　GitHub 與 Codespace　·　AI 雲端部署與容器化｜黃懷慶</a:t>
            </a:r>
            <a:endParaRPr lang="en-US" sz="1000" dirty="0"/>
          </a:p>
        </p:txBody>
      </p:sp>
      <p:graphicFrame>
        <p:nvGraphicFramePr>
          <p:cNvPr id="43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6764"/>
          <a:ext cx="8138160" cy="3477030"/>
        </p:xfrm>
        <a:graphic>
          <a:graphicData uri="http://schemas.openxmlformats.org/drawingml/2006/table">
            <a:tbl>
              <a:tblPr/>
              <a:tblGrid>
                <a:gridCol w="24414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6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9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b="1" dirty="0">
                          <a:solidFill>
                            <a:schemeClr val="bg1"/>
                          </a:solidFill>
                        </a:rPr>
                        <a:t>原因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b="1" dirty="0">
                          <a:solidFill>
                            <a:schemeClr val="bg1"/>
                          </a:solidFill>
                        </a:rPr>
                        <a:t>說明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5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自動化工具免費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公開 Repo 使用 GitHub 的自動建置功能不用錢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9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映像倉庫免費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公開的映像存放與下載不用錢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9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成果可以分享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別人可以直接看到你的程式和工作紀錄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5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代價：要管好機密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金鑰絕對不能出現在 Repo 裡（第 7 章）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02920" y="3291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chemeClr val="accent2"/>
                </a:solidFill>
              </a:rPr>
              <a:t>第 5 章　GitHub 與 Codespace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02920" y="603504"/>
            <a:ext cx="8138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chemeClr val="tx1"/>
                </a:solidFill>
              </a:rPr>
              <a:t>開啟 Codespace：小心開錯成「另一種」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02920" y="64008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2"/>
                </a:solidFill>
              </a:rPr>
              <a:t>第 5 章　GitHub 與 Codespace　·　AI 雲端部署與容器化｜黃懷慶</a:t>
            </a:r>
            <a:endParaRPr lang="en-US" sz="1000" dirty="0"/>
          </a:p>
        </p:txBody>
      </p:sp>
      <p:sp>
        <p:nvSpPr>
          <p:cNvPr id="5" name="col-0"/>
          <p:cNvSpPr/>
          <p:nvPr/>
        </p:nvSpPr>
        <p:spPr>
          <a:xfrm>
            <a:off x="502920" y="1286764"/>
            <a:ext cx="3968496" cy="3813962"/>
          </a:xfrm>
          <a:prstGeom prst="roundRect">
            <a:avLst>
              <a:gd name="adj" fmla="val 2398"/>
            </a:avLst>
          </a:prstGeom>
          <a:solidFill>
            <a:schemeClr val="accent5"/>
          </a:solidFill>
          <a:ln w="9525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col-title-0"/>
          <p:cNvSpPr txBox="1"/>
          <p:nvPr/>
        </p:nvSpPr>
        <p:spPr>
          <a:xfrm>
            <a:off x="722376" y="1506220"/>
            <a:ext cx="3529584" cy="895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55" b="1" dirty="0" err="1">
                <a:solidFill>
                  <a:schemeClr val="tx1"/>
                </a:solidFill>
              </a:rPr>
              <a:t>github.dev</a:t>
            </a:r>
            <a:br>
              <a:rPr lang="en-US" sz="2755" b="1" dirty="0">
                <a:solidFill>
                  <a:schemeClr val="tx1"/>
                </a:solidFill>
              </a:rPr>
            </a:br>
            <a:r>
              <a:rPr lang="en-US" sz="2755" b="1" dirty="0">
                <a:solidFill>
                  <a:schemeClr val="tx1"/>
                </a:solidFill>
              </a:rPr>
              <a:t>（按 . 鍵開的）</a:t>
            </a:r>
            <a:endParaRPr lang="en-US" sz="2755" dirty="0"/>
          </a:p>
        </p:txBody>
      </p:sp>
      <p:sp>
        <p:nvSpPr>
          <p:cNvPr id="7" name="col-list-0"/>
          <p:cNvSpPr txBox="1"/>
          <p:nvPr/>
        </p:nvSpPr>
        <p:spPr>
          <a:xfrm>
            <a:off x="722376" y="2511654"/>
            <a:ext cx="3529584" cy="23696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dirty="0">
                <a:solidFill>
                  <a:schemeClr val="tx2"/>
                </a:solidFill>
              </a:rPr>
              <a:t>看起來幾乎一樣</a:t>
            </a:r>
            <a:endParaRPr lang="en-US" sz="2175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b="1" dirty="0">
                <a:solidFill>
                  <a:schemeClr val="tx2"/>
                </a:solidFill>
              </a:rPr>
              <a:t>沒有</a:t>
            </a:r>
            <a:r>
              <a:rPr lang="en-US" sz="2175" dirty="0">
                <a:solidFill>
                  <a:schemeClr val="tx2"/>
                </a:solidFill>
              </a:rPr>
              <a:t>終端機</a:t>
            </a:r>
            <a:endParaRPr lang="en-US" sz="2175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b="1" dirty="0">
                <a:solidFill>
                  <a:schemeClr val="tx2"/>
                </a:solidFill>
              </a:rPr>
              <a:t>不能</a:t>
            </a:r>
            <a:r>
              <a:rPr lang="en-US" sz="2175" dirty="0">
                <a:solidFill>
                  <a:schemeClr val="tx2"/>
                </a:solidFill>
              </a:rPr>
              <a:t>執行 Docker</a:t>
            </a:r>
            <a:endParaRPr lang="en-US" sz="2175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dirty="0">
                <a:solidFill>
                  <a:schemeClr val="tx2"/>
                </a:solidFill>
              </a:rPr>
              <a:t>按下 Commit 直接改到雲端</a:t>
            </a:r>
            <a:endParaRPr lang="en-US" sz="2175" dirty="0"/>
          </a:p>
        </p:txBody>
      </p:sp>
      <p:sp>
        <p:nvSpPr>
          <p:cNvPr id="8" name="col-1"/>
          <p:cNvSpPr/>
          <p:nvPr/>
        </p:nvSpPr>
        <p:spPr>
          <a:xfrm>
            <a:off x="4672584" y="1286764"/>
            <a:ext cx="3968496" cy="3813962"/>
          </a:xfrm>
          <a:prstGeom prst="roundRect">
            <a:avLst>
              <a:gd name="adj" fmla="val 2398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col-title-1"/>
          <p:cNvSpPr txBox="1"/>
          <p:nvPr/>
        </p:nvSpPr>
        <p:spPr>
          <a:xfrm>
            <a:off x="4892040" y="1506220"/>
            <a:ext cx="3529584" cy="895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55" b="1" dirty="0" err="1">
                <a:solidFill>
                  <a:schemeClr val="bg1"/>
                </a:solidFill>
              </a:rPr>
              <a:t>Codespaces</a:t>
            </a:r>
            <a:br>
              <a:rPr lang="en-US" sz="2755" b="1" dirty="0">
                <a:solidFill>
                  <a:schemeClr val="bg1"/>
                </a:solidFill>
              </a:rPr>
            </a:br>
            <a:r>
              <a:rPr lang="en-US" sz="2755" b="1" dirty="0">
                <a:solidFill>
                  <a:schemeClr val="bg1"/>
                </a:solidFill>
              </a:rPr>
              <a:t>（本課程用的）</a:t>
            </a:r>
            <a:endParaRPr lang="en-US" sz="2755" dirty="0"/>
          </a:p>
        </p:txBody>
      </p:sp>
      <p:sp>
        <p:nvSpPr>
          <p:cNvPr id="10" name="col-list-1"/>
          <p:cNvSpPr txBox="1"/>
          <p:nvPr/>
        </p:nvSpPr>
        <p:spPr>
          <a:xfrm>
            <a:off x="4892040" y="2511654"/>
            <a:ext cx="3529584" cy="23696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dirty="0">
                <a:solidFill>
                  <a:schemeClr val="bg2"/>
                </a:solidFill>
              </a:rPr>
              <a:t>有終端機</a:t>
            </a:r>
            <a:endParaRPr lang="en-US" sz="2175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dirty="0">
                <a:solidFill>
                  <a:schemeClr val="bg2"/>
                </a:solidFill>
              </a:rPr>
              <a:t>可以執行 Docker</a:t>
            </a:r>
            <a:endParaRPr lang="en-US" sz="2175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dirty="0">
                <a:solidFill>
                  <a:schemeClr val="bg2"/>
                </a:solidFill>
              </a:rPr>
              <a:t>一台完整的開發環境</a:t>
            </a:r>
            <a:endParaRPr lang="en-US" sz="2175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dirty="0">
                <a:solidFill>
                  <a:schemeClr val="bg2"/>
                </a:solidFill>
              </a:rPr>
              <a:t>從 Repo 的綠色 Code 按鈕開啟</a:t>
            </a:r>
            <a:endParaRPr lang="en-US" sz="2175" dirty="0"/>
          </a:p>
        </p:txBody>
      </p:sp>
      <p:sp>
        <p:nvSpPr>
          <p:cNvPr id="11" name="note-box"/>
          <p:cNvSpPr/>
          <p:nvPr/>
        </p:nvSpPr>
        <p:spPr>
          <a:xfrm>
            <a:off x="502920" y="5301894"/>
            <a:ext cx="8138160" cy="897738"/>
          </a:xfrm>
          <a:prstGeom prst="roundRect">
            <a:avLst>
              <a:gd name="adj" fmla="val 814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note"/>
          <p:cNvSpPr txBox="1"/>
          <p:nvPr/>
        </p:nvSpPr>
        <p:spPr>
          <a:xfrm>
            <a:off x="685800" y="5301894"/>
            <a:ext cx="7772400" cy="897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30" dirty="0">
                <a:solidFill>
                  <a:schemeClr val="tx1"/>
                </a:solidFill>
              </a:rPr>
              <a:t>分辨方法：畫面下方有沒有「終端機」。沒有的話，就是開錯了。</a:t>
            </a:r>
            <a:endParaRPr lang="en-US" sz="203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02920" y="3291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chemeClr val="accent2"/>
                </a:solidFill>
              </a:rPr>
              <a:t>第 5 章　GitHub 與 Codespace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02920" y="603504"/>
            <a:ext cx="8138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chemeClr val="tx1"/>
                </a:solidFill>
              </a:rPr>
              <a:t>把金鑰鎖進保管箱（Codespaces Secrets）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02920" y="64008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2"/>
                </a:solidFill>
              </a:rPr>
              <a:t>第 5 章　GitHub 與 Codespace　·　AI 雲端部署與容器化｜黃懷慶</a:t>
            </a:r>
            <a:endParaRPr lang="en-US" sz="1000" dirty="0"/>
          </a:p>
        </p:txBody>
      </p:sp>
      <p:graphicFrame>
        <p:nvGraphicFramePr>
          <p:cNvPr id="45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6764"/>
          <a:ext cx="8138160" cy="3660241"/>
        </p:xfrm>
        <a:graphic>
          <a:graphicData uri="http://schemas.openxmlformats.org/drawingml/2006/table">
            <a:tbl>
              <a:tblPr/>
              <a:tblGrid>
                <a:gridCol w="22786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25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69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9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b="1" dirty="0">
                          <a:solidFill>
                            <a:schemeClr val="bg1"/>
                          </a:solidFill>
                        </a:rPr>
                        <a:t>步驟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b="1" dirty="0">
                          <a:solidFill>
                            <a:schemeClr val="bg1"/>
                          </a:solidFill>
                        </a:rPr>
                        <a:t>是什麼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b="1" dirty="0">
                          <a:solidFill>
                            <a:schemeClr val="bg1"/>
                          </a:solidFill>
                        </a:rPr>
                        <a:t>為什麼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11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1. 新增一個 Secret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名稱填 LLM_API_KEY，內容貼上金鑰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金鑰加密保存，不寫在任何檔案裡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5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2. 指定可以使用的 Repo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勾選你的課程 Repo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只有這個 Repo 的 Codespace 拿得到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5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3. 重新啟動 Codespace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關掉再打開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金鑰只在開機時放進環境裡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note"/>
          <p:cNvSpPr txBox="1"/>
          <p:nvPr/>
        </p:nvSpPr>
        <p:spPr>
          <a:xfrm>
            <a:off x="502920" y="5148174"/>
            <a:ext cx="8138160" cy="659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30" b="1" dirty="0">
                <a:solidFill>
                  <a:schemeClr val="accent2"/>
                </a:solidFill>
              </a:rPr>
              <a:t>最常漏掉的是第 3 步：存好之後一定要重開，不然程式拿不到金鑰。</a:t>
            </a:r>
            <a:endParaRPr lang="en-US" sz="203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02920" y="3291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chemeClr val="accent2"/>
                </a:solidFill>
              </a:rPr>
              <a:t>第 5 章　GitHub 與 Codespace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02920" y="603504"/>
            <a:ext cx="8138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chemeClr val="tx1"/>
                </a:solidFill>
              </a:rPr>
              <a:t>下課前：「停止」和「刪除」不一樣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02920" y="64008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2"/>
                </a:solidFill>
              </a:rPr>
              <a:t>第 5 章　GitHub 與 Codespace　·　AI 雲端部署與容器化｜黃懷慶</a:t>
            </a:r>
            <a:endParaRPr lang="en-US" sz="1000" dirty="0"/>
          </a:p>
        </p:txBody>
      </p:sp>
      <p:sp>
        <p:nvSpPr>
          <p:cNvPr id="5" name="col-0"/>
          <p:cNvSpPr/>
          <p:nvPr/>
        </p:nvSpPr>
        <p:spPr>
          <a:xfrm>
            <a:off x="502920" y="1286764"/>
            <a:ext cx="3968496" cy="3813962"/>
          </a:xfrm>
          <a:prstGeom prst="roundRect">
            <a:avLst>
              <a:gd name="adj" fmla="val 2398"/>
            </a:avLst>
          </a:prstGeom>
          <a:solidFill>
            <a:schemeClr val="accent5"/>
          </a:solidFill>
          <a:ln w="9525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col-title-0"/>
          <p:cNvSpPr txBox="1"/>
          <p:nvPr/>
        </p:nvSpPr>
        <p:spPr>
          <a:xfrm>
            <a:off x="722376" y="1506220"/>
            <a:ext cx="3529584" cy="447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55" b="1" dirty="0">
                <a:solidFill>
                  <a:schemeClr val="tx1"/>
                </a:solidFill>
              </a:rPr>
              <a:t>停止（Stop）</a:t>
            </a:r>
            <a:endParaRPr lang="en-US" sz="2755" dirty="0"/>
          </a:p>
        </p:txBody>
      </p:sp>
      <p:sp>
        <p:nvSpPr>
          <p:cNvPr id="7" name="col-list-0"/>
          <p:cNvSpPr txBox="1"/>
          <p:nvPr/>
        </p:nvSpPr>
        <p:spPr>
          <a:xfrm>
            <a:off x="722376" y="2063801"/>
            <a:ext cx="3529584" cy="2817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dirty="0">
                <a:solidFill>
                  <a:schemeClr val="tx2"/>
                </a:solidFill>
              </a:rPr>
              <a:t>像電腦關機</a:t>
            </a:r>
            <a:endParaRPr lang="en-US" sz="2175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dirty="0">
                <a:solidFill>
                  <a:schemeClr val="tx2"/>
                </a:solidFill>
              </a:rPr>
              <a:t>檔案都還在</a:t>
            </a:r>
            <a:endParaRPr lang="en-US" sz="2175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dirty="0">
                <a:solidFill>
                  <a:schemeClr val="tx2"/>
                </a:solidFill>
              </a:rPr>
              <a:t>不再消耗運算時數</a:t>
            </a:r>
            <a:endParaRPr lang="en-US" sz="2175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b="1" dirty="0">
                <a:solidFill>
                  <a:schemeClr val="tx2"/>
                </a:solidFill>
              </a:rPr>
              <a:t>但儲存空間還在計算</a:t>
            </a:r>
            <a:endParaRPr lang="en-US" sz="2175" dirty="0"/>
          </a:p>
        </p:txBody>
      </p:sp>
      <p:sp>
        <p:nvSpPr>
          <p:cNvPr id="8" name="col-1"/>
          <p:cNvSpPr/>
          <p:nvPr/>
        </p:nvSpPr>
        <p:spPr>
          <a:xfrm>
            <a:off x="4672584" y="1286764"/>
            <a:ext cx="3968496" cy="3813962"/>
          </a:xfrm>
          <a:prstGeom prst="roundRect">
            <a:avLst>
              <a:gd name="adj" fmla="val 2398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col-title-1"/>
          <p:cNvSpPr txBox="1"/>
          <p:nvPr/>
        </p:nvSpPr>
        <p:spPr>
          <a:xfrm>
            <a:off x="4892040" y="1506220"/>
            <a:ext cx="3529584" cy="447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55" b="1" dirty="0">
                <a:solidFill>
                  <a:schemeClr val="bg1"/>
                </a:solidFill>
              </a:rPr>
              <a:t>刪除（Delete）</a:t>
            </a:r>
            <a:endParaRPr lang="en-US" sz="2755" dirty="0"/>
          </a:p>
        </p:txBody>
      </p:sp>
      <p:sp>
        <p:nvSpPr>
          <p:cNvPr id="10" name="col-list-1"/>
          <p:cNvSpPr txBox="1"/>
          <p:nvPr/>
        </p:nvSpPr>
        <p:spPr>
          <a:xfrm>
            <a:off x="4892040" y="2063801"/>
            <a:ext cx="3529584" cy="2817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dirty="0">
                <a:solidFill>
                  <a:schemeClr val="bg2"/>
                </a:solidFill>
              </a:rPr>
              <a:t>整台電腦收掉</a:t>
            </a:r>
            <a:endParaRPr lang="en-US" sz="2175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dirty="0">
                <a:solidFill>
                  <a:schemeClr val="bg2"/>
                </a:solidFill>
              </a:rPr>
              <a:t>什麼都不再消耗</a:t>
            </a:r>
            <a:endParaRPr lang="en-US" sz="2175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b="1" dirty="0">
                <a:solidFill>
                  <a:schemeClr val="bg2"/>
                </a:solidFill>
              </a:rPr>
              <a:t>沒推上 GitHub 的東西會消失</a:t>
            </a:r>
            <a:endParaRPr lang="en-US" sz="2175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dirty="0">
                <a:solidFill>
                  <a:schemeClr val="bg2"/>
                </a:solidFill>
              </a:rPr>
              <a:t>程式碼在 Repo 裡就不怕</a:t>
            </a:r>
            <a:endParaRPr lang="en-US" sz="2175" dirty="0"/>
          </a:p>
        </p:txBody>
      </p:sp>
      <p:sp>
        <p:nvSpPr>
          <p:cNvPr id="11" name="note-box"/>
          <p:cNvSpPr/>
          <p:nvPr/>
        </p:nvSpPr>
        <p:spPr>
          <a:xfrm>
            <a:off x="502920" y="5301894"/>
            <a:ext cx="8138160" cy="897738"/>
          </a:xfrm>
          <a:prstGeom prst="roundRect">
            <a:avLst>
              <a:gd name="adj" fmla="val 814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note"/>
          <p:cNvSpPr txBox="1"/>
          <p:nvPr/>
        </p:nvSpPr>
        <p:spPr>
          <a:xfrm>
            <a:off x="685800" y="5301894"/>
            <a:ext cx="7772400" cy="897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30" dirty="0">
                <a:solidFill>
                  <a:schemeClr val="tx1"/>
                </a:solidFill>
              </a:rPr>
              <a:t>核心觀念：Codespace 是可以丟掉的，Repo 才是本體。下課前先把成果推上 GitHub。</a:t>
            </a:r>
            <a:endParaRPr lang="en-US" sz="203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731520" y="1417320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8000" b="1" dirty="0">
                <a:solidFill>
                  <a:schemeClr val="accent1"/>
                </a:solidFill>
              </a:rPr>
              <a:t>06</a:t>
            </a:r>
            <a:endParaRPr lang="en-US" sz="80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731520" y="26974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 dirty="0">
                <a:solidFill>
                  <a:schemeClr val="tx1"/>
                </a:solidFill>
              </a:rPr>
              <a:t>雲端版 VS Code 及</a:t>
            </a:r>
            <a:endParaRPr lang="en-US" sz="36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 dirty="0">
                <a:solidFill>
                  <a:schemeClr val="tx1"/>
                </a:solidFill>
              </a:rPr>
              <a:t>Ubuntu 命令列入門</a:t>
            </a:r>
            <a:endParaRPr lang="en-US" sz="3600" dirty="0"/>
          </a:p>
        </p:txBody>
      </p:sp>
      <p:sp>
        <p:nvSpPr>
          <p:cNvPr id="4" name="Text 1"/>
          <p:cNvSpPr>
            <a:spLocks noGrp="1"/>
          </p:cNvSpPr>
          <p:nvPr>
            <p:ph type="body" idx="103" hasCustomPrompt="1"/>
          </p:nvPr>
        </p:nvSpPr>
        <p:spPr>
          <a:xfrm>
            <a:off x="731520" y="416052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accent2"/>
                </a:solidFill>
              </a:rPr>
              <a:t>學會操作這台雲端電腦，以及替程式碼「存版本」</a:t>
            </a:r>
            <a:endParaRPr lang="en-US" sz="1800" dirty="0"/>
          </a:p>
        </p:txBody>
      </p:sp>
      <p:sp>
        <p:nvSpPr>
          <p:cNvPr id="5" name="Text 1"/>
          <p:cNvSpPr>
            <a:spLocks noGrp="1"/>
          </p:cNvSpPr>
          <p:nvPr>
            <p:ph type="body" idx="104" hasCustomPrompt="1"/>
          </p:nvPr>
        </p:nvSpPr>
        <p:spPr>
          <a:xfrm>
            <a:off x="731520" y="49377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300" dirty="0">
                <a:solidFill>
                  <a:schemeClr val="tx2"/>
                </a:solidFill>
              </a:rPr>
              <a:t>實作　｜　建議 4 小時</a:t>
            </a:r>
            <a:endParaRPr lang="en-US" sz="13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02920" y="3291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chemeClr val="accent2"/>
                </a:solidFill>
              </a:rPr>
              <a:t>第 6 章　VS Code、命令列、Git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02920" y="603504"/>
            <a:ext cx="8138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chemeClr val="tx1"/>
                </a:solidFill>
              </a:rPr>
              <a:t>畫面上的四個區域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02920" y="64008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2"/>
                </a:solidFill>
              </a:rPr>
              <a:t>第 6 章　VS Code、命令列、Git　·　AI 雲端部署與容器化｜黃懷慶</a:t>
            </a:r>
            <a:endParaRPr lang="en-US" sz="1000" dirty="0"/>
          </a:p>
        </p:txBody>
      </p:sp>
      <p:sp>
        <p:nvSpPr>
          <p:cNvPr id="5" name="card-0-0"/>
          <p:cNvSpPr/>
          <p:nvPr/>
        </p:nvSpPr>
        <p:spPr>
          <a:xfrm>
            <a:off x="502920" y="1286764"/>
            <a:ext cx="3968496" cy="1977085"/>
          </a:xfrm>
          <a:prstGeom prst="roundRect">
            <a:avLst>
              <a:gd name="adj" fmla="val 4625"/>
            </a:avLst>
          </a:prstGeom>
          <a:solidFill>
            <a:schemeClr val="accent5"/>
          </a:solidFill>
          <a:ln w="9525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6" name="card-icon-0-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69644"/>
            <a:ext cx="329184" cy="329184"/>
          </a:xfrm>
          <a:prstGeom prst="rect">
            <a:avLst/>
          </a:prstGeom>
        </p:spPr>
      </p:pic>
      <p:sp>
        <p:nvSpPr>
          <p:cNvPr id="7" name="card-title-0-0"/>
          <p:cNvSpPr txBox="1"/>
          <p:nvPr/>
        </p:nvSpPr>
        <p:spPr>
          <a:xfrm>
            <a:off x="685800" y="1890268"/>
            <a:ext cx="3602736" cy="386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80" b="1" dirty="0">
                <a:solidFill>
                  <a:schemeClr val="tx1"/>
                </a:solidFill>
              </a:rPr>
              <a:t>檔案總管</a:t>
            </a:r>
            <a:endParaRPr lang="en-US" sz="2380" dirty="0"/>
          </a:p>
        </p:txBody>
      </p:sp>
      <p:sp>
        <p:nvSpPr>
          <p:cNvPr id="8" name="card-body-0-0"/>
          <p:cNvSpPr txBox="1"/>
          <p:nvPr/>
        </p:nvSpPr>
        <p:spPr>
          <a:xfrm>
            <a:off x="685800" y="2332025"/>
            <a:ext cx="3602736" cy="748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60" dirty="0">
                <a:solidFill>
                  <a:schemeClr val="tx2"/>
                </a:solidFill>
              </a:rPr>
              <a:t>左側。這台電腦上有哪些檔案。</a:t>
            </a:r>
            <a:endParaRPr lang="en-US" sz="1960" dirty="0"/>
          </a:p>
        </p:txBody>
      </p:sp>
      <p:sp>
        <p:nvSpPr>
          <p:cNvPr id="9" name="card-0-1"/>
          <p:cNvSpPr/>
          <p:nvPr/>
        </p:nvSpPr>
        <p:spPr>
          <a:xfrm>
            <a:off x="4672584" y="1286764"/>
            <a:ext cx="3968496" cy="1977085"/>
          </a:xfrm>
          <a:prstGeom prst="roundRect">
            <a:avLst>
              <a:gd name="adj" fmla="val 4625"/>
            </a:avLst>
          </a:prstGeom>
          <a:solidFill>
            <a:schemeClr val="accent5"/>
          </a:solidFill>
          <a:ln w="9525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10" name="card-icon-0-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5464" y="1469644"/>
            <a:ext cx="329184" cy="329184"/>
          </a:xfrm>
          <a:prstGeom prst="rect">
            <a:avLst/>
          </a:prstGeom>
        </p:spPr>
      </p:pic>
      <p:sp>
        <p:nvSpPr>
          <p:cNvPr id="11" name="card-title-0-1"/>
          <p:cNvSpPr txBox="1"/>
          <p:nvPr/>
        </p:nvSpPr>
        <p:spPr>
          <a:xfrm>
            <a:off x="4855464" y="1890268"/>
            <a:ext cx="3602736" cy="386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80" b="1" dirty="0">
                <a:solidFill>
                  <a:schemeClr val="tx1"/>
                </a:solidFill>
              </a:rPr>
              <a:t>終端機</a:t>
            </a:r>
            <a:endParaRPr lang="en-US" sz="2380" dirty="0"/>
          </a:p>
        </p:txBody>
      </p:sp>
      <p:sp>
        <p:nvSpPr>
          <p:cNvPr id="12" name="card-body-0-1"/>
          <p:cNvSpPr txBox="1"/>
          <p:nvPr/>
        </p:nvSpPr>
        <p:spPr>
          <a:xfrm>
            <a:off x="4855464" y="2332025"/>
            <a:ext cx="3602736" cy="748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60" dirty="0">
                <a:solidFill>
                  <a:schemeClr val="tx2"/>
                </a:solidFill>
              </a:rPr>
              <a:t>下方。用文字下指令的地方。</a:t>
            </a:r>
            <a:endParaRPr lang="en-US" sz="1960" dirty="0"/>
          </a:p>
        </p:txBody>
      </p:sp>
      <p:sp>
        <p:nvSpPr>
          <p:cNvPr id="13" name="card-1-0"/>
          <p:cNvSpPr/>
          <p:nvPr/>
        </p:nvSpPr>
        <p:spPr>
          <a:xfrm>
            <a:off x="502920" y="3465017"/>
            <a:ext cx="3968496" cy="1977085"/>
          </a:xfrm>
          <a:prstGeom prst="roundRect">
            <a:avLst>
              <a:gd name="adj" fmla="val 4625"/>
            </a:avLst>
          </a:prstGeom>
          <a:solidFill>
            <a:schemeClr val="accent5"/>
          </a:solidFill>
          <a:ln w="9525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14" name="card-icon-1-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647897"/>
            <a:ext cx="329184" cy="329184"/>
          </a:xfrm>
          <a:prstGeom prst="rect">
            <a:avLst/>
          </a:prstGeom>
        </p:spPr>
      </p:pic>
      <p:sp>
        <p:nvSpPr>
          <p:cNvPr id="15" name="card-title-1-0"/>
          <p:cNvSpPr txBox="1"/>
          <p:nvPr/>
        </p:nvSpPr>
        <p:spPr>
          <a:xfrm>
            <a:off x="685800" y="4068521"/>
            <a:ext cx="3602736" cy="386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80" b="1" dirty="0">
                <a:solidFill>
                  <a:schemeClr val="tx1"/>
                </a:solidFill>
              </a:rPr>
              <a:t>連接埠</a:t>
            </a:r>
            <a:endParaRPr lang="en-US" sz="2380" dirty="0"/>
          </a:p>
        </p:txBody>
      </p:sp>
      <p:sp>
        <p:nvSpPr>
          <p:cNvPr id="16" name="card-body-1-0"/>
          <p:cNvSpPr txBox="1"/>
          <p:nvPr/>
        </p:nvSpPr>
        <p:spPr>
          <a:xfrm>
            <a:off x="685800" y="4510278"/>
            <a:ext cx="3602736" cy="748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60" dirty="0">
                <a:solidFill>
                  <a:schemeClr val="tx2"/>
                </a:solidFill>
              </a:rPr>
              <a:t>下方分頁。把網站開放出去看。</a:t>
            </a:r>
            <a:endParaRPr lang="en-US" sz="1960" dirty="0"/>
          </a:p>
        </p:txBody>
      </p:sp>
      <p:sp>
        <p:nvSpPr>
          <p:cNvPr id="17" name="card-1-1"/>
          <p:cNvSpPr/>
          <p:nvPr/>
        </p:nvSpPr>
        <p:spPr>
          <a:xfrm>
            <a:off x="4672584" y="3465017"/>
            <a:ext cx="3968496" cy="1977085"/>
          </a:xfrm>
          <a:prstGeom prst="roundRect">
            <a:avLst>
              <a:gd name="adj" fmla="val 4625"/>
            </a:avLst>
          </a:prstGeom>
          <a:solidFill>
            <a:schemeClr val="accent5"/>
          </a:solidFill>
          <a:ln w="9525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18" name="card-icon-1-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5464" y="3647897"/>
            <a:ext cx="329184" cy="329184"/>
          </a:xfrm>
          <a:prstGeom prst="rect">
            <a:avLst/>
          </a:prstGeom>
        </p:spPr>
      </p:pic>
      <p:sp>
        <p:nvSpPr>
          <p:cNvPr id="19" name="card-title-1-1"/>
          <p:cNvSpPr txBox="1"/>
          <p:nvPr/>
        </p:nvSpPr>
        <p:spPr>
          <a:xfrm>
            <a:off x="4855464" y="4068521"/>
            <a:ext cx="3602736" cy="386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80" b="1" dirty="0">
                <a:solidFill>
                  <a:schemeClr val="tx1"/>
                </a:solidFill>
              </a:rPr>
              <a:t>原始碼控制</a:t>
            </a:r>
            <a:endParaRPr lang="en-US" sz="2380" dirty="0"/>
          </a:p>
        </p:txBody>
      </p:sp>
      <p:sp>
        <p:nvSpPr>
          <p:cNvPr id="20" name="card-body-1-1"/>
          <p:cNvSpPr txBox="1"/>
          <p:nvPr/>
        </p:nvSpPr>
        <p:spPr>
          <a:xfrm>
            <a:off x="4855464" y="4510278"/>
            <a:ext cx="3602736" cy="748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60" dirty="0">
                <a:solidFill>
                  <a:schemeClr val="tx2"/>
                </a:solidFill>
              </a:rPr>
              <a:t>左側。存版本、上傳 GitHub。</a:t>
            </a:r>
            <a:endParaRPr lang="en-US" sz="1960" dirty="0"/>
          </a:p>
        </p:txBody>
      </p:sp>
      <p:sp>
        <p:nvSpPr>
          <p:cNvPr id="21" name="note-box"/>
          <p:cNvSpPr/>
          <p:nvPr/>
        </p:nvSpPr>
        <p:spPr>
          <a:xfrm>
            <a:off x="502920" y="5643270"/>
            <a:ext cx="8138160" cy="556362"/>
          </a:xfrm>
          <a:prstGeom prst="roundRect">
            <a:avLst>
              <a:gd name="adj" fmla="val 1314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note"/>
          <p:cNvSpPr txBox="1"/>
          <p:nvPr/>
        </p:nvSpPr>
        <p:spPr>
          <a:xfrm>
            <a:off x="685800" y="5643270"/>
            <a:ext cx="7772400" cy="556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60" dirty="0">
                <a:solidFill>
                  <a:schemeClr val="tx1"/>
                </a:solidFill>
              </a:rPr>
              <a:t>瀏覽器版的快捷鍵常被瀏覽器搶走。要叫出指令選單，請按 F1。</a:t>
            </a:r>
            <a:endParaRPr lang="en-US" sz="196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02920" y="3291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chemeClr val="accent2"/>
                </a:solidFill>
              </a:rPr>
              <a:t>第 6 章　VS Code、命令列、Git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02920" y="603504"/>
            <a:ext cx="8138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chemeClr val="tx1"/>
                </a:solidFill>
              </a:rPr>
              <a:t>為什麼要學「打指令」？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02920" y="64008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2"/>
                </a:solidFill>
              </a:rPr>
              <a:t>第 6 章　VS Code、命令列、Git　·　AI 雲端部署與容器化｜黃懷慶</a:t>
            </a:r>
            <a:endParaRPr lang="en-US" sz="1000" dirty="0"/>
          </a:p>
        </p:txBody>
      </p:sp>
      <p:sp>
        <p:nvSpPr>
          <p:cNvPr id="5" name="card-0-0"/>
          <p:cNvSpPr/>
          <p:nvPr/>
        </p:nvSpPr>
        <p:spPr>
          <a:xfrm>
            <a:off x="502920" y="1286764"/>
            <a:ext cx="3968496" cy="2520848"/>
          </a:xfrm>
          <a:prstGeom prst="roundRect">
            <a:avLst>
              <a:gd name="adj" fmla="val 3627"/>
            </a:avLst>
          </a:prstGeom>
          <a:solidFill>
            <a:schemeClr val="accent5"/>
          </a:solidFill>
          <a:ln w="9525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6" name="card-icon-0-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69644"/>
            <a:ext cx="329184" cy="329184"/>
          </a:xfrm>
          <a:prstGeom prst="rect">
            <a:avLst/>
          </a:prstGeom>
        </p:spPr>
      </p:pic>
      <p:sp>
        <p:nvSpPr>
          <p:cNvPr id="7" name="card-title-0-0"/>
          <p:cNvSpPr txBox="1"/>
          <p:nvPr/>
        </p:nvSpPr>
        <p:spPr>
          <a:xfrm>
            <a:off x="685800" y="1890268"/>
            <a:ext cx="3602736" cy="400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65" b="1" dirty="0">
                <a:solidFill>
                  <a:schemeClr val="tx1"/>
                </a:solidFill>
              </a:rPr>
              <a:t>可以重現</a:t>
            </a:r>
            <a:endParaRPr lang="en-US" sz="2465" dirty="0"/>
          </a:p>
        </p:txBody>
      </p:sp>
      <p:sp>
        <p:nvSpPr>
          <p:cNvPr id="8" name="card-body-0-0"/>
          <p:cNvSpPr txBox="1"/>
          <p:nvPr/>
        </p:nvSpPr>
        <p:spPr>
          <a:xfrm>
            <a:off x="685800" y="2345842"/>
            <a:ext cx="3602736" cy="1278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30" dirty="0">
                <a:solidFill>
                  <a:schemeClr val="tx2"/>
                </a:solidFill>
              </a:rPr>
              <a:t>同樣的指令，誰來做結果都一樣。點滑鼠很難寫成步驟。</a:t>
            </a:r>
            <a:endParaRPr lang="en-US" sz="2030" dirty="0"/>
          </a:p>
        </p:txBody>
      </p:sp>
      <p:sp>
        <p:nvSpPr>
          <p:cNvPr id="9" name="card-0-1"/>
          <p:cNvSpPr/>
          <p:nvPr/>
        </p:nvSpPr>
        <p:spPr>
          <a:xfrm>
            <a:off x="4672584" y="1286764"/>
            <a:ext cx="3968496" cy="2520848"/>
          </a:xfrm>
          <a:prstGeom prst="roundRect">
            <a:avLst>
              <a:gd name="adj" fmla="val 3627"/>
            </a:avLst>
          </a:prstGeom>
          <a:solidFill>
            <a:schemeClr val="accent5"/>
          </a:solidFill>
          <a:ln w="9525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10" name="card-icon-0-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5464" y="1469644"/>
            <a:ext cx="329184" cy="329184"/>
          </a:xfrm>
          <a:prstGeom prst="rect">
            <a:avLst/>
          </a:prstGeom>
        </p:spPr>
      </p:pic>
      <p:sp>
        <p:nvSpPr>
          <p:cNvPr id="11" name="card-title-0-1"/>
          <p:cNvSpPr txBox="1"/>
          <p:nvPr/>
        </p:nvSpPr>
        <p:spPr>
          <a:xfrm>
            <a:off x="4855464" y="1890268"/>
            <a:ext cx="3602736" cy="400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65" b="1" dirty="0">
                <a:solidFill>
                  <a:schemeClr val="tx1"/>
                </a:solidFill>
              </a:rPr>
              <a:t>可以複製貼上</a:t>
            </a:r>
            <a:endParaRPr lang="en-US" sz="2465" dirty="0"/>
          </a:p>
        </p:txBody>
      </p:sp>
      <p:sp>
        <p:nvSpPr>
          <p:cNvPr id="12" name="card-body-0-1"/>
          <p:cNvSpPr txBox="1"/>
          <p:nvPr/>
        </p:nvSpPr>
        <p:spPr>
          <a:xfrm>
            <a:off x="4855464" y="2345842"/>
            <a:ext cx="3602736" cy="1278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30" dirty="0">
                <a:solidFill>
                  <a:schemeClr val="tx2"/>
                </a:solidFill>
              </a:rPr>
              <a:t>課程 Repo 裡的指令，直接貼上就能執行。</a:t>
            </a:r>
            <a:endParaRPr lang="en-US" sz="2030" dirty="0"/>
          </a:p>
        </p:txBody>
      </p:sp>
      <p:sp>
        <p:nvSpPr>
          <p:cNvPr id="13" name="card-1-0"/>
          <p:cNvSpPr/>
          <p:nvPr/>
        </p:nvSpPr>
        <p:spPr>
          <a:xfrm>
            <a:off x="502920" y="4008780"/>
            <a:ext cx="3968496" cy="2190852"/>
          </a:xfrm>
          <a:prstGeom prst="roundRect">
            <a:avLst>
              <a:gd name="adj" fmla="val 4174"/>
            </a:avLst>
          </a:prstGeom>
          <a:solidFill>
            <a:schemeClr val="accent5"/>
          </a:solidFill>
          <a:ln w="9525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14" name="card-icon-1-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191660"/>
            <a:ext cx="329184" cy="329184"/>
          </a:xfrm>
          <a:prstGeom prst="rect">
            <a:avLst/>
          </a:prstGeom>
        </p:spPr>
      </p:pic>
      <p:sp>
        <p:nvSpPr>
          <p:cNvPr id="15" name="card-title-1-0"/>
          <p:cNvSpPr txBox="1"/>
          <p:nvPr/>
        </p:nvSpPr>
        <p:spPr>
          <a:xfrm>
            <a:off x="685800" y="4612284"/>
            <a:ext cx="3602736" cy="400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65" b="1" dirty="0">
                <a:solidFill>
                  <a:schemeClr val="tx1"/>
                </a:solidFill>
              </a:rPr>
              <a:t>伺服器沒有滑鼠</a:t>
            </a:r>
            <a:endParaRPr lang="en-US" sz="2465" dirty="0"/>
          </a:p>
        </p:txBody>
      </p:sp>
      <p:sp>
        <p:nvSpPr>
          <p:cNvPr id="16" name="card-body-1-0"/>
          <p:cNvSpPr txBox="1"/>
          <p:nvPr/>
        </p:nvSpPr>
        <p:spPr>
          <a:xfrm>
            <a:off x="685800" y="5067859"/>
            <a:ext cx="3602736" cy="948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30" dirty="0">
                <a:solidFill>
                  <a:schemeClr val="tx2"/>
                </a:solidFill>
              </a:rPr>
              <a:t>雲端上的機器幾乎都只能用指令操作。</a:t>
            </a:r>
            <a:endParaRPr lang="en-US" sz="2030" dirty="0"/>
          </a:p>
        </p:txBody>
      </p:sp>
      <p:sp>
        <p:nvSpPr>
          <p:cNvPr id="17" name="card-1-1"/>
          <p:cNvSpPr/>
          <p:nvPr/>
        </p:nvSpPr>
        <p:spPr>
          <a:xfrm>
            <a:off x="4672584" y="4008780"/>
            <a:ext cx="3968496" cy="2190852"/>
          </a:xfrm>
          <a:prstGeom prst="roundRect">
            <a:avLst>
              <a:gd name="adj" fmla="val 4174"/>
            </a:avLst>
          </a:prstGeom>
          <a:solidFill>
            <a:schemeClr val="accent5"/>
          </a:solidFill>
          <a:ln w="9525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18" name="card-icon-1-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5464" y="4191660"/>
            <a:ext cx="329184" cy="329184"/>
          </a:xfrm>
          <a:prstGeom prst="rect">
            <a:avLst/>
          </a:prstGeom>
        </p:spPr>
      </p:pic>
      <p:sp>
        <p:nvSpPr>
          <p:cNvPr id="19" name="card-title-1-1"/>
          <p:cNvSpPr txBox="1"/>
          <p:nvPr/>
        </p:nvSpPr>
        <p:spPr>
          <a:xfrm>
            <a:off x="4855464" y="4612284"/>
            <a:ext cx="3602736" cy="400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65" b="1" dirty="0">
                <a:solidFill>
                  <a:schemeClr val="tx1"/>
                </a:solidFill>
              </a:rPr>
              <a:t>資料都這樣寫</a:t>
            </a:r>
            <a:endParaRPr lang="en-US" sz="2465" dirty="0"/>
          </a:p>
        </p:txBody>
      </p:sp>
      <p:sp>
        <p:nvSpPr>
          <p:cNvPr id="20" name="card-body-1-1"/>
          <p:cNvSpPr txBox="1"/>
          <p:nvPr/>
        </p:nvSpPr>
        <p:spPr>
          <a:xfrm>
            <a:off x="4855464" y="5067859"/>
            <a:ext cx="3602736" cy="948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30" dirty="0">
                <a:solidFill>
                  <a:schemeClr val="tx2"/>
                </a:solidFill>
              </a:rPr>
              <a:t>網路上的教學和官方文件，幾乎都用指令說明。</a:t>
            </a:r>
            <a:endParaRPr lang="en-US" sz="203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02920" y="3291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chemeClr val="accent2"/>
                </a:solidFill>
              </a:rPr>
              <a:t>第 6 章　VS Code、命令列、Git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02920" y="603504"/>
            <a:ext cx="8138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chemeClr val="tx1"/>
                </a:solidFill>
              </a:rPr>
              <a:t>命令列的三個必懂觀念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02920" y="64008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2"/>
                </a:solidFill>
              </a:rPr>
              <a:t>第 6 章　VS Code、命令列、Git　·　AI 雲端部署與容器化｜黃懷慶</a:t>
            </a:r>
            <a:endParaRPr lang="en-US" sz="1000" dirty="0"/>
          </a:p>
        </p:txBody>
      </p:sp>
      <p:graphicFrame>
        <p:nvGraphicFramePr>
          <p:cNvPr id="50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6764"/>
          <a:ext cx="8138160" cy="3294150"/>
        </p:xfrm>
        <a:graphic>
          <a:graphicData uri="http://schemas.openxmlformats.org/drawingml/2006/table">
            <a:tbl>
              <a:tblPr/>
              <a:tblGrid>
                <a:gridCol w="21159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52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69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9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b="1" dirty="0">
                          <a:solidFill>
                            <a:schemeClr val="bg1"/>
                          </a:solidFill>
                        </a:rPr>
                        <a:t>觀念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b="1" dirty="0">
                          <a:solidFill>
                            <a:schemeClr val="bg1"/>
                          </a:solidFill>
                        </a:rPr>
                        <a:t>白話解釋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b="1" dirty="0">
                          <a:solidFill>
                            <a:schemeClr val="bg1"/>
                          </a:solidFill>
                        </a:rPr>
                        <a:t>為什麼重要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5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絕對路徑 vs 相對路徑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完整地址 vs「從這裡往前走兩條街」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相對路徑的結果，取決於你現在站在哪裡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5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環境變數只活在當下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寫在白板上的便條，換一間教室就不見了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要長期保存，必須寫進檔案或保管箱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5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需要輸入的指令要單獨貼上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一次貼一整段，下一行會被當成你的回答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否則資料會寫錯，後面的指令也不會執行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02920" y="3291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chemeClr val="accent2"/>
                </a:solidFill>
              </a:rPr>
              <a:t>第 6 章　VS Code、命令列、Git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02920" y="603504"/>
            <a:ext cx="8138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chemeClr val="tx1"/>
                </a:solidFill>
              </a:rPr>
              <a:t>第一個指令練習：確認金鑰能用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02920" y="64008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2"/>
                </a:solidFill>
              </a:rPr>
              <a:t>第 6 章　VS Code、命令列、Git　·　AI 雲端部署與容器化｜黃懷慶</a:t>
            </a:r>
            <a:endParaRPr lang="en-US" sz="1000" dirty="0"/>
          </a:p>
        </p:txBody>
      </p:sp>
      <p:sp>
        <p:nvSpPr>
          <p:cNvPr id="5" name="step-0"/>
          <p:cNvSpPr/>
          <p:nvPr/>
        </p:nvSpPr>
        <p:spPr>
          <a:xfrm>
            <a:off x="502920" y="1286764"/>
            <a:ext cx="2407920" cy="2301850"/>
          </a:xfrm>
          <a:prstGeom prst="roundRect">
            <a:avLst>
              <a:gd name="adj" fmla="val 3972"/>
            </a:avLst>
          </a:prstGeom>
          <a:solidFill>
            <a:schemeClr val="accent5"/>
          </a:solidFill>
          <a:ln w="9525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tep-title-0"/>
          <p:cNvSpPr txBox="1"/>
          <p:nvPr/>
        </p:nvSpPr>
        <p:spPr>
          <a:xfrm>
            <a:off x="649224" y="1433068"/>
            <a:ext cx="2115312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75" b="1" dirty="0">
                <a:solidFill>
                  <a:schemeClr val="tx1"/>
                </a:solidFill>
              </a:rPr>
              <a:t>先問：我能用什麼？</a:t>
            </a:r>
            <a:endParaRPr lang="en-US" sz="2175" dirty="0"/>
          </a:p>
        </p:txBody>
      </p:sp>
      <p:sp>
        <p:nvSpPr>
          <p:cNvPr id="7" name="step-body-0"/>
          <p:cNvSpPr txBox="1"/>
          <p:nvPr/>
        </p:nvSpPr>
        <p:spPr>
          <a:xfrm>
            <a:off x="649224" y="2213356"/>
            <a:ext cx="2115312" cy="1228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58" dirty="0">
                <a:solidFill>
                  <a:schemeClr val="tx2"/>
                </a:solidFill>
              </a:rPr>
              <a:t>請 API 列出這把金鑰能用的模型</a:t>
            </a:r>
            <a:endParaRPr lang="en-US" sz="1958" dirty="0"/>
          </a:p>
        </p:txBody>
      </p:sp>
      <p:sp>
        <p:nvSpPr>
          <p:cNvPr id="8" name="arrow-0"/>
          <p:cNvSpPr/>
          <p:nvPr/>
        </p:nvSpPr>
        <p:spPr>
          <a:xfrm>
            <a:off x="3002280" y="2337105"/>
            <a:ext cx="274320" cy="201168"/>
          </a:xfrm>
          <a:prstGeom prst="rightArrow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step-1"/>
          <p:cNvSpPr/>
          <p:nvPr/>
        </p:nvSpPr>
        <p:spPr>
          <a:xfrm>
            <a:off x="3368040" y="1286764"/>
            <a:ext cx="2407920" cy="2301850"/>
          </a:xfrm>
          <a:prstGeom prst="roundRect">
            <a:avLst>
              <a:gd name="adj" fmla="val 3972"/>
            </a:avLst>
          </a:prstGeom>
          <a:solidFill>
            <a:schemeClr val="accent5"/>
          </a:solidFill>
          <a:ln w="9525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tep-title-1"/>
          <p:cNvSpPr txBox="1"/>
          <p:nvPr/>
        </p:nvSpPr>
        <p:spPr>
          <a:xfrm>
            <a:off x="3514344" y="1433068"/>
            <a:ext cx="2115312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75" b="1" dirty="0">
                <a:solidFill>
                  <a:schemeClr val="tx1"/>
                </a:solidFill>
              </a:rPr>
              <a:t>再試：呼叫一次</a:t>
            </a:r>
            <a:endParaRPr lang="en-US" sz="2175" dirty="0"/>
          </a:p>
        </p:txBody>
      </p:sp>
      <p:sp>
        <p:nvSpPr>
          <p:cNvPr id="11" name="step-body-1"/>
          <p:cNvSpPr txBox="1"/>
          <p:nvPr/>
        </p:nvSpPr>
        <p:spPr>
          <a:xfrm>
            <a:off x="3514344" y="2213356"/>
            <a:ext cx="2115312" cy="1228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58" dirty="0">
                <a:solidFill>
                  <a:schemeClr val="tx2"/>
                </a:solidFill>
              </a:rPr>
              <a:t>用剛才查到的模型名稱問一個問題</a:t>
            </a:r>
            <a:endParaRPr lang="en-US" sz="1958" dirty="0"/>
          </a:p>
        </p:txBody>
      </p:sp>
      <p:sp>
        <p:nvSpPr>
          <p:cNvPr id="12" name="arrow-1"/>
          <p:cNvSpPr/>
          <p:nvPr/>
        </p:nvSpPr>
        <p:spPr>
          <a:xfrm>
            <a:off x="5867400" y="2337105"/>
            <a:ext cx="274320" cy="201168"/>
          </a:xfrm>
          <a:prstGeom prst="rightArrow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step-2"/>
          <p:cNvSpPr/>
          <p:nvPr/>
        </p:nvSpPr>
        <p:spPr>
          <a:xfrm>
            <a:off x="6233160" y="1286764"/>
            <a:ext cx="2407920" cy="2301850"/>
          </a:xfrm>
          <a:prstGeom prst="roundRect">
            <a:avLst>
              <a:gd name="adj" fmla="val 3972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step-title-2"/>
          <p:cNvSpPr txBox="1"/>
          <p:nvPr/>
        </p:nvSpPr>
        <p:spPr>
          <a:xfrm>
            <a:off x="6379464" y="1433068"/>
            <a:ext cx="2115312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75" b="1" dirty="0">
                <a:solidFill>
                  <a:schemeClr val="tx1"/>
                </a:solidFill>
              </a:rPr>
              <a:t>看結果：讀錯誤碼</a:t>
            </a:r>
            <a:endParaRPr lang="en-US" sz="2175" dirty="0"/>
          </a:p>
        </p:txBody>
      </p:sp>
      <p:sp>
        <p:nvSpPr>
          <p:cNvPr id="15" name="step-body-2"/>
          <p:cNvSpPr txBox="1"/>
          <p:nvPr/>
        </p:nvSpPr>
        <p:spPr>
          <a:xfrm>
            <a:off x="6379464" y="2213356"/>
            <a:ext cx="2115312" cy="1228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58" dirty="0">
                <a:solidFill>
                  <a:schemeClr val="tx1"/>
                </a:solidFill>
              </a:rPr>
              <a:t>失敗時，錯誤碼會告訴你原因</a:t>
            </a:r>
            <a:endParaRPr lang="en-US" sz="1958" dirty="0"/>
          </a:p>
        </p:txBody>
      </p:sp>
      <p:sp>
        <p:nvSpPr>
          <p:cNvPr id="16" name="note-box"/>
          <p:cNvSpPr/>
          <p:nvPr/>
        </p:nvSpPr>
        <p:spPr>
          <a:xfrm>
            <a:off x="502920" y="3789782"/>
            <a:ext cx="8138160" cy="1227734"/>
          </a:xfrm>
          <a:prstGeom prst="roundRect">
            <a:avLst>
              <a:gd name="adj" fmla="val 595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note"/>
          <p:cNvSpPr txBox="1"/>
          <p:nvPr/>
        </p:nvSpPr>
        <p:spPr>
          <a:xfrm>
            <a:off x="685800" y="3789782"/>
            <a:ext cx="7772400" cy="12277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30" dirty="0">
                <a:solidFill>
                  <a:schemeClr val="tx1"/>
                </a:solidFill>
              </a:rPr>
              <a:t>這個流程步驟多，剛接觸時遇到錯誤訊息很常見。錯誤訊息是線索：先問「我能用什麼」，再對照錯誤碼。→ 指令：課程 Repo「第 6 章」</a:t>
            </a:r>
            <a:endParaRPr lang="en-US" sz="203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02920" y="3291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chemeClr val="accent2"/>
                </a:solidFill>
              </a:rPr>
              <a:t>第 6 章　VS Code、命令列、Git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02920" y="603504"/>
            <a:ext cx="8138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chemeClr val="tx1"/>
                </a:solidFill>
              </a:rPr>
              <a:t>Git 的四個格子：像寫報告到寄出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02920" y="64008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2"/>
                </a:solidFill>
              </a:rPr>
              <a:t>第 6 章　VS Code、命令列、Git　·　AI 雲端部署與容器化｜黃懷慶</a:t>
            </a:r>
            <a:endParaRPr lang="en-US" sz="1000" dirty="0"/>
          </a:p>
        </p:txBody>
      </p:sp>
      <p:sp>
        <p:nvSpPr>
          <p:cNvPr id="5" name="step-0"/>
          <p:cNvSpPr/>
          <p:nvPr/>
        </p:nvSpPr>
        <p:spPr>
          <a:xfrm>
            <a:off x="502920" y="1286764"/>
            <a:ext cx="1691640" cy="2301850"/>
          </a:xfrm>
          <a:prstGeom prst="roundRect">
            <a:avLst>
              <a:gd name="adj" fmla="val 5405"/>
            </a:avLst>
          </a:prstGeom>
          <a:solidFill>
            <a:schemeClr val="accent5"/>
          </a:solidFill>
          <a:ln w="9525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tep-title-0"/>
          <p:cNvSpPr txBox="1"/>
          <p:nvPr/>
        </p:nvSpPr>
        <p:spPr>
          <a:xfrm>
            <a:off x="649224" y="1433068"/>
            <a:ext cx="139903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75" b="1" dirty="0">
                <a:solidFill>
                  <a:schemeClr val="tx1"/>
                </a:solidFill>
              </a:rPr>
              <a:t>工作目錄</a:t>
            </a:r>
            <a:endParaRPr lang="en-US" sz="2175" dirty="0"/>
          </a:p>
        </p:txBody>
      </p:sp>
      <p:sp>
        <p:nvSpPr>
          <p:cNvPr id="7" name="step-body-0"/>
          <p:cNvSpPr txBox="1"/>
          <p:nvPr/>
        </p:nvSpPr>
        <p:spPr>
          <a:xfrm>
            <a:off x="649224" y="1859788"/>
            <a:ext cx="1399032" cy="1582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58" dirty="0">
                <a:solidFill>
                  <a:schemeClr val="tx2"/>
                </a:solidFill>
              </a:rPr>
              <a:t>你正在寫的草稿</a:t>
            </a:r>
            <a:endParaRPr lang="en-US" sz="1958" dirty="0"/>
          </a:p>
        </p:txBody>
      </p:sp>
      <p:sp>
        <p:nvSpPr>
          <p:cNvPr id="8" name="arrow-0"/>
          <p:cNvSpPr/>
          <p:nvPr/>
        </p:nvSpPr>
        <p:spPr>
          <a:xfrm>
            <a:off x="2286000" y="2337105"/>
            <a:ext cx="274320" cy="201168"/>
          </a:xfrm>
          <a:prstGeom prst="rightArrow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step-1"/>
          <p:cNvSpPr/>
          <p:nvPr/>
        </p:nvSpPr>
        <p:spPr>
          <a:xfrm>
            <a:off x="2651760" y="1286764"/>
            <a:ext cx="1691640" cy="2301850"/>
          </a:xfrm>
          <a:prstGeom prst="roundRect">
            <a:avLst>
              <a:gd name="adj" fmla="val 5405"/>
            </a:avLst>
          </a:prstGeom>
          <a:solidFill>
            <a:schemeClr val="accent5"/>
          </a:solidFill>
          <a:ln w="9525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tep-title-1"/>
          <p:cNvSpPr txBox="1"/>
          <p:nvPr/>
        </p:nvSpPr>
        <p:spPr>
          <a:xfrm>
            <a:off x="2798064" y="1433068"/>
            <a:ext cx="139903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75" b="1" dirty="0">
                <a:solidFill>
                  <a:schemeClr val="tx1"/>
                </a:solidFill>
              </a:rPr>
              <a:t>暫存區</a:t>
            </a:r>
            <a:endParaRPr lang="en-US" sz="2175" dirty="0"/>
          </a:p>
        </p:txBody>
      </p:sp>
      <p:sp>
        <p:nvSpPr>
          <p:cNvPr id="11" name="step-body-1"/>
          <p:cNvSpPr txBox="1"/>
          <p:nvPr/>
        </p:nvSpPr>
        <p:spPr>
          <a:xfrm>
            <a:off x="2798064" y="1859788"/>
            <a:ext cx="1399032" cy="1582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58" dirty="0">
                <a:solidFill>
                  <a:schemeClr val="tx2"/>
                </a:solidFill>
              </a:rPr>
              <a:t>挑出這次要交的頁面</a:t>
            </a:r>
            <a:endParaRPr lang="en-US" sz="1958" dirty="0"/>
          </a:p>
        </p:txBody>
      </p:sp>
      <p:sp>
        <p:nvSpPr>
          <p:cNvPr id="12" name="arrow-1"/>
          <p:cNvSpPr/>
          <p:nvPr/>
        </p:nvSpPr>
        <p:spPr>
          <a:xfrm>
            <a:off x="4434840" y="2337105"/>
            <a:ext cx="274320" cy="201168"/>
          </a:xfrm>
          <a:prstGeom prst="rightArrow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step-2"/>
          <p:cNvSpPr/>
          <p:nvPr/>
        </p:nvSpPr>
        <p:spPr>
          <a:xfrm>
            <a:off x="4800600" y="1286764"/>
            <a:ext cx="1691640" cy="2301850"/>
          </a:xfrm>
          <a:prstGeom prst="roundRect">
            <a:avLst>
              <a:gd name="adj" fmla="val 5405"/>
            </a:avLst>
          </a:prstGeom>
          <a:solidFill>
            <a:schemeClr val="accent5"/>
          </a:solidFill>
          <a:ln w="9525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tep-title-2"/>
          <p:cNvSpPr txBox="1"/>
          <p:nvPr/>
        </p:nvSpPr>
        <p:spPr>
          <a:xfrm>
            <a:off x="4946904" y="1433068"/>
            <a:ext cx="1399032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75" b="1" dirty="0">
                <a:solidFill>
                  <a:schemeClr val="tx1"/>
                </a:solidFill>
              </a:rPr>
              <a:t>本地儲存庫</a:t>
            </a:r>
            <a:endParaRPr lang="en-US" sz="2175" dirty="0"/>
          </a:p>
        </p:txBody>
      </p:sp>
      <p:sp>
        <p:nvSpPr>
          <p:cNvPr id="15" name="step-body-2"/>
          <p:cNvSpPr txBox="1"/>
          <p:nvPr/>
        </p:nvSpPr>
        <p:spPr>
          <a:xfrm>
            <a:off x="4946904" y="2213356"/>
            <a:ext cx="1399032" cy="1228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58" dirty="0">
                <a:solidFill>
                  <a:schemeClr val="tx2"/>
                </a:solidFill>
              </a:rPr>
              <a:t>裝訂成冊，蓋上日期</a:t>
            </a:r>
            <a:endParaRPr lang="en-US" sz="1958" dirty="0"/>
          </a:p>
        </p:txBody>
      </p:sp>
      <p:sp>
        <p:nvSpPr>
          <p:cNvPr id="16" name="arrow-2"/>
          <p:cNvSpPr/>
          <p:nvPr/>
        </p:nvSpPr>
        <p:spPr>
          <a:xfrm>
            <a:off x="6583680" y="2337105"/>
            <a:ext cx="274320" cy="201168"/>
          </a:xfrm>
          <a:prstGeom prst="rightArrow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step-3"/>
          <p:cNvSpPr/>
          <p:nvPr/>
        </p:nvSpPr>
        <p:spPr>
          <a:xfrm>
            <a:off x="6949440" y="1286764"/>
            <a:ext cx="1691640" cy="2301850"/>
          </a:xfrm>
          <a:prstGeom prst="roundRect">
            <a:avLst>
              <a:gd name="adj" fmla="val 5405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step-title-3"/>
          <p:cNvSpPr txBox="1"/>
          <p:nvPr/>
        </p:nvSpPr>
        <p:spPr>
          <a:xfrm>
            <a:off x="7095744" y="1433068"/>
            <a:ext cx="1399032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75" b="1" dirty="0">
                <a:solidFill>
                  <a:schemeClr val="tx1"/>
                </a:solidFill>
              </a:rPr>
              <a:t>遠端 GitHub</a:t>
            </a:r>
            <a:endParaRPr lang="en-US" sz="2175" dirty="0"/>
          </a:p>
        </p:txBody>
      </p:sp>
      <p:sp>
        <p:nvSpPr>
          <p:cNvPr id="19" name="step-body-3"/>
          <p:cNvSpPr txBox="1"/>
          <p:nvPr/>
        </p:nvSpPr>
        <p:spPr>
          <a:xfrm>
            <a:off x="7095744" y="2213356"/>
            <a:ext cx="1399032" cy="1228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58" dirty="0">
                <a:solidFill>
                  <a:schemeClr val="tx1"/>
                </a:solidFill>
              </a:rPr>
              <a:t>寄出去，別人也看得到</a:t>
            </a:r>
            <a:endParaRPr lang="en-US" sz="1958" dirty="0"/>
          </a:p>
        </p:txBody>
      </p:sp>
      <p:sp>
        <p:nvSpPr>
          <p:cNvPr id="20" name="note-box"/>
          <p:cNvSpPr/>
          <p:nvPr/>
        </p:nvSpPr>
        <p:spPr>
          <a:xfrm>
            <a:off x="502920" y="3789782"/>
            <a:ext cx="8138160" cy="567741"/>
          </a:xfrm>
          <a:prstGeom prst="roundRect">
            <a:avLst>
              <a:gd name="adj" fmla="val 12885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note"/>
          <p:cNvSpPr txBox="1"/>
          <p:nvPr/>
        </p:nvSpPr>
        <p:spPr>
          <a:xfrm>
            <a:off x="685800" y="3789782"/>
            <a:ext cx="7772400" cy="5677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30" dirty="0">
                <a:solidFill>
                  <a:schemeClr val="tx1"/>
                </a:solidFill>
              </a:rPr>
              <a:t>三個動作：挑出來＝add　·　裝訂＝commit　·　寄出＝push</a:t>
            </a:r>
            <a:endParaRPr lang="en-US" sz="203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02920" y="3291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chemeClr val="accent2"/>
                </a:solidFill>
              </a:rPr>
              <a:t>第 6 章　VS Code、命令列、Git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02920" y="603504"/>
            <a:ext cx="8138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chemeClr val="tx1"/>
                </a:solidFill>
              </a:rPr>
              <a:t>「原始碼控制」面板上的按鈕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02920" y="64008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2"/>
                </a:solidFill>
              </a:rPr>
              <a:t>第 6 章　VS Code、命令列、Git　·　AI 雲端部署與容器化｜黃懷慶</a:t>
            </a:r>
            <a:endParaRPr lang="en-US" sz="1000" dirty="0"/>
          </a:p>
        </p:txBody>
      </p:sp>
      <p:graphicFrame>
        <p:nvGraphicFramePr>
          <p:cNvPr id="53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6764"/>
          <a:ext cx="8138160" cy="4026000"/>
        </p:xfrm>
        <a:graphic>
          <a:graphicData uri="http://schemas.openxmlformats.org/drawingml/2006/table">
            <a:tbl>
              <a:tblPr/>
              <a:tblGrid>
                <a:gridCol w="19531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52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97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9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b="1" dirty="0">
                          <a:solidFill>
                            <a:schemeClr val="bg1"/>
                          </a:solidFill>
                        </a:rPr>
                        <a:t>按鈕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b="1" dirty="0">
                          <a:solidFill>
                            <a:schemeClr val="bg1"/>
                          </a:solidFill>
                        </a:rPr>
                        <a:t>做了什麼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b="1" dirty="0">
                          <a:solidFill>
                            <a:schemeClr val="bg1"/>
                          </a:solidFill>
                        </a:rPr>
                        <a:t>注意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9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＋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放進暫存區（挑出來）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9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－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從暫存區拿出來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檔案內容不會改變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5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↶（丟棄變更）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把檔案恢復成上一個版本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你剛寫的東西會消失，無法復原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9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Commit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存一個版本快照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要先寫一句說明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5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Sync（同步）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先下載別人的修改，再上傳你的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其實是兩個動作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note"/>
          <p:cNvSpPr txBox="1"/>
          <p:nvPr/>
        </p:nvSpPr>
        <p:spPr>
          <a:xfrm>
            <a:off x="502920" y="5513934"/>
            <a:ext cx="8138160" cy="329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30" b="1" dirty="0">
                <a:solidFill>
                  <a:schemeClr val="accent2"/>
                </a:solidFill>
              </a:rPr>
              <a:t>「－」和「↶」長得很像，但後果天差地遠。</a:t>
            </a:r>
            <a:endParaRPr lang="en-US" sz="203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02920" y="3291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chemeClr val="accent2"/>
                </a:solidFill>
              </a:rPr>
              <a:t>第 6 章　VS Code、命令列、Git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02920" y="603504"/>
            <a:ext cx="8138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chemeClr val="tx1"/>
                </a:solidFill>
              </a:rPr>
              <a:t>面板的四個陷阱，以及我們的解法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02920" y="64008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2"/>
                </a:solidFill>
              </a:rPr>
              <a:t>第 6 章　VS Code、命令列、Git　·　AI 雲端部署與容器化｜黃懷慶</a:t>
            </a:r>
            <a:endParaRPr lang="en-US" sz="1000" dirty="0"/>
          </a:p>
        </p:txBody>
      </p:sp>
      <p:graphicFrame>
        <p:nvGraphicFramePr>
          <p:cNvPr id="54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6764"/>
          <a:ext cx="8138160" cy="3477030"/>
        </p:xfrm>
        <a:graphic>
          <a:graphicData uri="http://schemas.openxmlformats.org/drawingml/2006/table">
            <a:tbl>
              <a:tblPr/>
              <a:tblGrid>
                <a:gridCol w="2929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084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9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b="1" dirty="0">
                          <a:solidFill>
                            <a:schemeClr val="bg1"/>
                          </a:solidFill>
                        </a:rPr>
                        <a:t>陷阱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b="1" dirty="0">
                          <a:solidFill>
                            <a:schemeClr val="bg1"/>
                          </a:solidFill>
                        </a:rPr>
                        <a:t>會發生什麼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5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藍色按鈕會「變身」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Commit 完變成 Sync，順手一按就上傳了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5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會記住上次的選擇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用過一次「Commit 並上傳」，之後都這樣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9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點了「Always」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之後每次都把所有檔案一起存進去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9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Sync 會先下載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突然跳出合併畫面，不知道發生什麼事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note"/>
          <p:cNvSpPr txBox="1"/>
          <p:nvPr/>
        </p:nvSpPr>
        <p:spPr>
          <a:xfrm>
            <a:off x="502920" y="4964963"/>
            <a:ext cx="8138160" cy="659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30" b="1" dirty="0">
                <a:solidFill>
                  <a:schemeClr val="accent2"/>
                </a:solidFill>
              </a:rPr>
              <a:t>解法：課程 Repo 已附上一份設定檔，讓每個按鈕只做一件事。→ 課程 Repo「第 6 章」</a:t>
            </a:r>
            <a:endParaRPr lang="en-US" sz="203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02920" y="3291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chemeClr val="accent2"/>
                </a:solidFill>
              </a:rPr>
              <a:t>第 6 章　VS Code、命令列、Git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02920" y="603504"/>
            <a:ext cx="8138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chemeClr val="tx1"/>
                </a:solidFill>
              </a:rPr>
              <a:t>為什麼不直接在主線上修改？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02920" y="64008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2"/>
                </a:solidFill>
              </a:rPr>
              <a:t>第 6 章　VS Code、命令列、Git　·　AI 雲端部署與容器化｜黃懷慶</a:t>
            </a:r>
            <a:endParaRPr lang="en-US" sz="1000" dirty="0"/>
          </a:p>
        </p:txBody>
      </p:sp>
      <p:sp>
        <p:nvSpPr>
          <p:cNvPr id="5" name="col-0"/>
          <p:cNvSpPr/>
          <p:nvPr/>
        </p:nvSpPr>
        <p:spPr>
          <a:xfrm>
            <a:off x="502920" y="1286764"/>
            <a:ext cx="3968496" cy="3413557"/>
          </a:xfrm>
          <a:prstGeom prst="roundRect">
            <a:avLst>
              <a:gd name="adj" fmla="val 2679"/>
            </a:avLst>
          </a:prstGeom>
          <a:solidFill>
            <a:schemeClr val="accent5"/>
          </a:solidFill>
          <a:ln w="9525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col-title-0"/>
          <p:cNvSpPr txBox="1"/>
          <p:nvPr/>
        </p:nvSpPr>
        <p:spPr>
          <a:xfrm>
            <a:off x="722376" y="1506220"/>
            <a:ext cx="3529584" cy="447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55" b="1" dirty="0">
                <a:solidFill>
                  <a:schemeClr val="tx1"/>
                </a:solidFill>
              </a:rPr>
              <a:t>主線（main）</a:t>
            </a:r>
            <a:endParaRPr lang="en-US" sz="2755" dirty="0"/>
          </a:p>
        </p:txBody>
      </p:sp>
      <p:sp>
        <p:nvSpPr>
          <p:cNvPr id="7" name="col-list-0"/>
          <p:cNvSpPr txBox="1"/>
          <p:nvPr/>
        </p:nvSpPr>
        <p:spPr>
          <a:xfrm>
            <a:off x="722376" y="2063801"/>
            <a:ext cx="3529584" cy="2417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dirty="0">
                <a:solidFill>
                  <a:schemeClr val="tx2"/>
                </a:solidFill>
              </a:rPr>
              <a:t>代表「隨時可以交出去」的版本</a:t>
            </a:r>
            <a:endParaRPr lang="en-US" sz="2175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dirty="0">
                <a:solidFill>
                  <a:schemeClr val="tx2"/>
                </a:solidFill>
              </a:rPr>
              <a:t>不在上面直接動手</a:t>
            </a:r>
            <a:endParaRPr lang="en-US" sz="2175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dirty="0">
                <a:solidFill>
                  <a:schemeClr val="tx2"/>
                </a:solidFill>
              </a:rPr>
              <a:t>只接受審查過的修改</a:t>
            </a:r>
            <a:endParaRPr lang="en-US" sz="2175" dirty="0"/>
          </a:p>
        </p:txBody>
      </p:sp>
      <p:sp>
        <p:nvSpPr>
          <p:cNvPr id="8" name="col-1"/>
          <p:cNvSpPr/>
          <p:nvPr/>
        </p:nvSpPr>
        <p:spPr>
          <a:xfrm>
            <a:off x="4672584" y="1286764"/>
            <a:ext cx="3968496" cy="3413557"/>
          </a:xfrm>
          <a:prstGeom prst="roundRect">
            <a:avLst>
              <a:gd name="adj" fmla="val 2679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col-title-1"/>
          <p:cNvSpPr txBox="1"/>
          <p:nvPr/>
        </p:nvSpPr>
        <p:spPr>
          <a:xfrm>
            <a:off x="4892040" y="1506220"/>
            <a:ext cx="3529584" cy="447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55" b="1" dirty="0">
                <a:solidFill>
                  <a:schemeClr val="bg1"/>
                </a:solidFill>
              </a:rPr>
              <a:t>分支＋PR</a:t>
            </a:r>
            <a:endParaRPr lang="en-US" sz="2755" dirty="0"/>
          </a:p>
        </p:txBody>
      </p:sp>
      <p:sp>
        <p:nvSpPr>
          <p:cNvPr id="10" name="col-list-1"/>
          <p:cNvSpPr txBox="1"/>
          <p:nvPr/>
        </p:nvSpPr>
        <p:spPr>
          <a:xfrm>
            <a:off x="4892040" y="2063801"/>
            <a:ext cx="3529584" cy="2417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dirty="0">
                <a:solidFill>
                  <a:schemeClr val="bg2"/>
                </a:solidFill>
              </a:rPr>
              <a:t>在分支上寫草稿，改壞了就丟掉</a:t>
            </a:r>
            <a:endParaRPr lang="en-US" sz="2175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dirty="0">
                <a:solidFill>
                  <a:schemeClr val="bg2"/>
                </a:solidFill>
              </a:rPr>
              <a:t>寫好了發 PR，請別人看過</a:t>
            </a:r>
            <a:endParaRPr lang="en-US" sz="2175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dirty="0">
                <a:solidFill>
                  <a:schemeClr val="bg2"/>
                </a:solidFill>
              </a:rPr>
              <a:t>同意後才合併回主線</a:t>
            </a:r>
            <a:endParaRPr lang="en-US" sz="2175" dirty="0"/>
          </a:p>
        </p:txBody>
      </p:sp>
      <p:sp>
        <p:nvSpPr>
          <p:cNvPr id="11" name="note-box"/>
          <p:cNvSpPr/>
          <p:nvPr/>
        </p:nvSpPr>
        <p:spPr>
          <a:xfrm>
            <a:off x="502920" y="4901489"/>
            <a:ext cx="8138160" cy="897738"/>
          </a:xfrm>
          <a:prstGeom prst="roundRect">
            <a:avLst>
              <a:gd name="adj" fmla="val 814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note"/>
          <p:cNvSpPr txBox="1"/>
          <p:nvPr/>
        </p:nvSpPr>
        <p:spPr>
          <a:xfrm>
            <a:off x="685800" y="4901489"/>
            <a:ext cx="7772400" cy="897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30" dirty="0">
                <a:solidFill>
                  <a:schemeClr val="tx1"/>
                </a:solidFill>
              </a:rPr>
              <a:t>你的 GitHub 上留有 PR 和審查紀錄，就是「有團隊協作經驗」的具體證據。</a:t>
            </a:r>
            <a:endParaRPr lang="en-US" sz="203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02920" y="3291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chemeClr val="accent2"/>
                </a:solidFill>
              </a:rPr>
              <a:t>第 6 章　VS Code、命令列、Git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02920" y="603504"/>
            <a:ext cx="8138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chemeClr val="tx1"/>
                </a:solidFill>
              </a:rPr>
              <a:t>衝突：兩個人改了同一行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02920" y="64008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2"/>
                </a:solidFill>
              </a:rPr>
              <a:t>第 6 章　VS Code、命令列、Git　·　AI 雲端部署與容器化｜黃懷慶</a:t>
            </a:r>
            <a:endParaRPr lang="en-US" sz="1000" dirty="0"/>
          </a:p>
        </p:txBody>
      </p:sp>
      <p:sp>
        <p:nvSpPr>
          <p:cNvPr id="5" name="col-0"/>
          <p:cNvSpPr/>
          <p:nvPr/>
        </p:nvSpPr>
        <p:spPr>
          <a:xfrm>
            <a:off x="502920" y="1286764"/>
            <a:ext cx="3968496" cy="3413557"/>
          </a:xfrm>
          <a:prstGeom prst="roundRect">
            <a:avLst>
              <a:gd name="adj" fmla="val 2679"/>
            </a:avLst>
          </a:prstGeom>
          <a:solidFill>
            <a:schemeClr val="accent5"/>
          </a:solidFill>
          <a:ln w="9525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col-title-0"/>
          <p:cNvSpPr txBox="1"/>
          <p:nvPr/>
        </p:nvSpPr>
        <p:spPr>
          <a:xfrm>
            <a:off x="722376" y="1506220"/>
            <a:ext cx="3529584" cy="447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55" b="1" dirty="0">
                <a:solidFill>
                  <a:schemeClr val="tx1"/>
                </a:solidFill>
              </a:rPr>
              <a:t>為什麼會發生</a:t>
            </a:r>
            <a:endParaRPr lang="en-US" sz="2755" dirty="0"/>
          </a:p>
        </p:txBody>
      </p:sp>
      <p:sp>
        <p:nvSpPr>
          <p:cNvPr id="7" name="col-list-0"/>
          <p:cNvSpPr txBox="1"/>
          <p:nvPr/>
        </p:nvSpPr>
        <p:spPr>
          <a:xfrm>
            <a:off x="722376" y="2063801"/>
            <a:ext cx="3529584" cy="2417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dirty="0">
                <a:solidFill>
                  <a:schemeClr val="tx2"/>
                </a:solidFill>
              </a:rPr>
              <a:t>你和同學都修改了同一行</a:t>
            </a:r>
            <a:endParaRPr lang="en-US" sz="2175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dirty="0">
                <a:solidFill>
                  <a:schemeClr val="tx2"/>
                </a:solidFill>
              </a:rPr>
              <a:t>Git 不知道該留誰的</a:t>
            </a:r>
            <a:endParaRPr lang="en-US" sz="2175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b="1" dirty="0">
                <a:solidFill>
                  <a:schemeClr val="tx2"/>
                </a:solidFill>
              </a:rPr>
              <a:t>它不敢替你決定</a:t>
            </a:r>
            <a:endParaRPr lang="en-US" sz="2175" dirty="0"/>
          </a:p>
        </p:txBody>
      </p:sp>
      <p:sp>
        <p:nvSpPr>
          <p:cNvPr id="8" name="col-1"/>
          <p:cNvSpPr/>
          <p:nvPr/>
        </p:nvSpPr>
        <p:spPr>
          <a:xfrm>
            <a:off x="4672584" y="1286764"/>
            <a:ext cx="3968496" cy="3413557"/>
          </a:xfrm>
          <a:prstGeom prst="roundRect">
            <a:avLst>
              <a:gd name="adj" fmla="val 2679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col-title-1"/>
          <p:cNvSpPr txBox="1"/>
          <p:nvPr/>
        </p:nvSpPr>
        <p:spPr>
          <a:xfrm>
            <a:off x="4892040" y="1506220"/>
            <a:ext cx="3529584" cy="447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55" b="1" dirty="0">
                <a:solidFill>
                  <a:schemeClr val="bg1"/>
                </a:solidFill>
              </a:rPr>
              <a:t>怎麼處理</a:t>
            </a:r>
            <a:endParaRPr lang="en-US" sz="2755" dirty="0"/>
          </a:p>
        </p:txBody>
      </p:sp>
      <p:sp>
        <p:nvSpPr>
          <p:cNvPr id="10" name="col-list-1"/>
          <p:cNvSpPr txBox="1"/>
          <p:nvPr/>
        </p:nvSpPr>
        <p:spPr>
          <a:xfrm>
            <a:off x="4892040" y="2063801"/>
            <a:ext cx="3529584" cy="2417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dirty="0">
                <a:solidFill>
                  <a:schemeClr val="bg2"/>
                </a:solidFill>
              </a:rPr>
              <a:t>打開檔案，找到特殊標記</a:t>
            </a:r>
            <a:endParaRPr lang="en-US" sz="2175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dirty="0">
                <a:solidFill>
                  <a:schemeClr val="bg2"/>
                </a:solidFill>
              </a:rPr>
              <a:t>決定要保留哪個版本</a:t>
            </a:r>
            <a:endParaRPr lang="en-US" sz="2175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dirty="0">
                <a:solidFill>
                  <a:schemeClr val="bg2"/>
                </a:solidFill>
              </a:rPr>
              <a:t>刪掉標記、存檔、再存一次版本</a:t>
            </a:r>
            <a:endParaRPr lang="en-US" sz="2175" dirty="0"/>
          </a:p>
        </p:txBody>
      </p:sp>
      <p:sp>
        <p:nvSpPr>
          <p:cNvPr id="11" name="note-box"/>
          <p:cNvSpPr/>
          <p:nvPr/>
        </p:nvSpPr>
        <p:spPr>
          <a:xfrm>
            <a:off x="502920" y="4901489"/>
            <a:ext cx="8138160" cy="897738"/>
          </a:xfrm>
          <a:prstGeom prst="roundRect">
            <a:avLst>
              <a:gd name="adj" fmla="val 814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note"/>
          <p:cNvSpPr txBox="1"/>
          <p:nvPr/>
        </p:nvSpPr>
        <p:spPr>
          <a:xfrm>
            <a:off x="685800" y="4901489"/>
            <a:ext cx="7772400" cy="897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30" dirty="0">
                <a:solidFill>
                  <a:schemeClr val="tx1"/>
                </a:solidFill>
              </a:rPr>
              <a:t>衝突不是錯誤，只是 Git 在問你：「這兩個版本，你要哪一個？」</a:t>
            </a:r>
            <a:endParaRPr lang="en-US" sz="203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731520" y="1417320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8000" b="1" dirty="0">
                <a:solidFill>
                  <a:schemeClr val="accent1"/>
                </a:solidFill>
              </a:rPr>
              <a:t>07</a:t>
            </a:r>
            <a:endParaRPr lang="en-US" sz="80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731520" y="26974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 dirty="0">
                <a:solidFill>
                  <a:schemeClr val="tx1"/>
                </a:solidFill>
              </a:rPr>
              <a:t>VS Code 程式碼</a:t>
            </a:r>
            <a:endParaRPr lang="en-US" sz="36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 dirty="0">
                <a:solidFill>
                  <a:schemeClr val="tx1"/>
                </a:solidFill>
              </a:rPr>
              <a:t>直接以容器技術執行</a:t>
            </a:r>
            <a:endParaRPr lang="en-US" sz="3600" dirty="0"/>
          </a:p>
        </p:txBody>
      </p:sp>
      <p:sp>
        <p:nvSpPr>
          <p:cNvPr id="4" name="Text 1"/>
          <p:cNvSpPr>
            <a:spLocks noGrp="1"/>
          </p:cNvSpPr>
          <p:nvPr>
            <p:ph type="body" idx="103" hasCustomPrompt="1"/>
          </p:nvPr>
        </p:nvSpPr>
        <p:spPr>
          <a:xfrm>
            <a:off x="731520" y="416052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accent2"/>
                </a:solidFill>
              </a:rPr>
              <a:t>寫出聊天機器人，並把程式碼「掛進」容器裡執行</a:t>
            </a:r>
            <a:endParaRPr lang="en-US" sz="1800" dirty="0"/>
          </a:p>
        </p:txBody>
      </p:sp>
      <p:sp>
        <p:nvSpPr>
          <p:cNvPr id="5" name="Text 1"/>
          <p:cNvSpPr>
            <a:spLocks noGrp="1"/>
          </p:cNvSpPr>
          <p:nvPr>
            <p:ph type="body" idx="104" hasCustomPrompt="1"/>
          </p:nvPr>
        </p:nvSpPr>
        <p:spPr>
          <a:xfrm>
            <a:off x="731520" y="49377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300" dirty="0">
                <a:solidFill>
                  <a:schemeClr val="tx2"/>
                </a:solidFill>
              </a:rPr>
              <a:t>實作　｜　建議 3 小時</a:t>
            </a:r>
            <a:endParaRPr lang="en-US" sz="13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02920" y="3291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chemeClr val="accent2"/>
                </a:solidFill>
              </a:rPr>
              <a:t>第 7 章　程式碼直接以容器執行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02920" y="603504"/>
            <a:ext cx="8138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chemeClr val="tx1"/>
                </a:solidFill>
              </a:rPr>
              <a:t>先分清楚兩種節奏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02920" y="64008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2"/>
                </a:solidFill>
              </a:rPr>
              <a:t>第 7 章　程式碼直接以容器執行　·　AI 雲端部署與容器化｜黃懷慶</a:t>
            </a:r>
            <a:endParaRPr lang="en-US" sz="1000" dirty="0"/>
          </a:p>
        </p:txBody>
      </p:sp>
      <p:sp>
        <p:nvSpPr>
          <p:cNvPr id="5" name="col-0"/>
          <p:cNvSpPr/>
          <p:nvPr/>
        </p:nvSpPr>
        <p:spPr>
          <a:xfrm>
            <a:off x="502920" y="1286764"/>
            <a:ext cx="3968496" cy="3769563"/>
          </a:xfrm>
          <a:prstGeom prst="roundRect">
            <a:avLst>
              <a:gd name="adj" fmla="val 2426"/>
            </a:avLst>
          </a:prstGeom>
          <a:solidFill>
            <a:schemeClr val="accent5"/>
          </a:solidFill>
          <a:ln w="9525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col-title-0"/>
          <p:cNvSpPr txBox="1"/>
          <p:nvPr/>
        </p:nvSpPr>
        <p:spPr>
          <a:xfrm>
            <a:off x="722376" y="1506220"/>
            <a:ext cx="3529584" cy="8648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60" b="1" dirty="0">
                <a:solidFill>
                  <a:schemeClr val="tx1"/>
                </a:solidFill>
              </a:rPr>
              <a:t>開發迴圈 Inner Loop（第 7 章）</a:t>
            </a:r>
            <a:endParaRPr lang="en-US" sz="2660" dirty="0"/>
          </a:p>
        </p:txBody>
      </p:sp>
      <p:sp>
        <p:nvSpPr>
          <p:cNvPr id="7" name="col-list-0"/>
          <p:cNvSpPr txBox="1"/>
          <p:nvPr/>
        </p:nvSpPr>
        <p:spPr>
          <a:xfrm>
            <a:off x="722376" y="2480767"/>
            <a:ext cx="3529584" cy="2356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00" dirty="0">
                <a:solidFill>
                  <a:schemeClr val="tx2"/>
                </a:solidFill>
              </a:rPr>
              <a:t>改程式 → 執行 → 看結果 → 再改</a:t>
            </a:r>
            <a:endParaRPr lang="en-US" sz="2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00" dirty="0">
                <a:solidFill>
                  <a:schemeClr val="tx2"/>
                </a:solidFill>
              </a:rPr>
              <a:t>講求「快」，以秒計算</a:t>
            </a:r>
            <a:endParaRPr lang="en-US" sz="2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00" dirty="0">
                <a:solidFill>
                  <a:schemeClr val="tx2"/>
                </a:solidFill>
              </a:rPr>
              <a:t>成果只在你的 Codespace 裡</a:t>
            </a:r>
            <a:endParaRPr lang="en-US" sz="2100" dirty="0"/>
          </a:p>
        </p:txBody>
      </p:sp>
      <p:sp>
        <p:nvSpPr>
          <p:cNvPr id="8" name="col-1"/>
          <p:cNvSpPr/>
          <p:nvPr/>
        </p:nvSpPr>
        <p:spPr>
          <a:xfrm>
            <a:off x="4672584" y="1286764"/>
            <a:ext cx="3968496" cy="3769563"/>
          </a:xfrm>
          <a:prstGeom prst="roundRect">
            <a:avLst>
              <a:gd name="adj" fmla="val 2426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col-title-1"/>
          <p:cNvSpPr txBox="1"/>
          <p:nvPr/>
        </p:nvSpPr>
        <p:spPr>
          <a:xfrm>
            <a:off x="4892040" y="1506220"/>
            <a:ext cx="3529584" cy="8648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60" b="1" dirty="0">
                <a:solidFill>
                  <a:schemeClr val="bg1"/>
                </a:solidFill>
              </a:rPr>
              <a:t>交付迴圈 Outer Loop（第 8、9 章）</a:t>
            </a:r>
            <a:endParaRPr lang="en-US" sz="2660" dirty="0"/>
          </a:p>
        </p:txBody>
      </p:sp>
      <p:sp>
        <p:nvSpPr>
          <p:cNvPr id="10" name="col-list-1"/>
          <p:cNvSpPr txBox="1"/>
          <p:nvPr/>
        </p:nvSpPr>
        <p:spPr>
          <a:xfrm>
            <a:off x="4892040" y="2480767"/>
            <a:ext cx="3529584" cy="2356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00" dirty="0">
                <a:solidFill>
                  <a:schemeClr val="bg2"/>
                </a:solidFill>
              </a:rPr>
              <a:t>存版本 → 自動建置 → 成品 → 部署</a:t>
            </a:r>
            <a:endParaRPr lang="en-US" sz="2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00" dirty="0">
                <a:solidFill>
                  <a:schemeClr val="bg2"/>
                </a:solidFill>
              </a:rPr>
              <a:t>講求「可重現、可追溯」</a:t>
            </a:r>
            <a:endParaRPr lang="en-US" sz="2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00" b="1" dirty="0">
                <a:solidFill>
                  <a:schemeClr val="bg2"/>
                </a:solidFill>
              </a:rPr>
              <a:t>這才是業界的交付方式</a:t>
            </a:r>
            <a:endParaRPr lang="en-US" sz="2100" dirty="0"/>
          </a:p>
        </p:txBody>
      </p:sp>
      <p:sp>
        <p:nvSpPr>
          <p:cNvPr id="11" name="note-box"/>
          <p:cNvSpPr/>
          <p:nvPr/>
        </p:nvSpPr>
        <p:spPr>
          <a:xfrm>
            <a:off x="502920" y="5257495"/>
            <a:ext cx="8138160" cy="874979"/>
          </a:xfrm>
          <a:prstGeom prst="roundRect">
            <a:avLst>
              <a:gd name="adj" fmla="val 8360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note"/>
          <p:cNvSpPr txBox="1"/>
          <p:nvPr/>
        </p:nvSpPr>
        <p:spPr>
          <a:xfrm>
            <a:off x="685800" y="5257495"/>
            <a:ext cx="7772400" cy="874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60" dirty="0">
                <a:solidFill>
                  <a:schemeClr val="tx1"/>
                </a:solidFill>
              </a:rPr>
              <a:t>開發時要快，交付時要穩。兩種節奏的做法不一樣，不要混在一起。</a:t>
            </a:r>
            <a:endParaRPr lang="en-US" sz="196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02920" y="3291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chemeClr val="accent2"/>
                </a:solidFill>
              </a:rPr>
              <a:t>第 7 章　程式碼直接以容器執行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02920" y="603504"/>
            <a:ext cx="8138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chemeClr val="tx1"/>
                </a:solidFill>
              </a:rPr>
              <a:t>我們要做的聊天機器人長這樣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02920" y="64008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2"/>
                </a:solidFill>
              </a:rPr>
              <a:t>第 7 章　程式碼直接以容器執行　·　AI 雲端部署與容器化｜黃懷慶</a:t>
            </a:r>
            <a:endParaRPr lang="en-US" sz="1000" dirty="0"/>
          </a:p>
        </p:txBody>
      </p:sp>
      <p:sp>
        <p:nvSpPr>
          <p:cNvPr id="5" name="step-0"/>
          <p:cNvSpPr/>
          <p:nvPr/>
        </p:nvSpPr>
        <p:spPr>
          <a:xfrm>
            <a:off x="502920" y="1286764"/>
            <a:ext cx="1691640" cy="2653928"/>
          </a:xfrm>
          <a:prstGeom prst="roundRect">
            <a:avLst>
              <a:gd name="adj" fmla="val 5405"/>
            </a:avLst>
          </a:prstGeom>
          <a:solidFill>
            <a:schemeClr val="accent5"/>
          </a:solidFill>
          <a:ln w="9525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tep-title-0"/>
          <p:cNvSpPr txBox="1"/>
          <p:nvPr/>
        </p:nvSpPr>
        <p:spPr>
          <a:xfrm>
            <a:off x="649224" y="1433068"/>
            <a:ext cx="1399032" cy="353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72" b="1" dirty="0">
                <a:solidFill>
                  <a:schemeClr val="tx1"/>
                </a:solidFill>
              </a:rPr>
              <a:t>瀏覽器</a:t>
            </a:r>
            <a:endParaRPr lang="en-US" sz="2172" dirty="0"/>
          </a:p>
        </p:txBody>
      </p:sp>
      <p:sp>
        <p:nvSpPr>
          <p:cNvPr id="7" name="step-body-0"/>
          <p:cNvSpPr txBox="1"/>
          <p:nvPr/>
        </p:nvSpPr>
        <p:spPr>
          <a:xfrm>
            <a:off x="649224" y="1859292"/>
            <a:ext cx="1399032" cy="1935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58" dirty="0">
                <a:solidFill>
                  <a:schemeClr val="tx2"/>
                </a:solidFill>
              </a:rPr>
              <a:t>使用者輸入問題</a:t>
            </a:r>
            <a:endParaRPr lang="en-US" sz="1958" dirty="0"/>
          </a:p>
        </p:txBody>
      </p:sp>
      <p:sp>
        <p:nvSpPr>
          <p:cNvPr id="8" name="arrow-0"/>
          <p:cNvSpPr/>
          <p:nvPr/>
        </p:nvSpPr>
        <p:spPr>
          <a:xfrm>
            <a:off x="2286000" y="2513144"/>
            <a:ext cx="274320" cy="201168"/>
          </a:xfrm>
          <a:prstGeom prst="rightArrow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step-1"/>
          <p:cNvSpPr/>
          <p:nvPr/>
        </p:nvSpPr>
        <p:spPr>
          <a:xfrm>
            <a:off x="2651760" y="1286764"/>
            <a:ext cx="1691640" cy="2653928"/>
          </a:xfrm>
          <a:prstGeom prst="roundRect">
            <a:avLst>
              <a:gd name="adj" fmla="val 5405"/>
            </a:avLst>
          </a:prstGeom>
          <a:solidFill>
            <a:schemeClr val="accent5"/>
          </a:solidFill>
          <a:ln w="9525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tep-title-1"/>
          <p:cNvSpPr txBox="1"/>
          <p:nvPr/>
        </p:nvSpPr>
        <p:spPr>
          <a:xfrm>
            <a:off x="2798064" y="1433068"/>
            <a:ext cx="1399032" cy="1059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72" b="1" dirty="0" err="1">
                <a:solidFill>
                  <a:schemeClr val="tx1"/>
                </a:solidFill>
              </a:rPr>
              <a:t>網站</a:t>
            </a:r>
            <a:br>
              <a:rPr lang="en-US" sz="2172" b="1" dirty="0">
                <a:solidFill>
                  <a:schemeClr val="tx1"/>
                </a:solidFill>
              </a:rPr>
            </a:br>
            <a:r>
              <a:rPr lang="en-US" b="1" dirty="0">
                <a:solidFill>
                  <a:schemeClr val="tx1"/>
                </a:solidFill>
              </a:rPr>
              <a:t>（FastAPI）</a:t>
            </a:r>
            <a:endParaRPr lang="en-US" dirty="0"/>
          </a:p>
        </p:txBody>
      </p:sp>
      <p:sp>
        <p:nvSpPr>
          <p:cNvPr id="11" name="step-body-1"/>
          <p:cNvSpPr txBox="1"/>
          <p:nvPr/>
        </p:nvSpPr>
        <p:spPr>
          <a:xfrm>
            <a:off x="2798064" y="2565435"/>
            <a:ext cx="1399032" cy="1228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58" dirty="0">
                <a:solidFill>
                  <a:schemeClr val="tx2"/>
                </a:solidFill>
              </a:rPr>
              <a:t>接收問題、回傳答案</a:t>
            </a:r>
            <a:endParaRPr lang="en-US" sz="1958" dirty="0"/>
          </a:p>
        </p:txBody>
      </p:sp>
      <p:sp>
        <p:nvSpPr>
          <p:cNvPr id="12" name="arrow-1"/>
          <p:cNvSpPr/>
          <p:nvPr/>
        </p:nvSpPr>
        <p:spPr>
          <a:xfrm>
            <a:off x="4434840" y="2513144"/>
            <a:ext cx="274320" cy="201168"/>
          </a:xfrm>
          <a:prstGeom prst="rightArrow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step-2"/>
          <p:cNvSpPr/>
          <p:nvPr/>
        </p:nvSpPr>
        <p:spPr>
          <a:xfrm>
            <a:off x="4800600" y="1286764"/>
            <a:ext cx="1691640" cy="2653928"/>
          </a:xfrm>
          <a:prstGeom prst="roundRect">
            <a:avLst>
              <a:gd name="adj" fmla="val 5405"/>
            </a:avLst>
          </a:prstGeom>
          <a:solidFill>
            <a:schemeClr val="accent5"/>
          </a:solidFill>
          <a:ln w="9525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tep-title-2"/>
          <p:cNvSpPr txBox="1"/>
          <p:nvPr/>
        </p:nvSpPr>
        <p:spPr>
          <a:xfrm>
            <a:off x="4946904" y="1433068"/>
            <a:ext cx="1399032" cy="706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72" b="1" dirty="0">
                <a:solidFill>
                  <a:schemeClr val="tx1"/>
                </a:solidFill>
              </a:rPr>
              <a:t>AI 連接器</a:t>
            </a:r>
            <a:endParaRPr lang="en-US" sz="2172" dirty="0"/>
          </a:p>
        </p:txBody>
      </p:sp>
      <p:sp>
        <p:nvSpPr>
          <p:cNvPr id="15" name="step-body-2"/>
          <p:cNvSpPr txBox="1"/>
          <p:nvPr/>
        </p:nvSpPr>
        <p:spPr>
          <a:xfrm>
            <a:off x="4946904" y="2212363"/>
            <a:ext cx="1399032" cy="1582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58" dirty="0">
                <a:solidFill>
                  <a:schemeClr val="tx2"/>
                </a:solidFill>
              </a:rPr>
              <a:t>負責和 AI 平台溝通</a:t>
            </a:r>
            <a:endParaRPr lang="en-US" sz="1958" dirty="0"/>
          </a:p>
        </p:txBody>
      </p:sp>
      <p:sp>
        <p:nvSpPr>
          <p:cNvPr id="16" name="arrow-2"/>
          <p:cNvSpPr/>
          <p:nvPr/>
        </p:nvSpPr>
        <p:spPr>
          <a:xfrm>
            <a:off x="6583680" y="2513144"/>
            <a:ext cx="274320" cy="201168"/>
          </a:xfrm>
          <a:prstGeom prst="rightArrow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step-3"/>
          <p:cNvSpPr/>
          <p:nvPr/>
        </p:nvSpPr>
        <p:spPr>
          <a:xfrm>
            <a:off x="6949440" y="1286764"/>
            <a:ext cx="1691640" cy="2653928"/>
          </a:xfrm>
          <a:prstGeom prst="roundRect">
            <a:avLst>
              <a:gd name="adj" fmla="val 5405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step-title-3"/>
          <p:cNvSpPr txBox="1"/>
          <p:nvPr/>
        </p:nvSpPr>
        <p:spPr>
          <a:xfrm>
            <a:off x="7095744" y="1433068"/>
            <a:ext cx="1399032" cy="1059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72" b="1" dirty="0">
                <a:solidFill>
                  <a:schemeClr val="tx1"/>
                </a:solidFill>
              </a:rPr>
              <a:t>Google AI Studio</a:t>
            </a:r>
            <a:endParaRPr lang="en-US" sz="2172" dirty="0"/>
          </a:p>
        </p:txBody>
      </p:sp>
      <p:sp>
        <p:nvSpPr>
          <p:cNvPr id="19" name="step-body-3"/>
          <p:cNvSpPr txBox="1"/>
          <p:nvPr/>
        </p:nvSpPr>
        <p:spPr>
          <a:xfrm>
            <a:off x="7095744" y="2565435"/>
            <a:ext cx="1399032" cy="1228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58" dirty="0">
                <a:solidFill>
                  <a:schemeClr val="tx1"/>
                </a:solidFill>
              </a:rPr>
              <a:t>產生回答</a:t>
            </a:r>
            <a:endParaRPr lang="en-US" sz="1958" dirty="0"/>
          </a:p>
        </p:txBody>
      </p:sp>
      <p:sp>
        <p:nvSpPr>
          <p:cNvPr id="20" name="note-box"/>
          <p:cNvSpPr/>
          <p:nvPr/>
        </p:nvSpPr>
        <p:spPr>
          <a:xfrm>
            <a:off x="502920" y="4141860"/>
            <a:ext cx="8138160" cy="897738"/>
          </a:xfrm>
          <a:prstGeom prst="roundRect">
            <a:avLst>
              <a:gd name="adj" fmla="val 814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note"/>
          <p:cNvSpPr txBox="1"/>
          <p:nvPr/>
        </p:nvSpPr>
        <p:spPr>
          <a:xfrm>
            <a:off x="685800" y="4141860"/>
            <a:ext cx="7772400" cy="897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30" dirty="0">
                <a:solidFill>
                  <a:schemeClr val="tx1"/>
                </a:solidFill>
              </a:rPr>
              <a:t>AI 連接不上時，網站不會壞掉，而是改用「示範模式」回覆，並標示原因。</a:t>
            </a:r>
            <a:endParaRPr lang="en-US" sz="203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02920" y="3291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chemeClr val="accent2"/>
                </a:solidFill>
              </a:rPr>
              <a:t>第 7 章　程式碼直接以容器執行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02920" y="603504"/>
            <a:ext cx="8138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chemeClr val="tx1"/>
                </a:solidFill>
              </a:rPr>
              <a:t>本章的六個步驟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02920" y="64008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2"/>
                </a:solidFill>
              </a:rPr>
              <a:t>第 7 章　程式碼直接以容器執行　·　AI 雲端部署與容器化｜黃懷慶</a:t>
            </a:r>
            <a:endParaRPr lang="en-US" sz="1000" dirty="0"/>
          </a:p>
        </p:txBody>
      </p:sp>
      <p:graphicFrame>
        <p:nvGraphicFramePr>
          <p:cNvPr id="60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6764"/>
          <a:ext cx="8138161" cy="4183633"/>
        </p:xfrm>
        <a:graphic>
          <a:graphicData uri="http://schemas.openxmlformats.org/drawingml/2006/table">
            <a:tbl>
              <a:tblPr/>
              <a:tblGrid>
                <a:gridCol w="21159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25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97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32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10" b="1" dirty="0">
                          <a:solidFill>
                            <a:schemeClr val="bg1"/>
                          </a:solidFill>
                        </a:rPr>
                        <a:t>步驟</a:t>
                      </a:r>
                      <a:endParaRPr lang="en-US" sz="161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10" b="1" dirty="0">
                          <a:solidFill>
                            <a:schemeClr val="bg1"/>
                          </a:solidFill>
                        </a:rPr>
                        <a:t>這是什麼</a:t>
                      </a:r>
                      <a:endParaRPr lang="en-US" sz="161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10" b="1" dirty="0">
                          <a:solidFill>
                            <a:schemeClr val="bg1"/>
                          </a:solidFill>
                        </a:rPr>
                        <a:t>為什麼</a:t>
                      </a:r>
                      <a:endParaRPr lang="en-US" sz="161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32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10" dirty="0">
                          <a:solidFill>
                            <a:schemeClr val="tx1"/>
                          </a:solidFill>
                        </a:rPr>
                        <a:t>1. 開一條分支</a:t>
                      </a:r>
                      <a:endParaRPr lang="en-US" sz="161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10" dirty="0">
                          <a:solidFill>
                            <a:schemeClr val="tx1"/>
                          </a:solidFill>
                        </a:rPr>
                        <a:t>在草稿線上工作</a:t>
                      </a:r>
                      <a:endParaRPr lang="en-US" sz="161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10" dirty="0">
                          <a:solidFill>
                            <a:schemeClr val="tx1"/>
                          </a:solidFill>
                        </a:rPr>
                        <a:t>主線保持隨時可交付</a:t>
                      </a:r>
                      <a:endParaRPr lang="en-US" sz="161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35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10" dirty="0">
                          <a:solidFill>
                            <a:schemeClr val="tx1"/>
                          </a:solidFill>
                        </a:rPr>
                        <a:t>2. 寫「忽略清單」</a:t>
                      </a:r>
                      <a:endParaRPr lang="en-US" sz="161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10" dirty="0">
                          <a:solidFill>
                            <a:schemeClr val="tx1"/>
                          </a:solidFill>
                        </a:rPr>
                        <a:t>列出不能上傳、不能打包的檔案</a:t>
                      </a:r>
                      <a:endParaRPr lang="en-US" sz="161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10" dirty="0">
                          <a:solidFill>
                            <a:schemeClr val="tx1"/>
                          </a:solidFill>
                        </a:rPr>
                        <a:t>先上鎖，再放貴重物品</a:t>
                      </a:r>
                      <a:endParaRPr lang="en-US" sz="161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35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10" dirty="0">
                          <a:solidFill>
                            <a:schemeClr val="tx1"/>
                          </a:solidFill>
                        </a:rPr>
                        <a:t>3. AI 連接器</a:t>
                      </a:r>
                      <a:endParaRPr lang="en-US" sz="161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10" dirty="0">
                          <a:solidFill>
                            <a:schemeClr val="tx1"/>
                          </a:solidFill>
                        </a:rPr>
                        <a:t>負責呼叫 AI 的程式</a:t>
                      </a:r>
                      <a:endParaRPr lang="en-US" sz="161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10" dirty="0">
                          <a:solidFill>
                            <a:schemeClr val="tx1"/>
                          </a:solidFill>
                        </a:rPr>
                        <a:t>可切換平台、失敗時不會整個壞掉</a:t>
                      </a:r>
                      <a:endParaRPr lang="en-US" sz="161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32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10" dirty="0">
                          <a:solidFill>
                            <a:schemeClr val="tx1"/>
                          </a:solidFill>
                        </a:rPr>
                        <a:t>4. 網站程式</a:t>
                      </a:r>
                      <a:endParaRPr lang="en-US" sz="161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10" dirty="0">
                          <a:solidFill>
                            <a:schemeClr val="tx1"/>
                          </a:solidFill>
                        </a:rPr>
                        <a:t>接收問題、回傳答案</a:t>
                      </a:r>
                      <a:endParaRPr lang="en-US" sz="161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10" dirty="0">
                          <a:solidFill>
                            <a:schemeClr val="tx1"/>
                          </a:solidFill>
                        </a:rPr>
                        <a:t>有健康檢查和版本查詢功能</a:t>
                      </a:r>
                      <a:endParaRPr lang="en-US" sz="161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35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10" dirty="0">
                          <a:solidFill>
                            <a:schemeClr val="tx1"/>
                          </a:solidFill>
                        </a:rPr>
                        <a:t>5. 套件清單與設定檔</a:t>
                      </a:r>
                      <a:endParaRPr lang="en-US" sz="161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10" dirty="0">
                          <a:solidFill>
                            <a:schemeClr val="tx1"/>
                          </a:solidFill>
                        </a:rPr>
                        <a:t>需要哪些套件、金鑰放哪裡</a:t>
                      </a:r>
                      <a:endParaRPr lang="en-US" sz="161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10" dirty="0">
                          <a:solidFill>
                            <a:schemeClr val="tx1"/>
                          </a:solidFill>
                        </a:rPr>
                        <a:t>程式和設定分開管理</a:t>
                      </a:r>
                      <a:endParaRPr lang="en-US" sz="161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32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10" dirty="0">
                          <a:solidFill>
                            <a:schemeClr val="tx1"/>
                          </a:solidFill>
                        </a:rPr>
                        <a:t>6. 用容器執行</a:t>
                      </a:r>
                      <a:endParaRPr lang="en-US" sz="161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10" dirty="0">
                          <a:solidFill>
                            <a:schemeClr val="tx1"/>
                          </a:solidFill>
                        </a:rPr>
                        <a:t>借官方 Python 容器來跑</a:t>
                      </a:r>
                      <a:endParaRPr lang="en-US" sz="161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10" dirty="0">
                          <a:solidFill>
                            <a:schemeClr val="tx1"/>
                          </a:solidFill>
                        </a:rPr>
                        <a:t>環境統一，改程式立即生效</a:t>
                      </a:r>
                      <a:endParaRPr lang="en-US" sz="161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02920" y="3291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chemeClr val="accent2"/>
                </a:solidFill>
              </a:rPr>
              <a:t>第 7 章　程式碼直接以容器執行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02920" y="603504"/>
            <a:ext cx="8138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chemeClr val="tx1"/>
                </a:solidFill>
              </a:rPr>
              <a:t>步驟 2　為什麼第一件事是寫「忽略清單」？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02920" y="64008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2"/>
                </a:solidFill>
              </a:rPr>
              <a:t>第 7 章　程式碼直接以容器執行　·　AI 雲端部署與容器化｜黃懷慶</a:t>
            </a:r>
            <a:endParaRPr lang="en-US" sz="1000" dirty="0"/>
          </a:p>
        </p:txBody>
      </p:sp>
      <p:sp>
        <p:nvSpPr>
          <p:cNvPr id="5" name="col-0"/>
          <p:cNvSpPr/>
          <p:nvPr/>
        </p:nvSpPr>
        <p:spPr>
          <a:xfrm>
            <a:off x="502920" y="1286764"/>
            <a:ext cx="3968496" cy="3767125"/>
          </a:xfrm>
          <a:prstGeom prst="roundRect">
            <a:avLst>
              <a:gd name="adj" fmla="val 2427"/>
            </a:avLst>
          </a:prstGeom>
          <a:solidFill>
            <a:schemeClr val="accent5"/>
          </a:solidFill>
          <a:ln w="9525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col-title-0"/>
          <p:cNvSpPr txBox="1"/>
          <p:nvPr/>
        </p:nvSpPr>
        <p:spPr>
          <a:xfrm>
            <a:off x="722376" y="1506220"/>
            <a:ext cx="3529584" cy="447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55" b="1" dirty="0">
                <a:solidFill>
                  <a:schemeClr val="tx1"/>
                </a:solidFill>
              </a:rPr>
              <a:t>.gitignore</a:t>
            </a:r>
            <a:endParaRPr lang="en-US" sz="2755" dirty="0"/>
          </a:p>
        </p:txBody>
      </p:sp>
      <p:sp>
        <p:nvSpPr>
          <p:cNvPr id="7" name="col-list-0"/>
          <p:cNvSpPr txBox="1"/>
          <p:nvPr/>
        </p:nvSpPr>
        <p:spPr>
          <a:xfrm>
            <a:off x="722376" y="2063801"/>
            <a:ext cx="3529584" cy="2770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dirty="0">
                <a:solidFill>
                  <a:schemeClr val="tx2"/>
                </a:solidFill>
              </a:rPr>
              <a:t>告訴 Git：哪些檔案</a:t>
            </a:r>
            <a:r>
              <a:rPr lang="en-US" sz="2175" b="1" dirty="0">
                <a:solidFill>
                  <a:schemeClr val="tx2"/>
                </a:solidFill>
              </a:rPr>
              <a:t>不要上傳</a:t>
            </a:r>
            <a:endParaRPr lang="en-US" sz="2175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dirty="0">
                <a:solidFill>
                  <a:schemeClr val="tx2"/>
                </a:solidFill>
              </a:rPr>
              <a:t>例如存放金鑰的設定檔</a:t>
            </a:r>
            <a:endParaRPr lang="en-US" sz="2175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dirty="0">
                <a:solidFill>
                  <a:schemeClr val="tx2"/>
                </a:solidFill>
              </a:rPr>
              <a:t>避免機密跑到公開的 GitHub 上</a:t>
            </a:r>
            <a:endParaRPr lang="en-US" sz="2175" dirty="0"/>
          </a:p>
        </p:txBody>
      </p:sp>
      <p:sp>
        <p:nvSpPr>
          <p:cNvPr id="8" name="col-1"/>
          <p:cNvSpPr/>
          <p:nvPr/>
        </p:nvSpPr>
        <p:spPr>
          <a:xfrm>
            <a:off x="4672584" y="1286764"/>
            <a:ext cx="3968496" cy="3767125"/>
          </a:xfrm>
          <a:prstGeom prst="roundRect">
            <a:avLst>
              <a:gd name="adj" fmla="val 2427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col-title-1"/>
          <p:cNvSpPr txBox="1"/>
          <p:nvPr/>
        </p:nvSpPr>
        <p:spPr>
          <a:xfrm>
            <a:off x="4892040" y="1506220"/>
            <a:ext cx="3529584" cy="447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55" b="1" dirty="0">
                <a:solidFill>
                  <a:schemeClr val="bg1"/>
                </a:solidFill>
              </a:rPr>
              <a:t>.dockerignore</a:t>
            </a:r>
            <a:endParaRPr lang="en-US" sz="2755" dirty="0"/>
          </a:p>
        </p:txBody>
      </p:sp>
      <p:sp>
        <p:nvSpPr>
          <p:cNvPr id="10" name="col-list-1"/>
          <p:cNvSpPr txBox="1"/>
          <p:nvPr/>
        </p:nvSpPr>
        <p:spPr>
          <a:xfrm>
            <a:off x="4892040" y="2063801"/>
            <a:ext cx="3529584" cy="2770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dirty="0">
                <a:solidFill>
                  <a:schemeClr val="bg2"/>
                </a:solidFill>
              </a:rPr>
              <a:t>告訴 Docker：哪些檔案</a:t>
            </a:r>
            <a:r>
              <a:rPr lang="en-US" sz="2175" b="1" dirty="0">
                <a:solidFill>
                  <a:schemeClr val="bg2"/>
                </a:solidFill>
              </a:rPr>
              <a:t>不要打包</a:t>
            </a:r>
            <a:endParaRPr lang="en-US" sz="2175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dirty="0">
                <a:solidFill>
                  <a:schemeClr val="bg2"/>
                </a:solidFill>
              </a:rPr>
              <a:t>例如版本紀錄、說明文件</a:t>
            </a:r>
            <a:endParaRPr lang="en-US" sz="2175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dirty="0">
                <a:solidFill>
                  <a:schemeClr val="bg2"/>
                </a:solidFill>
              </a:rPr>
              <a:t>讓映像更小，也避免夾帶機密</a:t>
            </a:r>
            <a:endParaRPr lang="en-US" sz="2175" dirty="0"/>
          </a:p>
        </p:txBody>
      </p:sp>
      <p:sp>
        <p:nvSpPr>
          <p:cNvPr id="11" name="note-box"/>
          <p:cNvSpPr/>
          <p:nvPr/>
        </p:nvSpPr>
        <p:spPr>
          <a:xfrm>
            <a:off x="502920" y="5255057"/>
            <a:ext cx="8138160" cy="897738"/>
          </a:xfrm>
          <a:prstGeom prst="roundRect">
            <a:avLst>
              <a:gd name="adj" fmla="val 814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note"/>
          <p:cNvSpPr txBox="1"/>
          <p:nvPr/>
        </p:nvSpPr>
        <p:spPr>
          <a:xfrm>
            <a:off x="685800" y="5255057"/>
            <a:ext cx="7772400" cy="897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30" dirty="0">
                <a:solidFill>
                  <a:schemeClr val="tx1"/>
                </a:solidFill>
              </a:rPr>
              <a:t>先上鎖，再放貴重物品：在建立任何含有金鑰的檔案之前，先把門鎖好。</a:t>
            </a:r>
            <a:endParaRPr lang="en-US" sz="203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02920" y="3291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chemeClr val="accent2"/>
                </a:solidFill>
              </a:rPr>
              <a:t>第 7 章　程式碼直接以容器執行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02920" y="603504"/>
            <a:ext cx="8138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chemeClr val="tx1"/>
                </a:solidFill>
              </a:rPr>
              <a:t>步驟 5　程式碼和設定，為什麼要分開？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02920" y="64008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2"/>
                </a:solidFill>
              </a:rPr>
              <a:t>第 7 章　程式碼直接以容器執行　·　AI 雲端部署與容器化｜黃懷慶</a:t>
            </a:r>
            <a:endParaRPr lang="en-US" sz="1000" dirty="0"/>
          </a:p>
        </p:txBody>
      </p:sp>
      <p:sp>
        <p:nvSpPr>
          <p:cNvPr id="5" name="col-0"/>
          <p:cNvSpPr/>
          <p:nvPr/>
        </p:nvSpPr>
        <p:spPr>
          <a:xfrm>
            <a:off x="502920" y="1286764"/>
            <a:ext cx="3968496" cy="3059989"/>
          </a:xfrm>
          <a:prstGeom prst="roundRect">
            <a:avLst>
              <a:gd name="adj" fmla="val 2988"/>
            </a:avLst>
          </a:prstGeom>
          <a:solidFill>
            <a:schemeClr val="accent5"/>
          </a:solidFill>
          <a:ln w="9525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col-title-0"/>
          <p:cNvSpPr txBox="1"/>
          <p:nvPr/>
        </p:nvSpPr>
        <p:spPr>
          <a:xfrm>
            <a:off x="722376" y="1506220"/>
            <a:ext cx="3529584" cy="447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55" b="1" dirty="0">
                <a:solidFill>
                  <a:schemeClr val="tx1"/>
                </a:solidFill>
              </a:rPr>
              <a:t>程式碼</a:t>
            </a:r>
            <a:endParaRPr lang="en-US" sz="2755" dirty="0"/>
          </a:p>
        </p:txBody>
      </p:sp>
      <p:sp>
        <p:nvSpPr>
          <p:cNvPr id="7" name="col-list-0"/>
          <p:cNvSpPr txBox="1"/>
          <p:nvPr/>
        </p:nvSpPr>
        <p:spPr>
          <a:xfrm>
            <a:off x="722376" y="2063801"/>
            <a:ext cx="3529584" cy="2063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dirty="0">
                <a:solidFill>
                  <a:schemeClr val="tx2"/>
                </a:solidFill>
              </a:rPr>
              <a:t>做事的邏輯</a:t>
            </a:r>
            <a:endParaRPr lang="en-US" sz="2175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dirty="0">
                <a:solidFill>
                  <a:schemeClr val="tx2"/>
                </a:solidFill>
              </a:rPr>
              <a:t>每個環境都一樣</a:t>
            </a:r>
            <a:endParaRPr lang="en-US" sz="2175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dirty="0">
                <a:solidFill>
                  <a:schemeClr val="tx2"/>
                </a:solidFill>
              </a:rPr>
              <a:t>放進 GitHub、打包進映像</a:t>
            </a:r>
            <a:endParaRPr lang="en-US" sz="2175" dirty="0"/>
          </a:p>
        </p:txBody>
      </p:sp>
      <p:sp>
        <p:nvSpPr>
          <p:cNvPr id="8" name="col-1"/>
          <p:cNvSpPr/>
          <p:nvPr/>
        </p:nvSpPr>
        <p:spPr>
          <a:xfrm>
            <a:off x="4672584" y="1286764"/>
            <a:ext cx="3968496" cy="3059989"/>
          </a:xfrm>
          <a:prstGeom prst="roundRect">
            <a:avLst>
              <a:gd name="adj" fmla="val 2988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col-title-1"/>
          <p:cNvSpPr txBox="1"/>
          <p:nvPr/>
        </p:nvSpPr>
        <p:spPr>
          <a:xfrm>
            <a:off x="4892040" y="1506220"/>
            <a:ext cx="3529584" cy="447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55" b="1" dirty="0">
                <a:solidFill>
                  <a:schemeClr val="bg1"/>
                </a:solidFill>
              </a:rPr>
              <a:t>設定（組態）</a:t>
            </a:r>
            <a:endParaRPr lang="en-US" sz="2755" dirty="0"/>
          </a:p>
        </p:txBody>
      </p:sp>
      <p:sp>
        <p:nvSpPr>
          <p:cNvPr id="10" name="col-list-1"/>
          <p:cNvSpPr txBox="1"/>
          <p:nvPr/>
        </p:nvSpPr>
        <p:spPr>
          <a:xfrm>
            <a:off x="4892040" y="2063801"/>
            <a:ext cx="3529584" cy="2063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dirty="0">
                <a:solidFill>
                  <a:schemeClr val="bg2"/>
                </a:solidFill>
              </a:rPr>
              <a:t>金鑰、模型名稱、平台選擇</a:t>
            </a:r>
            <a:endParaRPr lang="en-US" sz="2175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dirty="0">
                <a:solidFill>
                  <a:schemeClr val="bg2"/>
                </a:solidFill>
              </a:rPr>
              <a:t>每個環境可能不同</a:t>
            </a:r>
            <a:endParaRPr lang="en-US" sz="2175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b="1" dirty="0">
                <a:solidFill>
                  <a:schemeClr val="bg2"/>
                </a:solidFill>
              </a:rPr>
              <a:t>執行時才放進去</a:t>
            </a:r>
            <a:endParaRPr lang="en-US" sz="2175" dirty="0"/>
          </a:p>
        </p:txBody>
      </p:sp>
      <p:sp>
        <p:nvSpPr>
          <p:cNvPr id="11" name="note-box"/>
          <p:cNvSpPr/>
          <p:nvPr/>
        </p:nvSpPr>
        <p:spPr>
          <a:xfrm>
            <a:off x="502920" y="4547921"/>
            <a:ext cx="8138160" cy="897738"/>
          </a:xfrm>
          <a:prstGeom prst="roundRect">
            <a:avLst>
              <a:gd name="adj" fmla="val 814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note"/>
          <p:cNvSpPr txBox="1"/>
          <p:nvPr/>
        </p:nvSpPr>
        <p:spPr>
          <a:xfrm>
            <a:off x="685800" y="4547921"/>
            <a:ext cx="7772400" cy="897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30" dirty="0" err="1">
                <a:solidFill>
                  <a:schemeClr val="tx1"/>
                </a:solidFill>
              </a:rPr>
              <a:t>同一份程式碼，換個環境只要換設定。金鑰永遠不寫進程式</a:t>
            </a:r>
            <a:r>
              <a:rPr lang="en-US" sz="2030" dirty="0">
                <a:solidFill>
                  <a:schemeClr val="tx1"/>
                </a:solidFill>
              </a:rPr>
              <a:t>。</a:t>
            </a:r>
            <a:endParaRPr lang="en-US" sz="203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02920" y="3291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chemeClr val="accent2"/>
                </a:solidFill>
              </a:rPr>
              <a:t>第 7 章　程式碼直接以容器執行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02920" y="603504"/>
            <a:ext cx="8138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chemeClr val="tx1"/>
                </a:solidFill>
              </a:rPr>
              <a:t>出問題時，程式該怎麼反應？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02920" y="64008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2"/>
                </a:solidFill>
              </a:rPr>
              <a:t>第 7 章　程式碼直接以容器執行　·　AI 雲端部署與容器化｜黃懷慶</a:t>
            </a:r>
            <a:endParaRPr lang="en-US" sz="1000" dirty="0"/>
          </a:p>
        </p:txBody>
      </p:sp>
      <p:sp>
        <p:nvSpPr>
          <p:cNvPr id="5" name="col-0"/>
          <p:cNvSpPr/>
          <p:nvPr/>
        </p:nvSpPr>
        <p:spPr>
          <a:xfrm>
            <a:off x="502920" y="1286764"/>
            <a:ext cx="3968496" cy="3836721"/>
          </a:xfrm>
          <a:prstGeom prst="roundRect">
            <a:avLst>
              <a:gd name="adj" fmla="val 2383"/>
            </a:avLst>
          </a:prstGeom>
          <a:solidFill>
            <a:schemeClr val="accent5"/>
          </a:solidFill>
          <a:ln w="9525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col-title-0"/>
          <p:cNvSpPr txBox="1"/>
          <p:nvPr/>
        </p:nvSpPr>
        <p:spPr>
          <a:xfrm>
            <a:off x="722376" y="1506220"/>
            <a:ext cx="3529584" cy="43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60" b="1" dirty="0">
                <a:solidFill>
                  <a:schemeClr val="tx1"/>
                </a:solidFill>
              </a:rPr>
              <a:t>沒有金鑰 → 示範模式</a:t>
            </a:r>
            <a:endParaRPr lang="en-US" sz="2660" dirty="0"/>
          </a:p>
        </p:txBody>
      </p:sp>
      <p:sp>
        <p:nvSpPr>
          <p:cNvPr id="7" name="col-list-0"/>
          <p:cNvSpPr txBox="1"/>
          <p:nvPr/>
        </p:nvSpPr>
        <p:spPr>
          <a:xfrm>
            <a:off x="722376" y="2048358"/>
            <a:ext cx="3529584" cy="285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00" dirty="0">
                <a:solidFill>
                  <a:schemeClr val="tx2"/>
                </a:solidFill>
              </a:rPr>
              <a:t>這是可預期的狀況</a:t>
            </a:r>
            <a:endParaRPr lang="en-US" sz="2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00" dirty="0">
                <a:solidFill>
                  <a:schemeClr val="tx2"/>
                </a:solidFill>
              </a:rPr>
              <a:t>網站照常運作，改用示範回答</a:t>
            </a:r>
            <a:endParaRPr lang="en-US" sz="2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00" dirty="0">
                <a:solidFill>
                  <a:schemeClr val="tx2"/>
                </a:solidFill>
              </a:rPr>
              <a:t>畫面上標示原因</a:t>
            </a:r>
            <a:endParaRPr lang="en-US" sz="2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00" dirty="0">
                <a:solidFill>
                  <a:schemeClr val="tx2"/>
                </a:solidFill>
              </a:rPr>
              <a:t>像店裡缺貨，推薦替代品</a:t>
            </a:r>
            <a:endParaRPr lang="en-US" sz="2100" dirty="0"/>
          </a:p>
        </p:txBody>
      </p:sp>
      <p:sp>
        <p:nvSpPr>
          <p:cNvPr id="8" name="col-1"/>
          <p:cNvSpPr/>
          <p:nvPr/>
        </p:nvSpPr>
        <p:spPr>
          <a:xfrm>
            <a:off x="4672584" y="1286764"/>
            <a:ext cx="3968496" cy="3836721"/>
          </a:xfrm>
          <a:prstGeom prst="roundRect">
            <a:avLst>
              <a:gd name="adj" fmla="val 2383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col-title-1"/>
          <p:cNvSpPr txBox="1"/>
          <p:nvPr/>
        </p:nvSpPr>
        <p:spPr>
          <a:xfrm>
            <a:off x="4892040" y="1506220"/>
            <a:ext cx="3529584" cy="43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60" b="1" dirty="0">
                <a:solidFill>
                  <a:schemeClr val="bg1"/>
                </a:solidFill>
              </a:rPr>
              <a:t>設定寫錯 → 拒絕啟動</a:t>
            </a:r>
            <a:endParaRPr lang="en-US" sz="2660" dirty="0"/>
          </a:p>
        </p:txBody>
      </p:sp>
      <p:sp>
        <p:nvSpPr>
          <p:cNvPr id="10" name="col-list-1"/>
          <p:cNvSpPr txBox="1"/>
          <p:nvPr/>
        </p:nvSpPr>
        <p:spPr>
          <a:xfrm>
            <a:off x="4892040" y="2048358"/>
            <a:ext cx="3529584" cy="285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00" dirty="0">
                <a:solidFill>
                  <a:schemeClr val="bg2"/>
                </a:solidFill>
              </a:rPr>
              <a:t>這是部署錯誤</a:t>
            </a:r>
            <a:endParaRPr lang="en-US" sz="2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00" dirty="0">
                <a:solidFill>
                  <a:schemeClr val="bg2"/>
                </a:solidFill>
              </a:rPr>
              <a:t>服務直接不啟動，並說明原因</a:t>
            </a:r>
            <a:endParaRPr lang="en-US" sz="2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00" dirty="0">
                <a:solidFill>
                  <a:schemeClr val="bg2"/>
                </a:solidFill>
              </a:rPr>
              <a:t>避免「看起來正常其實壞了」</a:t>
            </a:r>
            <a:endParaRPr lang="en-US" sz="2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00" dirty="0">
                <a:solidFill>
                  <a:schemeClr val="bg2"/>
                </a:solidFill>
              </a:rPr>
              <a:t>像招牌掛錯，乾脆先不開門</a:t>
            </a:r>
            <a:endParaRPr lang="en-US" sz="2100" dirty="0"/>
          </a:p>
        </p:txBody>
      </p:sp>
      <p:sp>
        <p:nvSpPr>
          <p:cNvPr id="11" name="note-box"/>
          <p:cNvSpPr/>
          <p:nvPr/>
        </p:nvSpPr>
        <p:spPr>
          <a:xfrm>
            <a:off x="502920" y="5324653"/>
            <a:ext cx="8138160" cy="874979"/>
          </a:xfrm>
          <a:prstGeom prst="roundRect">
            <a:avLst>
              <a:gd name="adj" fmla="val 8360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note"/>
          <p:cNvSpPr txBox="1"/>
          <p:nvPr/>
        </p:nvSpPr>
        <p:spPr>
          <a:xfrm>
            <a:off x="685800" y="5324653"/>
            <a:ext cx="7772400" cy="874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60" dirty="0" err="1">
                <a:solidFill>
                  <a:schemeClr val="tx1"/>
                </a:solidFill>
              </a:rPr>
              <a:t>不綁死在單一平台。AI</a:t>
            </a:r>
            <a:r>
              <a:rPr lang="en-US" sz="1960" dirty="0">
                <a:solidFill>
                  <a:schemeClr val="tx1"/>
                </a:solidFill>
              </a:rPr>
              <a:t> 平台失效時，服務要能優雅地降級。</a:t>
            </a:r>
            <a:endParaRPr lang="en-US" sz="196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02920" y="3291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chemeClr val="accent2"/>
                </a:solidFill>
              </a:rPr>
              <a:t>第 7 章　程式碼直接以容器執行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02920" y="603504"/>
            <a:ext cx="8138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chemeClr val="tx1"/>
                </a:solidFill>
              </a:rPr>
              <a:t>每完成一個檔案，就存一個版本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02920" y="64008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2"/>
                </a:solidFill>
              </a:rPr>
              <a:t>第 7 章　程式碼直接以容器執行　·　AI 雲端部署與容器化｜黃懷慶</a:t>
            </a:r>
            <a:endParaRPr lang="en-US" sz="1000" dirty="0"/>
          </a:p>
        </p:txBody>
      </p:sp>
      <p:sp>
        <p:nvSpPr>
          <p:cNvPr id="5" name="card-0-0"/>
          <p:cNvSpPr/>
          <p:nvPr/>
        </p:nvSpPr>
        <p:spPr>
          <a:xfrm>
            <a:off x="502920" y="1286764"/>
            <a:ext cx="2578608" cy="3044139"/>
          </a:xfrm>
          <a:prstGeom prst="roundRect">
            <a:avLst>
              <a:gd name="adj" fmla="val 3546"/>
            </a:avLst>
          </a:prstGeom>
          <a:solidFill>
            <a:schemeClr val="accent5"/>
          </a:solidFill>
          <a:ln w="9525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6" name="card-icon-0-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69644"/>
            <a:ext cx="329184" cy="329184"/>
          </a:xfrm>
          <a:prstGeom prst="rect">
            <a:avLst/>
          </a:prstGeom>
        </p:spPr>
      </p:pic>
      <p:sp>
        <p:nvSpPr>
          <p:cNvPr id="7" name="card-title-0-0"/>
          <p:cNvSpPr txBox="1"/>
          <p:nvPr/>
        </p:nvSpPr>
        <p:spPr>
          <a:xfrm>
            <a:off x="685800" y="1890268"/>
            <a:ext cx="2212848" cy="400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65" b="1" dirty="0">
                <a:solidFill>
                  <a:schemeClr val="tx1"/>
                </a:solidFill>
              </a:rPr>
              <a:t>隨時可以回頭</a:t>
            </a:r>
            <a:endParaRPr lang="en-US" sz="2465" dirty="0"/>
          </a:p>
        </p:txBody>
      </p:sp>
      <p:sp>
        <p:nvSpPr>
          <p:cNvPr id="8" name="card-body-0-0"/>
          <p:cNvSpPr txBox="1"/>
          <p:nvPr/>
        </p:nvSpPr>
        <p:spPr>
          <a:xfrm>
            <a:off x="685800" y="2345842"/>
            <a:ext cx="2212848" cy="1802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30" dirty="0">
                <a:solidFill>
                  <a:schemeClr val="tx2"/>
                </a:solidFill>
              </a:rPr>
              <a:t>每個版本都是一個存檔點，改壞了可以退回。</a:t>
            </a:r>
            <a:endParaRPr lang="en-US" sz="2030" dirty="0"/>
          </a:p>
        </p:txBody>
      </p:sp>
      <p:sp>
        <p:nvSpPr>
          <p:cNvPr id="9" name="card-0-1"/>
          <p:cNvSpPr/>
          <p:nvPr/>
        </p:nvSpPr>
        <p:spPr>
          <a:xfrm>
            <a:off x="3282696" y="1286764"/>
            <a:ext cx="2578608" cy="3044139"/>
          </a:xfrm>
          <a:prstGeom prst="roundRect">
            <a:avLst>
              <a:gd name="adj" fmla="val 3546"/>
            </a:avLst>
          </a:prstGeom>
          <a:solidFill>
            <a:schemeClr val="accent5"/>
          </a:solidFill>
          <a:ln w="9525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10" name="card-icon-0-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5576" y="1469644"/>
            <a:ext cx="329184" cy="329184"/>
          </a:xfrm>
          <a:prstGeom prst="rect">
            <a:avLst/>
          </a:prstGeom>
        </p:spPr>
      </p:pic>
      <p:sp>
        <p:nvSpPr>
          <p:cNvPr id="11" name="card-title-0-1"/>
          <p:cNvSpPr txBox="1"/>
          <p:nvPr/>
        </p:nvSpPr>
        <p:spPr>
          <a:xfrm>
            <a:off x="3465576" y="1890268"/>
            <a:ext cx="2212848" cy="8014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65" b="1" dirty="0">
                <a:solidFill>
                  <a:schemeClr val="tx1"/>
                </a:solidFill>
              </a:rPr>
              <a:t>看得出改了什麼</a:t>
            </a:r>
            <a:endParaRPr lang="en-US" sz="2465" dirty="0"/>
          </a:p>
        </p:txBody>
      </p:sp>
      <p:sp>
        <p:nvSpPr>
          <p:cNvPr id="12" name="card-body-0-1"/>
          <p:cNvSpPr txBox="1"/>
          <p:nvPr/>
        </p:nvSpPr>
        <p:spPr>
          <a:xfrm>
            <a:off x="3465576" y="2746553"/>
            <a:ext cx="2212848" cy="1401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30" dirty="0">
                <a:solidFill>
                  <a:schemeClr val="tx2"/>
                </a:solidFill>
              </a:rPr>
              <a:t>每次存版本都寫一句說明，之後一目了然。</a:t>
            </a:r>
            <a:endParaRPr lang="en-US" sz="2030" dirty="0"/>
          </a:p>
        </p:txBody>
      </p:sp>
      <p:sp>
        <p:nvSpPr>
          <p:cNvPr id="13" name="card-0-2"/>
          <p:cNvSpPr/>
          <p:nvPr/>
        </p:nvSpPr>
        <p:spPr>
          <a:xfrm>
            <a:off x="6062472" y="1286764"/>
            <a:ext cx="2578608" cy="3044139"/>
          </a:xfrm>
          <a:prstGeom prst="roundRect">
            <a:avLst>
              <a:gd name="adj" fmla="val 3546"/>
            </a:avLst>
          </a:prstGeom>
          <a:solidFill>
            <a:schemeClr val="accent5"/>
          </a:solidFill>
          <a:ln w="9525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14" name="card-icon-0-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5352" y="1469644"/>
            <a:ext cx="329184" cy="329184"/>
          </a:xfrm>
          <a:prstGeom prst="rect">
            <a:avLst/>
          </a:prstGeom>
        </p:spPr>
      </p:pic>
      <p:sp>
        <p:nvSpPr>
          <p:cNvPr id="15" name="card-title-0-2"/>
          <p:cNvSpPr txBox="1"/>
          <p:nvPr/>
        </p:nvSpPr>
        <p:spPr>
          <a:xfrm>
            <a:off x="6245352" y="1890268"/>
            <a:ext cx="2212848" cy="400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65" b="1" dirty="0">
                <a:solidFill>
                  <a:schemeClr val="tx1"/>
                </a:solidFill>
              </a:rPr>
              <a:t>別人看得懂</a:t>
            </a:r>
            <a:endParaRPr lang="en-US" sz="2465" dirty="0"/>
          </a:p>
        </p:txBody>
      </p:sp>
      <p:sp>
        <p:nvSpPr>
          <p:cNvPr id="16" name="card-body-0-2"/>
          <p:cNvSpPr txBox="1"/>
          <p:nvPr/>
        </p:nvSpPr>
        <p:spPr>
          <a:xfrm>
            <a:off x="6245352" y="2345842"/>
            <a:ext cx="2212848" cy="1802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30" dirty="0">
                <a:solidFill>
                  <a:schemeClr val="tx2"/>
                </a:solidFill>
              </a:rPr>
              <a:t>版本紀錄清楚，別人一看就懂你的工作方式。</a:t>
            </a:r>
            <a:endParaRPr lang="en-US" sz="2030" dirty="0"/>
          </a:p>
        </p:txBody>
      </p:sp>
      <p:sp>
        <p:nvSpPr>
          <p:cNvPr id="17" name="note-box"/>
          <p:cNvSpPr/>
          <p:nvPr/>
        </p:nvSpPr>
        <p:spPr>
          <a:xfrm>
            <a:off x="502920" y="4532071"/>
            <a:ext cx="8138160" cy="897738"/>
          </a:xfrm>
          <a:prstGeom prst="roundRect">
            <a:avLst>
              <a:gd name="adj" fmla="val 814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note"/>
          <p:cNvSpPr txBox="1"/>
          <p:nvPr/>
        </p:nvSpPr>
        <p:spPr>
          <a:xfrm>
            <a:off x="685800" y="4532071"/>
            <a:ext cx="7772400" cy="897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30" dirty="0" err="1">
                <a:solidFill>
                  <a:schemeClr val="tx1"/>
                </a:solidFill>
              </a:rPr>
              <a:t>沒有版本紀錄，就沒有可以追溯、可以退回的版本</a:t>
            </a:r>
            <a:r>
              <a:rPr lang="en-US" sz="2030" dirty="0">
                <a:solidFill>
                  <a:schemeClr val="tx1"/>
                </a:solidFill>
              </a:rPr>
              <a:t>。</a:t>
            </a:r>
            <a:endParaRPr lang="en-US" sz="203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02920" y="3291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chemeClr val="accent2"/>
                </a:solidFill>
              </a:rPr>
              <a:t>第 7 章　程式碼直接以容器執行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02920" y="603504"/>
            <a:ext cx="8138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chemeClr val="tx1"/>
                </a:solidFill>
              </a:rPr>
              <a:t>步驟 6　把程式碼「掛進」容器執行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02920" y="64008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2"/>
                </a:solidFill>
              </a:rPr>
              <a:t>第 7 章　程式碼直接以容器執行　·　AI 雲端部署與容器化｜黃懷慶</a:t>
            </a:r>
            <a:endParaRPr lang="en-US" sz="1000" dirty="0"/>
          </a:p>
        </p:txBody>
      </p:sp>
      <p:sp>
        <p:nvSpPr>
          <p:cNvPr id="5" name="step-0"/>
          <p:cNvSpPr/>
          <p:nvPr/>
        </p:nvSpPr>
        <p:spPr>
          <a:xfrm>
            <a:off x="502920" y="1286764"/>
            <a:ext cx="2407920" cy="1983638"/>
          </a:xfrm>
          <a:prstGeom prst="roundRect">
            <a:avLst>
              <a:gd name="adj" fmla="val 4610"/>
            </a:avLst>
          </a:prstGeom>
          <a:solidFill>
            <a:schemeClr val="accent5"/>
          </a:solidFill>
          <a:ln w="9525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tep-title-0"/>
          <p:cNvSpPr txBox="1"/>
          <p:nvPr/>
        </p:nvSpPr>
        <p:spPr>
          <a:xfrm>
            <a:off x="649224" y="1433068"/>
            <a:ext cx="211531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75" b="1" dirty="0">
                <a:solidFill>
                  <a:schemeClr val="tx1"/>
                </a:solidFill>
              </a:rPr>
              <a:t>你的程式碼</a:t>
            </a:r>
            <a:endParaRPr lang="en-US" sz="2175" dirty="0"/>
          </a:p>
        </p:txBody>
      </p:sp>
      <p:sp>
        <p:nvSpPr>
          <p:cNvPr id="7" name="step-body-0"/>
          <p:cNvSpPr txBox="1"/>
          <p:nvPr/>
        </p:nvSpPr>
        <p:spPr>
          <a:xfrm>
            <a:off x="649224" y="1859788"/>
            <a:ext cx="2115312" cy="1264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58" dirty="0">
                <a:solidFill>
                  <a:schemeClr val="tx2"/>
                </a:solidFill>
              </a:rPr>
              <a:t>留在 Codespace 的資料夾裡</a:t>
            </a:r>
            <a:endParaRPr lang="en-US" sz="1958" dirty="0"/>
          </a:p>
        </p:txBody>
      </p:sp>
      <p:sp>
        <p:nvSpPr>
          <p:cNvPr id="8" name="arrow-0"/>
          <p:cNvSpPr/>
          <p:nvPr/>
        </p:nvSpPr>
        <p:spPr>
          <a:xfrm>
            <a:off x="3002280" y="2177999"/>
            <a:ext cx="274320" cy="201168"/>
          </a:xfrm>
          <a:prstGeom prst="rightArrow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step-1"/>
          <p:cNvSpPr/>
          <p:nvPr/>
        </p:nvSpPr>
        <p:spPr>
          <a:xfrm>
            <a:off x="3368040" y="1286764"/>
            <a:ext cx="2407920" cy="1983638"/>
          </a:xfrm>
          <a:prstGeom prst="roundRect">
            <a:avLst>
              <a:gd name="adj" fmla="val 4610"/>
            </a:avLst>
          </a:prstGeom>
          <a:solidFill>
            <a:schemeClr val="accent5"/>
          </a:solidFill>
          <a:ln w="9525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tep-title-1"/>
          <p:cNvSpPr txBox="1"/>
          <p:nvPr/>
        </p:nvSpPr>
        <p:spPr>
          <a:xfrm>
            <a:off x="3514344" y="1433068"/>
            <a:ext cx="211531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75" b="1" dirty="0">
                <a:solidFill>
                  <a:schemeClr val="tx1"/>
                </a:solidFill>
              </a:rPr>
              <a:t>掛載</a:t>
            </a:r>
            <a:endParaRPr lang="en-US" sz="2175" dirty="0"/>
          </a:p>
        </p:txBody>
      </p:sp>
      <p:sp>
        <p:nvSpPr>
          <p:cNvPr id="11" name="step-body-1"/>
          <p:cNvSpPr txBox="1"/>
          <p:nvPr/>
        </p:nvSpPr>
        <p:spPr>
          <a:xfrm>
            <a:off x="3514344" y="1859788"/>
            <a:ext cx="2115312" cy="1264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58" dirty="0">
                <a:solidFill>
                  <a:schemeClr val="tx2"/>
                </a:solidFill>
              </a:rPr>
              <a:t>讓容器「看得到」這個資料夾</a:t>
            </a:r>
            <a:endParaRPr lang="en-US" sz="1958" dirty="0"/>
          </a:p>
        </p:txBody>
      </p:sp>
      <p:sp>
        <p:nvSpPr>
          <p:cNvPr id="12" name="arrow-1"/>
          <p:cNvSpPr/>
          <p:nvPr/>
        </p:nvSpPr>
        <p:spPr>
          <a:xfrm>
            <a:off x="5867400" y="2177999"/>
            <a:ext cx="274320" cy="201168"/>
          </a:xfrm>
          <a:prstGeom prst="rightArrow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step-2"/>
          <p:cNvSpPr/>
          <p:nvPr/>
        </p:nvSpPr>
        <p:spPr>
          <a:xfrm>
            <a:off x="6233160" y="1286764"/>
            <a:ext cx="2407920" cy="1983638"/>
          </a:xfrm>
          <a:prstGeom prst="roundRect">
            <a:avLst>
              <a:gd name="adj" fmla="val 461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step-title-2"/>
          <p:cNvSpPr txBox="1"/>
          <p:nvPr/>
        </p:nvSpPr>
        <p:spPr>
          <a:xfrm>
            <a:off x="6379464" y="1433068"/>
            <a:ext cx="2115312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75" b="1" dirty="0">
                <a:solidFill>
                  <a:schemeClr val="tx1"/>
                </a:solidFill>
              </a:rPr>
              <a:t>官方 Python 容器</a:t>
            </a:r>
            <a:endParaRPr lang="en-US" sz="2175" dirty="0"/>
          </a:p>
        </p:txBody>
      </p:sp>
      <p:sp>
        <p:nvSpPr>
          <p:cNvPr id="15" name="step-body-2"/>
          <p:cNvSpPr txBox="1"/>
          <p:nvPr/>
        </p:nvSpPr>
        <p:spPr>
          <a:xfrm>
            <a:off x="6379464" y="2213356"/>
            <a:ext cx="2115312" cy="9107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58" dirty="0">
                <a:solidFill>
                  <a:schemeClr val="tx1"/>
                </a:solidFill>
              </a:rPr>
              <a:t>安裝套件、啟動網站</a:t>
            </a:r>
            <a:endParaRPr lang="en-US" sz="1958" dirty="0"/>
          </a:p>
        </p:txBody>
      </p:sp>
      <p:sp>
        <p:nvSpPr>
          <p:cNvPr id="16" name="note-box"/>
          <p:cNvSpPr/>
          <p:nvPr/>
        </p:nvSpPr>
        <p:spPr>
          <a:xfrm>
            <a:off x="502920" y="3471570"/>
            <a:ext cx="8138160" cy="897738"/>
          </a:xfrm>
          <a:prstGeom prst="roundRect">
            <a:avLst>
              <a:gd name="adj" fmla="val 814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note"/>
          <p:cNvSpPr txBox="1"/>
          <p:nvPr/>
        </p:nvSpPr>
        <p:spPr>
          <a:xfrm>
            <a:off x="685800" y="3471570"/>
            <a:ext cx="7772400" cy="897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30" dirty="0">
                <a:solidFill>
                  <a:schemeClr val="tx1"/>
                </a:solidFill>
              </a:rPr>
              <a:t>不需要寫 Dockerfile。改了程式碼存檔，網站就自動重新啟動。→ 指令：課程 Repo「第 7 章」</a:t>
            </a:r>
            <a:endParaRPr lang="en-US" sz="203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02920" y="3291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chemeClr val="accent2"/>
                </a:solidFill>
              </a:rPr>
              <a:t>第 7 章　程式碼直接以容器執行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02920" y="603504"/>
            <a:ext cx="8138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chemeClr val="tx1"/>
                </a:solidFill>
              </a:rPr>
              <a:t>這樣做好在哪裡？還缺什麼？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02920" y="64008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2"/>
                </a:solidFill>
              </a:rPr>
              <a:t>第 7 章　程式碼直接以容器執行　·　AI 雲端部署與容器化｜黃懷慶</a:t>
            </a:r>
            <a:endParaRPr lang="en-US" sz="1000" dirty="0"/>
          </a:p>
        </p:txBody>
      </p:sp>
      <p:graphicFrame>
        <p:nvGraphicFramePr>
          <p:cNvPr id="6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6764"/>
          <a:ext cx="8138159" cy="3110940"/>
        </p:xfrm>
        <a:graphic>
          <a:graphicData uri="http://schemas.openxmlformats.org/drawingml/2006/table">
            <a:tbl>
              <a:tblPr/>
              <a:tblGrid>
                <a:gridCol w="17903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738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738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9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b="1" dirty="0">
                          <a:solidFill>
                            <a:schemeClr val="bg1"/>
                          </a:solidFill>
                        </a:rPr>
                        <a:t>本章：掛進去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b="1" dirty="0">
                          <a:solidFill>
                            <a:schemeClr val="bg1"/>
                          </a:solidFill>
                        </a:rPr>
                        <a:t>第 8 章：封進去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9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程式碼在哪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容器外面，掛載進去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封裝在映像裡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9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改了程式碼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存檔立即生效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要重新建置映像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9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每次啟動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都要重新安裝套件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套件已經裝好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5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能交給別人嗎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不能：對方沒有你的程式碼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能：映像就是完整成品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note"/>
          <p:cNvSpPr txBox="1"/>
          <p:nvPr/>
        </p:nvSpPr>
        <p:spPr>
          <a:xfrm>
            <a:off x="502920" y="4598873"/>
            <a:ext cx="8138160" cy="659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30" b="1" dirty="0">
                <a:solidFill>
                  <a:schemeClr val="accent2"/>
                </a:solidFill>
              </a:rPr>
              <a:t>環境已經統一了，但還不是能交出去的成品。這正是第 8 章要解決的事。</a:t>
            </a:r>
            <a:endParaRPr lang="en-US" sz="203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02920" y="3291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chemeClr val="accent2"/>
                </a:solidFill>
              </a:rPr>
              <a:t>第 7 章　程式碼直接以容器執行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02920" y="603504"/>
            <a:ext cx="8138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chemeClr val="tx1"/>
                </a:solidFill>
              </a:rPr>
              <a:t>把網站開放出去看：連接埠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02920" y="64008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2"/>
                </a:solidFill>
              </a:rPr>
              <a:t>第 7 章　程式碼直接以容器執行　·　AI 雲端部署與容器化｜黃懷慶</a:t>
            </a:r>
            <a:endParaRPr lang="en-US" sz="1000" dirty="0"/>
          </a:p>
        </p:txBody>
      </p:sp>
      <p:sp>
        <p:nvSpPr>
          <p:cNvPr id="5" name="col-0"/>
          <p:cNvSpPr/>
          <p:nvPr/>
        </p:nvSpPr>
        <p:spPr>
          <a:xfrm>
            <a:off x="502920" y="1286764"/>
            <a:ext cx="3968496" cy="2642413"/>
          </a:xfrm>
          <a:prstGeom prst="roundRect">
            <a:avLst>
              <a:gd name="adj" fmla="val 3460"/>
            </a:avLst>
          </a:prstGeom>
          <a:solidFill>
            <a:schemeClr val="accent5"/>
          </a:solidFill>
          <a:ln w="9525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col-title-0"/>
          <p:cNvSpPr txBox="1"/>
          <p:nvPr/>
        </p:nvSpPr>
        <p:spPr>
          <a:xfrm>
            <a:off x="722376" y="1506220"/>
            <a:ext cx="3529584" cy="447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55" b="1" dirty="0">
                <a:solidFill>
                  <a:schemeClr val="tx1"/>
                </a:solidFill>
              </a:rPr>
              <a:t>Private（預設）</a:t>
            </a:r>
            <a:endParaRPr lang="en-US" sz="2755" dirty="0"/>
          </a:p>
        </p:txBody>
      </p:sp>
      <p:sp>
        <p:nvSpPr>
          <p:cNvPr id="7" name="col-list-0"/>
          <p:cNvSpPr txBox="1"/>
          <p:nvPr/>
        </p:nvSpPr>
        <p:spPr>
          <a:xfrm>
            <a:off x="722376" y="2063801"/>
            <a:ext cx="35295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dirty="0">
                <a:solidFill>
                  <a:schemeClr val="tx2"/>
                </a:solidFill>
              </a:rPr>
              <a:t>只有登入 GitHub 的你看得到</a:t>
            </a:r>
            <a:endParaRPr lang="en-US" sz="2175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dirty="0">
                <a:solidFill>
                  <a:schemeClr val="tx2"/>
                </a:solidFill>
              </a:rPr>
              <a:t>適合開發測試</a:t>
            </a:r>
            <a:endParaRPr lang="en-US" sz="2175" dirty="0"/>
          </a:p>
        </p:txBody>
      </p:sp>
      <p:sp>
        <p:nvSpPr>
          <p:cNvPr id="8" name="col-1"/>
          <p:cNvSpPr/>
          <p:nvPr/>
        </p:nvSpPr>
        <p:spPr>
          <a:xfrm>
            <a:off x="4672584" y="1286764"/>
            <a:ext cx="3968496" cy="2642413"/>
          </a:xfrm>
          <a:prstGeom prst="roundRect">
            <a:avLst>
              <a:gd name="adj" fmla="val 3460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col-title-1"/>
          <p:cNvSpPr txBox="1"/>
          <p:nvPr/>
        </p:nvSpPr>
        <p:spPr>
          <a:xfrm>
            <a:off x="4892040" y="1506220"/>
            <a:ext cx="3529584" cy="447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55" b="1" dirty="0">
                <a:solidFill>
                  <a:schemeClr val="bg1"/>
                </a:solidFill>
              </a:rPr>
              <a:t>Public（公開）</a:t>
            </a:r>
            <a:endParaRPr lang="en-US" sz="2755" dirty="0"/>
          </a:p>
        </p:txBody>
      </p:sp>
      <p:sp>
        <p:nvSpPr>
          <p:cNvPr id="10" name="col-list-1"/>
          <p:cNvSpPr txBox="1"/>
          <p:nvPr/>
        </p:nvSpPr>
        <p:spPr>
          <a:xfrm>
            <a:off x="4892040" y="2063801"/>
            <a:ext cx="35295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dirty="0">
                <a:solidFill>
                  <a:schemeClr val="bg2"/>
                </a:solidFill>
              </a:rPr>
              <a:t>任何人拿到網址都看得到</a:t>
            </a:r>
            <a:endParaRPr lang="en-US" sz="2175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dirty="0">
                <a:solidFill>
                  <a:schemeClr val="bg2"/>
                </a:solidFill>
              </a:rPr>
              <a:t>可以用手機開來試試</a:t>
            </a:r>
            <a:endParaRPr lang="en-US" sz="2175" dirty="0"/>
          </a:p>
        </p:txBody>
      </p:sp>
      <p:sp>
        <p:nvSpPr>
          <p:cNvPr id="11" name="note-box"/>
          <p:cNvSpPr/>
          <p:nvPr/>
        </p:nvSpPr>
        <p:spPr>
          <a:xfrm>
            <a:off x="502920" y="4130345"/>
            <a:ext cx="8138160" cy="897738"/>
          </a:xfrm>
          <a:prstGeom prst="roundRect">
            <a:avLst>
              <a:gd name="adj" fmla="val 814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note"/>
          <p:cNvSpPr txBox="1"/>
          <p:nvPr/>
        </p:nvSpPr>
        <p:spPr>
          <a:xfrm>
            <a:off x="685800" y="4130345"/>
            <a:ext cx="7772400" cy="897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30" dirty="0">
                <a:solidFill>
                  <a:schemeClr val="tx1"/>
                </a:solidFill>
              </a:rPr>
              <a:t>注意：這個網址綁在你的 Codespace 上，關機就失效。這是「臨時展示」，不是部署。</a:t>
            </a:r>
            <a:endParaRPr lang="en-US" sz="203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731520" y="1417320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8000" b="1" dirty="0">
                <a:solidFill>
                  <a:schemeClr val="accent1"/>
                </a:solidFill>
              </a:rPr>
              <a:t>08</a:t>
            </a:r>
            <a:endParaRPr lang="en-US" sz="80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731520" y="26974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 dirty="0">
                <a:solidFill>
                  <a:schemeClr val="tx1"/>
                </a:solidFill>
              </a:rPr>
              <a:t>程式碼打包成</a:t>
            </a:r>
            <a:endParaRPr lang="en-US" sz="36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 dirty="0">
                <a:solidFill>
                  <a:schemeClr val="tx1"/>
                </a:solidFill>
              </a:rPr>
              <a:t>容器映像</a:t>
            </a:r>
            <a:endParaRPr lang="en-US" sz="3600" dirty="0"/>
          </a:p>
        </p:txBody>
      </p:sp>
      <p:sp>
        <p:nvSpPr>
          <p:cNvPr id="4" name="Text 1"/>
          <p:cNvSpPr>
            <a:spLocks noGrp="1"/>
          </p:cNvSpPr>
          <p:nvPr>
            <p:ph type="body" idx="103" hasCustomPrompt="1"/>
          </p:nvPr>
        </p:nvSpPr>
        <p:spPr>
          <a:xfrm>
            <a:off x="731520" y="416052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accent2"/>
                </a:solidFill>
              </a:rPr>
              <a:t>把程式碼「封進」調理包，並讓工廠自動生產</a:t>
            </a:r>
            <a:endParaRPr lang="en-US" sz="1800" dirty="0"/>
          </a:p>
        </p:txBody>
      </p:sp>
      <p:sp>
        <p:nvSpPr>
          <p:cNvPr id="5" name="Text 1"/>
          <p:cNvSpPr>
            <a:spLocks noGrp="1"/>
          </p:cNvSpPr>
          <p:nvPr>
            <p:ph type="body" idx="104" hasCustomPrompt="1"/>
          </p:nvPr>
        </p:nvSpPr>
        <p:spPr>
          <a:xfrm>
            <a:off x="731520" y="49377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300" dirty="0">
                <a:solidFill>
                  <a:schemeClr val="tx2"/>
                </a:solidFill>
              </a:rPr>
              <a:t>實作　｜　建議 4 小時</a:t>
            </a:r>
            <a:endParaRPr lang="en-US" sz="13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02920" y="3291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chemeClr val="accent2"/>
                </a:solidFill>
              </a:rPr>
              <a:t>第 8 章　打包成容器映像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02920" y="603504"/>
            <a:ext cx="8138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chemeClr val="tx1"/>
                </a:solidFill>
              </a:rPr>
              <a:t>Dockerfile：調理包的標準作業程序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02920" y="64008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2"/>
                </a:solidFill>
              </a:rPr>
              <a:t>第 8 章　打包成容器映像　·　AI 雲端部署與容器化｜黃懷慶</a:t>
            </a:r>
            <a:endParaRPr lang="en-US" sz="1000" dirty="0"/>
          </a:p>
        </p:txBody>
      </p:sp>
      <p:sp>
        <p:nvSpPr>
          <p:cNvPr id="5" name="card-0-0"/>
          <p:cNvSpPr/>
          <p:nvPr/>
        </p:nvSpPr>
        <p:spPr>
          <a:xfrm>
            <a:off x="502920" y="1286764"/>
            <a:ext cx="3968496" cy="1971396"/>
          </a:xfrm>
          <a:prstGeom prst="roundRect">
            <a:avLst>
              <a:gd name="adj" fmla="val 4638"/>
            </a:avLst>
          </a:prstGeom>
          <a:solidFill>
            <a:schemeClr val="accent5"/>
          </a:solidFill>
          <a:ln w="9525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6" name="card-icon-0-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69644"/>
            <a:ext cx="329184" cy="329184"/>
          </a:xfrm>
          <a:prstGeom prst="rect">
            <a:avLst/>
          </a:prstGeom>
        </p:spPr>
      </p:pic>
      <p:sp>
        <p:nvSpPr>
          <p:cNvPr id="7" name="card-title-0-0"/>
          <p:cNvSpPr txBox="1"/>
          <p:nvPr/>
        </p:nvSpPr>
        <p:spPr>
          <a:xfrm>
            <a:off x="685800" y="1890268"/>
            <a:ext cx="3602736" cy="400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65" b="1" dirty="0">
                <a:solidFill>
                  <a:schemeClr val="tx1"/>
                </a:solidFill>
              </a:rPr>
              <a:t>分階段製作</a:t>
            </a:r>
            <a:endParaRPr lang="en-US" sz="2465" dirty="0"/>
          </a:p>
        </p:txBody>
      </p:sp>
      <p:sp>
        <p:nvSpPr>
          <p:cNvPr id="8" name="card-body-0-0"/>
          <p:cNvSpPr txBox="1"/>
          <p:nvPr/>
        </p:nvSpPr>
        <p:spPr>
          <a:xfrm>
            <a:off x="685800" y="2345842"/>
            <a:ext cx="3602736" cy="7294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30" dirty="0">
                <a:solidFill>
                  <a:schemeClr val="tx2"/>
                </a:solidFill>
              </a:rPr>
              <a:t>在廚房準備，只把成品裝箱。映像更小、更安全。</a:t>
            </a:r>
            <a:endParaRPr lang="en-US" sz="2030" dirty="0"/>
          </a:p>
        </p:txBody>
      </p:sp>
      <p:sp>
        <p:nvSpPr>
          <p:cNvPr id="9" name="card-0-1"/>
          <p:cNvSpPr/>
          <p:nvPr/>
        </p:nvSpPr>
        <p:spPr>
          <a:xfrm>
            <a:off x="4672584" y="1286764"/>
            <a:ext cx="3968496" cy="1971396"/>
          </a:xfrm>
          <a:prstGeom prst="roundRect">
            <a:avLst>
              <a:gd name="adj" fmla="val 4638"/>
            </a:avLst>
          </a:prstGeom>
          <a:solidFill>
            <a:schemeClr val="accent5"/>
          </a:solidFill>
          <a:ln w="9525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10" name="card-icon-0-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5464" y="1469644"/>
            <a:ext cx="329184" cy="329184"/>
          </a:xfrm>
          <a:prstGeom prst="rect">
            <a:avLst/>
          </a:prstGeom>
        </p:spPr>
      </p:pic>
      <p:sp>
        <p:nvSpPr>
          <p:cNvPr id="11" name="card-title-0-1"/>
          <p:cNvSpPr txBox="1"/>
          <p:nvPr/>
        </p:nvSpPr>
        <p:spPr>
          <a:xfrm>
            <a:off x="4855464" y="1890268"/>
            <a:ext cx="3602736" cy="400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65" b="1" dirty="0">
                <a:solidFill>
                  <a:schemeClr val="tx1"/>
                </a:solidFill>
              </a:rPr>
              <a:t>最小權限</a:t>
            </a:r>
            <a:endParaRPr lang="en-US" sz="2465" dirty="0"/>
          </a:p>
        </p:txBody>
      </p:sp>
      <p:sp>
        <p:nvSpPr>
          <p:cNvPr id="12" name="card-body-0-1"/>
          <p:cNvSpPr txBox="1"/>
          <p:nvPr/>
        </p:nvSpPr>
        <p:spPr>
          <a:xfrm>
            <a:off x="4855464" y="2345842"/>
            <a:ext cx="3602736" cy="7294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30" dirty="0">
                <a:solidFill>
                  <a:schemeClr val="tx2"/>
                </a:solidFill>
              </a:rPr>
              <a:t>不用最高權限執行，萬一被入侵損害較小。</a:t>
            </a:r>
            <a:endParaRPr lang="en-US" sz="2030" dirty="0"/>
          </a:p>
        </p:txBody>
      </p:sp>
      <p:sp>
        <p:nvSpPr>
          <p:cNvPr id="13" name="card-1-0"/>
          <p:cNvSpPr/>
          <p:nvPr/>
        </p:nvSpPr>
        <p:spPr>
          <a:xfrm>
            <a:off x="502920" y="3459328"/>
            <a:ext cx="3968496" cy="1971396"/>
          </a:xfrm>
          <a:prstGeom prst="roundRect">
            <a:avLst>
              <a:gd name="adj" fmla="val 4638"/>
            </a:avLst>
          </a:prstGeom>
          <a:solidFill>
            <a:schemeClr val="accent5"/>
          </a:solidFill>
          <a:ln w="9525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14" name="card-icon-1-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642208"/>
            <a:ext cx="329184" cy="329184"/>
          </a:xfrm>
          <a:prstGeom prst="rect">
            <a:avLst/>
          </a:prstGeom>
        </p:spPr>
      </p:pic>
      <p:sp>
        <p:nvSpPr>
          <p:cNvPr id="15" name="card-title-1-0"/>
          <p:cNvSpPr txBox="1"/>
          <p:nvPr/>
        </p:nvSpPr>
        <p:spPr>
          <a:xfrm>
            <a:off x="685800" y="4062832"/>
            <a:ext cx="3602736" cy="400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65" b="1" dirty="0">
                <a:solidFill>
                  <a:schemeClr val="tx1"/>
                </a:solidFill>
              </a:rPr>
              <a:t>自我健康檢查</a:t>
            </a:r>
            <a:endParaRPr lang="en-US" sz="2465" dirty="0"/>
          </a:p>
        </p:txBody>
      </p:sp>
      <p:sp>
        <p:nvSpPr>
          <p:cNvPr id="16" name="card-body-1-0"/>
          <p:cNvSpPr txBox="1"/>
          <p:nvPr/>
        </p:nvSpPr>
        <p:spPr>
          <a:xfrm>
            <a:off x="685800" y="4518406"/>
            <a:ext cx="3602736" cy="7294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30" dirty="0">
                <a:solidFill>
                  <a:schemeClr val="tx2"/>
                </a:solidFill>
              </a:rPr>
              <a:t>容器定期確認自己還活著。</a:t>
            </a:r>
            <a:endParaRPr lang="en-US" sz="2030" dirty="0"/>
          </a:p>
        </p:txBody>
      </p:sp>
      <p:sp>
        <p:nvSpPr>
          <p:cNvPr id="17" name="card-1-1"/>
          <p:cNvSpPr/>
          <p:nvPr/>
        </p:nvSpPr>
        <p:spPr>
          <a:xfrm>
            <a:off x="4672584" y="3459328"/>
            <a:ext cx="3968496" cy="1971396"/>
          </a:xfrm>
          <a:prstGeom prst="roundRect">
            <a:avLst>
              <a:gd name="adj" fmla="val 4638"/>
            </a:avLst>
          </a:prstGeom>
          <a:solidFill>
            <a:schemeClr val="accent5"/>
          </a:solidFill>
          <a:ln w="9525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18" name="card-icon-1-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5464" y="3642208"/>
            <a:ext cx="329184" cy="329184"/>
          </a:xfrm>
          <a:prstGeom prst="rect">
            <a:avLst/>
          </a:prstGeom>
        </p:spPr>
      </p:pic>
      <p:sp>
        <p:nvSpPr>
          <p:cNvPr id="19" name="card-title-1-1"/>
          <p:cNvSpPr txBox="1"/>
          <p:nvPr/>
        </p:nvSpPr>
        <p:spPr>
          <a:xfrm>
            <a:off x="4855464" y="4062832"/>
            <a:ext cx="3602736" cy="400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65" b="1" dirty="0">
                <a:solidFill>
                  <a:schemeClr val="tx1"/>
                </a:solidFill>
              </a:rPr>
              <a:t>不打包雜物</a:t>
            </a:r>
            <a:endParaRPr lang="en-US" sz="2465" dirty="0"/>
          </a:p>
        </p:txBody>
      </p:sp>
      <p:sp>
        <p:nvSpPr>
          <p:cNvPr id="20" name="card-body-1-1"/>
          <p:cNvSpPr txBox="1"/>
          <p:nvPr/>
        </p:nvSpPr>
        <p:spPr>
          <a:xfrm>
            <a:off x="4855464" y="4518406"/>
            <a:ext cx="3602736" cy="7294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30" dirty="0">
                <a:solidFill>
                  <a:schemeClr val="tx2"/>
                </a:solidFill>
              </a:rPr>
              <a:t>忽略清單讓不需要的檔案不進映像。</a:t>
            </a:r>
            <a:endParaRPr lang="en-US" sz="2030" dirty="0"/>
          </a:p>
        </p:txBody>
      </p:sp>
      <p:sp>
        <p:nvSpPr>
          <p:cNvPr id="21" name="note-box"/>
          <p:cNvSpPr/>
          <p:nvPr/>
        </p:nvSpPr>
        <p:spPr>
          <a:xfrm>
            <a:off x="502920" y="5631891"/>
            <a:ext cx="8138160" cy="567741"/>
          </a:xfrm>
          <a:prstGeom prst="roundRect">
            <a:avLst>
              <a:gd name="adj" fmla="val 12885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note"/>
          <p:cNvSpPr txBox="1"/>
          <p:nvPr/>
        </p:nvSpPr>
        <p:spPr>
          <a:xfrm>
            <a:off x="685800" y="5631891"/>
            <a:ext cx="7772400" cy="5677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30" dirty="0">
                <a:solidFill>
                  <a:schemeClr val="tx1"/>
                </a:solidFill>
              </a:rPr>
              <a:t>→ Dockerfile 內容：課程 Repo「第 8 章」</a:t>
            </a:r>
            <a:endParaRPr lang="en-US" sz="203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02920" y="3291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chemeClr val="accent2"/>
                </a:solidFill>
              </a:rPr>
              <a:t>第 8 章　打包成容器映像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02920" y="603504"/>
            <a:ext cx="8138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chemeClr val="tx1"/>
                </a:solidFill>
              </a:rPr>
              <a:t>在自己的 Codespace 建置映像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02920" y="64008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2"/>
                </a:solidFill>
              </a:rPr>
              <a:t>第 8 章　打包成容器映像　·　AI 雲端部署與容器化｜黃懷慶</a:t>
            </a:r>
            <a:endParaRPr lang="en-US" sz="1000" dirty="0"/>
          </a:p>
        </p:txBody>
      </p:sp>
      <p:sp>
        <p:nvSpPr>
          <p:cNvPr id="5" name="col-0"/>
          <p:cNvSpPr/>
          <p:nvPr/>
        </p:nvSpPr>
        <p:spPr>
          <a:xfrm>
            <a:off x="502920" y="1286764"/>
            <a:ext cx="3968496" cy="3413557"/>
          </a:xfrm>
          <a:prstGeom prst="roundRect">
            <a:avLst>
              <a:gd name="adj" fmla="val 2679"/>
            </a:avLst>
          </a:prstGeom>
          <a:solidFill>
            <a:schemeClr val="accent5"/>
          </a:solidFill>
          <a:ln w="9525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col-title-0"/>
          <p:cNvSpPr txBox="1"/>
          <p:nvPr/>
        </p:nvSpPr>
        <p:spPr>
          <a:xfrm>
            <a:off x="722376" y="1506220"/>
            <a:ext cx="3529584" cy="447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55" b="1" dirty="0">
                <a:solidFill>
                  <a:schemeClr val="tx1"/>
                </a:solidFill>
              </a:rPr>
              <a:t>已經做到的</a:t>
            </a:r>
            <a:endParaRPr lang="en-US" sz="2755" dirty="0"/>
          </a:p>
        </p:txBody>
      </p:sp>
      <p:sp>
        <p:nvSpPr>
          <p:cNvPr id="7" name="col-list-0"/>
          <p:cNvSpPr txBox="1"/>
          <p:nvPr/>
        </p:nvSpPr>
        <p:spPr>
          <a:xfrm>
            <a:off x="722376" y="2063801"/>
            <a:ext cx="3529584" cy="2417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dirty="0">
                <a:solidFill>
                  <a:schemeClr val="tx2"/>
                </a:solidFill>
              </a:rPr>
              <a:t>程式碼和套件都封進映像了</a:t>
            </a:r>
            <a:endParaRPr lang="en-US" sz="2175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dirty="0">
                <a:solidFill>
                  <a:schemeClr val="tx2"/>
                </a:solidFill>
              </a:rPr>
              <a:t>啟動時不用掛載、不用安裝</a:t>
            </a:r>
            <a:endParaRPr lang="en-US" sz="2175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dirty="0">
                <a:solidFill>
                  <a:schemeClr val="tx2"/>
                </a:solidFill>
              </a:rPr>
              <a:t>已經是成品的「形狀」</a:t>
            </a:r>
            <a:endParaRPr lang="en-US" sz="2175" dirty="0"/>
          </a:p>
        </p:txBody>
      </p:sp>
      <p:sp>
        <p:nvSpPr>
          <p:cNvPr id="8" name="col-1"/>
          <p:cNvSpPr/>
          <p:nvPr/>
        </p:nvSpPr>
        <p:spPr>
          <a:xfrm>
            <a:off x="4672584" y="1286764"/>
            <a:ext cx="3968496" cy="3413557"/>
          </a:xfrm>
          <a:prstGeom prst="roundRect">
            <a:avLst>
              <a:gd name="adj" fmla="val 2679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col-title-1"/>
          <p:cNvSpPr txBox="1"/>
          <p:nvPr/>
        </p:nvSpPr>
        <p:spPr>
          <a:xfrm>
            <a:off x="4892040" y="1506220"/>
            <a:ext cx="3529584" cy="447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55" b="1" dirty="0">
                <a:solidFill>
                  <a:schemeClr val="bg1"/>
                </a:solidFill>
              </a:rPr>
              <a:t>但它還不能交付</a:t>
            </a:r>
            <a:endParaRPr lang="en-US" sz="2755" dirty="0"/>
          </a:p>
        </p:txBody>
      </p:sp>
      <p:sp>
        <p:nvSpPr>
          <p:cNvPr id="10" name="col-list-1"/>
          <p:cNvSpPr txBox="1"/>
          <p:nvPr/>
        </p:nvSpPr>
        <p:spPr>
          <a:xfrm>
            <a:off x="4892040" y="2063801"/>
            <a:ext cx="3529584" cy="2417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dirty="0">
                <a:solidFill>
                  <a:schemeClr val="bg2"/>
                </a:solidFill>
              </a:rPr>
              <a:t>版本號顯示為 dev</a:t>
            </a:r>
            <a:endParaRPr lang="en-US" sz="2175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dirty="0">
                <a:solidFill>
                  <a:schemeClr val="bg2"/>
                </a:solidFill>
              </a:rPr>
              <a:t>因為它可能包含還沒存版本的修改</a:t>
            </a:r>
            <a:endParaRPr lang="en-US" sz="2175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b="1" dirty="0">
                <a:solidFill>
                  <a:schemeClr val="bg2"/>
                </a:solidFill>
              </a:rPr>
              <a:t>沒有人知道它對應哪一版程式碼</a:t>
            </a:r>
            <a:endParaRPr lang="en-US" sz="2175" dirty="0"/>
          </a:p>
        </p:txBody>
      </p:sp>
      <p:sp>
        <p:nvSpPr>
          <p:cNvPr id="11" name="note-box"/>
          <p:cNvSpPr/>
          <p:nvPr/>
        </p:nvSpPr>
        <p:spPr>
          <a:xfrm>
            <a:off x="502920" y="4901489"/>
            <a:ext cx="8138160" cy="897738"/>
          </a:xfrm>
          <a:prstGeom prst="roundRect">
            <a:avLst>
              <a:gd name="adj" fmla="val 814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note"/>
          <p:cNvSpPr txBox="1"/>
          <p:nvPr/>
        </p:nvSpPr>
        <p:spPr>
          <a:xfrm>
            <a:off x="685800" y="4901489"/>
            <a:ext cx="7772400" cy="897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30" dirty="0">
                <a:solidFill>
                  <a:schemeClr val="tx1"/>
                </a:solidFill>
              </a:rPr>
              <a:t>要成為可交付的成品，必須交給「乾淨的環境」從存好的版本重新建置。</a:t>
            </a:r>
            <a:endParaRPr lang="en-US" sz="203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02920" y="3291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chemeClr val="accent2"/>
                </a:solidFill>
              </a:rPr>
              <a:t>第 8 章　打包成容器映像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02920" y="603504"/>
            <a:ext cx="8138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chemeClr val="tx1"/>
                </a:solidFill>
              </a:rPr>
              <a:t>把成果推上 GitHub，開一個 PR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02920" y="64008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2"/>
                </a:solidFill>
              </a:rPr>
              <a:t>第 8 章　打包成容器映像　·　AI 雲端部署與容器化｜黃懷慶</a:t>
            </a:r>
            <a:endParaRPr lang="en-US" sz="1000" dirty="0"/>
          </a:p>
        </p:txBody>
      </p:sp>
      <p:graphicFrame>
        <p:nvGraphicFramePr>
          <p:cNvPr id="71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6764"/>
          <a:ext cx="8138159" cy="3294150"/>
        </p:xfrm>
        <a:graphic>
          <a:graphicData uri="http://schemas.openxmlformats.org/drawingml/2006/table">
            <a:tbl>
              <a:tblPr/>
              <a:tblGrid>
                <a:gridCol w="26042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69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69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9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b="1" dirty="0">
                          <a:solidFill>
                            <a:schemeClr val="bg1"/>
                          </a:solidFill>
                        </a:rPr>
                        <a:t>步驟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b="1" dirty="0">
                          <a:solidFill>
                            <a:schemeClr val="bg1"/>
                          </a:solidFill>
                        </a:rPr>
                        <a:t>這是什麼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b="1" dirty="0">
                          <a:solidFill>
                            <a:schemeClr val="bg1"/>
                          </a:solidFill>
                        </a:rPr>
                        <a:t>為什麼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5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1. 確認有幾個版本要上傳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列出這條分支新增的版本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確認沒有漏存、沒有多存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5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2. 推上 GitHub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把分支上傳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第一次上傳要建立「對應關係」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5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3. 開 PR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請求把分支合併回主線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讓修改被看見、被審查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note"/>
          <p:cNvSpPr txBox="1"/>
          <p:nvPr/>
        </p:nvSpPr>
        <p:spPr>
          <a:xfrm>
            <a:off x="502920" y="4782083"/>
            <a:ext cx="8138160" cy="659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30" b="1" dirty="0">
                <a:solidFill>
                  <a:schemeClr val="accent2"/>
                </a:solidFill>
              </a:rPr>
              <a:t>分支第一次上傳前，面板上顯示的是雲朵圖示，不是數字。這是正常的。</a:t>
            </a:r>
            <a:endParaRPr lang="en-US" sz="203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02920" y="3291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chemeClr val="accent2"/>
                </a:solidFill>
              </a:rPr>
              <a:t>第 8 章　打包成容器映像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02920" y="603504"/>
            <a:ext cx="8138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chemeClr val="tx1"/>
                </a:solidFill>
              </a:rPr>
              <a:t>交付迴圈：讓「工廠」自動生產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02920" y="64008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2"/>
                </a:solidFill>
              </a:rPr>
              <a:t>第 8 章　打包成容器映像　·　AI 雲端部署與容器化｜黃懷慶</a:t>
            </a:r>
            <a:endParaRPr lang="en-US" sz="1000" dirty="0"/>
          </a:p>
        </p:txBody>
      </p:sp>
      <p:sp>
        <p:nvSpPr>
          <p:cNvPr id="5" name="step-0"/>
          <p:cNvSpPr/>
          <p:nvPr/>
        </p:nvSpPr>
        <p:spPr>
          <a:xfrm>
            <a:off x="502920" y="1286764"/>
            <a:ext cx="1691640" cy="2301850"/>
          </a:xfrm>
          <a:prstGeom prst="roundRect">
            <a:avLst>
              <a:gd name="adj" fmla="val 5405"/>
            </a:avLst>
          </a:prstGeom>
          <a:solidFill>
            <a:schemeClr val="accent5"/>
          </a:solidFill>
          <a:ln w="9525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tep-title-0"/>
          <p:cNvSpPr txBox="1"/>
          <p:nvPr/>
        </p:nvSpPr>
        <p:spPr>
          <a:xfrm>
            <a:off x="649224" y="1433068"/>
            <a:ext cx="139903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75" b="1" dirty="0">
                <a:solidFill>
                  <a:schemeClr val="tx1"/>
                </a:solidFill>
              </a:rPr>
              <a:t>合併 PR</a:t>
            </a:r>
            <a:endParaRPr lang="en-US" sz="2175" dirty="0"/>
          </a:p>
        </p:txBody>
      </p:sp>
      <p:sp>
        <p:nvSpPr>
          <p:cNvPr id="7" name="step-body-0"/>
          <p:cNvSpPr txBox="1"/>
          <p:nvPr/>
        </p:nvSpPr>
        <p:spPr>
          <a:xfrm>
            <a:off x="649224" y="1859788"/>
            <a:ext cx="1399032" cy="1582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58" dirty="0">
                <a:solidFill>
                  <a:schemeClr val="tx2"/>
                </a:solidFill>
              </a:rPr>
              <a:t>修改進入主線</a:t>
            </a:r>
            <a:endParaRPr lang="en-US" sz="1958" dirty="0"/>
          </a:p>
        </p:txBody>
      </p:sp>
      <p:sp>
        <p:nvSpPr>
          <p:cNvPr id="8" name="arrow-0"/>
          <p:cNvSpPr/>
          <p:nvPr/>
        </p:nvSpPr>
        <p:spPr>
          <a:xfrm>
            <a:off x="2286000" y="2337105"/>
            <a:ext cx="274320" cy="201168"/>
          </a:xfrm>
          <a:prstGeom prst="rightArrow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step-1"/>
          <p:cNvSpPr/>
          <p:nvPr/>
        </p:nvSpPr>
        <p:spPr>
          <a:xfrm>
            <a:off x="2651760" y="1286764"/>
            <a:ext cx="1691640" cy="2301850"/>
          </a:xfrm>
          <a:prstGeom prst="roundRect">
            <a:avLst>
              <a:gd name="adj" fmla="val 5405"/>
            </a:avLst>
          </a:prstGeom>
          <a:solidFill>
            <a:schemeClr val="accent5"/>
          </a:solidFill>
          <a:ln w="9525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tep-title-1"/>
          <p:cNvSpPr txBox="1"/>
          <p:nvPr/>
        </p:nvSpPr>
        <p:spPr>
          <a:xfrm>
            <a:off x="2798064" y="1433068"/>
            <a:ext cx="139903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75" b="1" dirty="0">
                <a:solidFill>
                  <a:schemeClr val="tx1"/>
                </a:solidFill>
              </a:rPr>
              <a:t>自動建置</a:t>
            </a:r>
            <a:endParaRPr lang="en-US" sz="2175" dirty="0"/>
          </a:p>
        </p:txBody>
      </p:sp>
      <p:sp>
        <p:nvSpPr>
          <p:cNvPr id="11" name="step-body-1"/>
          <p:cNvSpPr txBox="1"/>
          <p:nvPr/>
        </p:nvSpPr>
        <p:spPr>
          <a:xfrm>
            <a:off x="2798064" y="1859788"/>
            <a:ext cx="1399032" cy="1582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58" dirty="0">
                <a:solidFill>
                  <a:schemeClr val="tx2"/>
                </a:solidFill>
              </a:rPr>
              <a:t>GitHub 在乾淨的機器上從頭建置</a:t>
            </a:r>
            <a:endParaRPr lang="en-US" sz="1958" dirty="0"/>
          </a:p>
        </p:txBody>
      </p:sp>
      <p:sp>
        <p:nvSpPr>
          <p:cNvPr id="12" name="arrow-1"/>
          <p:cNvSpPr/>
          <p:nvPr/>
        </p:nvSpPr>
        <p:spPr>
          <a:xfrm>
            <a:off x="4434840" y="2337105"/>
            <a:ext cx="274320" cy="201168"/>
          </a:xfrm>
          <a:prstGeom prst="rightArrow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step-2"/>
          <p:cNvSpPr/>
          <p:nvPr/>
        </p:nvSpPr>
        <p:spPr>
          <a:xfrm>
            <a:off x="4800600" y="1286764"/>
            <a:ext cx="1691640" cy="2301850"/>
          </a:xfrm>
          <a:prstGeom prst="roundRect">
            <a:avLst>
              <a:gd name="adj" fmla="val 5405"/>
            </a:avLst>
          </a:prstGeom>
          <a:solidFill>
            <a:schemeClr val="accent5"/>
          </a:solidFill>
          <a:ln w="9525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tep-title-2"/>
          <p:cNvSpPr txBox="1"/>
          <p:nvPr/>
        </p:nvSpPr>
        <p:spPr>
          <a:xfrm>
            <a:off x="4946904" y="1433068"/>
            <a:ext cx="139903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75" b="1" dirty="0">
                <a:solidFill>
                  <a:schemeClr val="tx1"/>
                </a:solidFill>
              </a:rPr>
              <a:t>自動測試</a:t>
            </a:r>
            <a:endParaRPr lang="en-US" sz="2175" dirty="0"/>
          </a:p>
        </p:txBody>
      </p:sp>
      <p:sp>
        <p:nvSpPr>
          <p:cNvPr id="15" name="step-body-2"/>
          <p:cNvSpPr txBox="1"/>
          <p:nvPr/>
        </p:nvSpPr>
        <p:spPr>
          <a:xfrm>
            <a:off x="4946904" y="1859788"/>
            <a:ext cx="1399032" cy="1582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58" dirty="0">
                <a:solidFill>
                  <a:schemeClr val="tx2"/>
                </a:solidFill>
              </a:rPr>
              <a:t>確認服務能啟動、能回應</a:t>
            </a:r>
            <a:endParaRPr lang="en-US" sz="1958" dirty="0"/>
          </a:p>
        </p:txBody>
      </p:sp>
      <p:sp>
        <p:nvSpPr>
          <p:cNvPr id="16" name="arrow-2"/>
          <p:cNvSpPr/>
          <p:nvPr/>
        </p:nvSpPr>
        <p:spPr>
          <a:xfrm>
            <a:off x="6583680" y="2337105"/>
            <a:ext cx="274320" cy="201168"/>
          </a:xfrm>
          <a:prstGeom prst="rightArrow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step-3"/>
          <p:cNvSpPr/>
          <p:nvPr/>
        </p:nvSpPr>
        <p:spPr>
          <a:xfrm>
            <a:off x="6949440" y="1286764"/>
            <a:ext cx="1691640" cy="2301850"/>
          </a:xfrm>
          <a:prstGeom prst="roundRect">
            <a:avLst>
              <a:gd name="adj" fmla="val 5405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step-title-3"/>
          <p:cNvSpPr txBox="1"/>
          <p:nvPr/>
        </p:nvSpPr>
        <p:spPr>
          <a:xfrm>
            <a:off x="7095744" y="1433068"/>
            <a:ext cx="1399032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75" b="1" dirty="0">
                <a:solidFill>
                  <a:schemeClr val="tx1"/>
                </a:solidFill>
              </a:rPr>
              <a:t>推上映像倉庫</a:t>
            </a:r>
            <a:endParaRPr lang="en-US" sz="2175" dirty="0"/>
          </a:p>
        </p:txBody>
      </p:sp>
      <p:sp>
        <p:nvSpPr>
          <p:cNvPr id="19" name="step-body-3"/>
          <p:cNvSpPr txBox="1"/>
          <p:nvPr/>
        </p:nvSpPr>
        <p:spPr>
          <a:xfrm>
            <a:off x="7095744" y="2213356"/>
            <a:ext cx="1399032" cy="1228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58" dirty="0">
                <a:solidFill>
                  <a:schemeClr val="tx1"/>
                </a:solidFill>
              </a:rPr>
              <a:t>成品進倉，標上版本號</a:t>
            </a:r>
            <a:endParaRPr lang="en-US" sz="1958" dirty="0"/>
          </a:p>
        </p:txBody>
      </p:sp>
      <p:sp>
        <p:nvSpPr>
          <p:cNvPr id="20" name="note-box"/>
          <p:cNvSpPr/>
          <p:nvPr/>
        </p:nvSpPr>
        <p:spPr>
          <a:xfrm>
            <a:off x="502920" y="3789782"/>
            <a:ext cx="8138160" cy="897738"/>
          </a:xfrm>
          <a:prstGeom prst="roundRect">
            <a:avLst>
              <a:gd name="adj" fmla="val 814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note"/>
          <p:cNvSpPr txBox="1"/>
          <p:nvPr/>
        </p:nvSpPr>
        <p:spPr>
          <a:xfrm>
            <a:off x="685800" y="3789782"/>
            <a:ext cx="7772400" cy="897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30" dirty="0">
                <a:solidFill>
                  <a:schemeClr val="tx1"/>
                </a:solidFill>
              </a:rPr>
              <a:t>這整套自動化叫做 CI/CD：持續整合、持續交付。我們只要寫一份設定，之後全自動。</a:t>
            </a:r>
            <a:endParaRPr lang="en-US" sz="203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02920" y="3291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chemeClr val="accent2"/>
                </a:solidFill>
              </a:rPr>
              <a:t>第 8 章　打包成容器映像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02920" y="603504"/>
            <a:ext cx="8138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chemeClr val="tx1"/>
                </a:solidFill>
              </a:rPr>
              <a:t>自動化工廠帶來的四個保證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02920" y="64008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2"/>
                </a:solidFill>
              </a:rPr>
              <a:t>第 8 章　打包成容器映像　·　AI 雲端部署與容器化｜黃懷慶</a:t>
            </a:r>
            <a:endParaRPr lang="en-US" sz="1000" dirty="0"/>
          </a:p>
        </p:txBody>
      </p:sp>
      <p:graphicFrame>
        <p:nvGraphicFramePr>
          <p:cNvPr id="73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6764"/>
          <a:ext cx="8138160" cy="4209210"/>
        </p:xfrm>
        <a:graphic>
          <a:graphicData uri="http://schemas.openxmlformats.org/drawingml/2006/table">
            <a:tbl>
              <a:tblPr/>
              <a:tblGrid>
                <a:gridCol w="16276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80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925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9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b="1" dirty="0">
                          <a:solidFill>
                            <a:schemeClr val="bg1"/>
                          </a:solidFill>
                        </a:rPr>
                        <a:t>保證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b="1" dirty="0">
                          <a:solidFill>
                            <a:schemeClr val="bg1"/>
                          </a:solidFill>
                        </a:rPr>
                        <a:t>怎麼做到的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b="1" dirty="0">
                          <a:solidFill>
                            <a:schemeClr val="bg1"/>
                          </a:solidFill>
                        </a:rPr>
                        <a:t>為什麼重要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5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乾淨建置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每次都從零開始，不帶你的檔案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揪出「忘了存版本」的檔案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5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可以追溯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映像的版本號＝程式碼的版本編號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任何上線版本都查得到原始碼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5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品質把關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PR 階段只測試，合併後才產出成品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沒審查過的程式碼不會變成成品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5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不碰金鑰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工廠裡沒有金鑰，以示範模式測試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機密不會出現在自動化流程裡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note"/>
          <p:cNvSpPr txBox="1"/>
          <p:nvPr/>
        </p:nvSpPr>
        <p:spPr>
          <a:xfrm>
            <a:off x="502920" y="5697144"/>
            <a:ext cx="8138160" cy="329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30" b="1" dirty="0">
                <a:solidFill>
                  <a:schemeClr val="accent2"/>
                </a:solidFill>
              </a:rPr>
              <a:t>→ 自動化設定檔：課程 Repo「第 8 章」</a:t>
            </a:r>
            <a:endParaRPr lang="en-US" sz="203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02920" y="3291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chemeClr val="accent2"/>
                </a:solidFill>
              </a:rPr>
              <a:t>第 8 章　打包成容器映像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02920" y="603504"/>
            <a:ext cx="8138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chemeClr val="tx1"/>
                </a:solidFill>
              </a:rPr>
              <a:t>兩種身分，兩種鑰匙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02920" y="64008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2"/>
                </a:solidFill>
              </a:rPr>
              <a:t>第 8 章　打包成容器映像　·　AI 雲端部署與容器化｜黃懷慶</a:t>
            </a:r>
            <a:endParaRPr lang="en-US" sz="1000" dirty="0"/>
          </a:p>
        </p:txBody>
      </p:sp>
      <p:sp>
        <p:nvSpPr>
          <p:cNvPr id="5" name="col-0"/>
          <p:cNvSpPr/>
          <p:nvPr/>
        </p:nvSpPr>
        <p:spPr>
          <a:xfrm>
            <a:off x="502920" y="1286764"/>
            <a:ext cx="3968496" cy="3767125"/>
          </a:xfrm>
          <a:prstGeom prst="roundRect">
            <a:avLst>
              <a:gd name="adj" fmla="val 2427"/>
            </a:avLst>
          </a:prstGeom>
          <a:solidFill>
            <a:schemeClr val="accent5"/>
          </a:solidFill>
          <a:ln w="9525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col-title-0"/>
          <p:cNvSpPr txBox="1"/>
          <p:nvPr/>
        </p:nvSpPr>
        <p:spPr>
          <a:xfrm>
            <a:off x="722376" y="1506220"/>
            <a:ext cx="3529584" cy="447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55" b="1" dirty="0">
                <a:solidFill>
                  <a:schemeClr val="tx1"/>
                </a:solidFill>
              </a:rPr>
              <a:t>人的身分</a:t>
            </a:r>
            <a:endParaRPr lang="en-US" sz="2755" dirty="0"/>
          </a:p>
        </p:txBody>
      </p:sp>
      <p:sp>
        <p:nvSpPr>
          <p:cNvPr id="7" name="col-list-0"/>
          <p:cNvSpPr txBox="1"/>
          <p:nvPr/>
        </p:nvSpPr>
        <p:spPr>
          <a:xfrm>
            <a:off x="722376" y="2063801"/>
            <a:ext cx="3529584" cy="2770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dirty="0">
                <a:solidFill>
                  <a:schemeClr val="tx2"/>
                </a:solidFill>
              </a:rPr>
              <a:t>你的 AI 金鑰</a:t>
            </a:r>
            <a:endParaRPr lang="en-US" sz="2175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dirty="0">
                <a:solidFill>
                  <a:schemeClr val="tx2"/>
                </a:solidFill>
              </a:rPr>
              <a:t>由你建立、由你保管</a:t>
            </a:r>
            <a:endParaRPr lang="en-US" sz="2175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dirty="0">
                <a:solidFill>
                  <a:schemeClr val="tx2"/>
                </a:solidFill>
              </a:rPr>
              <a:t>像你的身分證</a:t>
            </a:r>
            <a:endParaRPr lang="en-US" sz="2175" dirty="0"/>
          </a:p>
        </p:txBody>
      </p:sp>
      <p:sp>
        <p:nvSpPr>
          <p:cNvPr id="8" name="col-1"/>
          <p:cNvSpPr/>
          <p:nvPr/>
        </p:nvSpPr>
        <p:spPr>
          <a:xfrm>
            <a:off x="4672584" y="1286764"/>
            <a:ext cx="3968496" cy="3767125"/>
          </a:xfrm>
          <a:prstGeom prst="roundRect">
            <a:avLst>
              <a:gd name="adj" fmla="val 2427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col-title-1"/>
          <p:cNvSpPr txBox="1"/>
          <p:nvPr/>
        </p:nvSpPr>
        <p:spPr>
          <a:xfrm>
            <a:off x="4892040" y="1506220"/>
            <a:ext cx="3529584" cy="447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55" b="1" dirty="0">
                <a:solidFill>
                  <a:schemeClr val="bg1"/>
                </a:solidFill>
              </a:rPr>
              <a:t>流程的身分</a:t>
            </a:r>
            <a:endParaRPr lang="en-US" sz="2755" dirty="0"/>
          </a:p>
        </p:txBody>
      </p:sp>
      <p:sp>
        <p:nvSpPr>
          <p:cNvPr id="10" name="col-list-1"/>
          <p:cNvSpPr txBox="1"/>
          <p:nvPr/>
        </p:nvSpPr>
        <p:spPr>
          <a:xfrm>
            <a:off x="4892040" y="2063801"/>
            <a:ext cx="3529584" cy="2770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dirty="0">
                <a:solidFill>
                  <a:schemeClr val="bg2"/>
                </a:solidFill>
              </a:rPr>
              <a:t>自動化工廠的臨時通行證</a:t>
            </a:r>
            <a:endParaRPr lang="en-US" sz="2175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dirty="0">
                <a:solidFill>
                  <a:schemeClr val="bg2"/>
                </a:solidFill>
              </a:rPr>
              <a:t>每次執行時自動發放，用完即失效</a:t>
            </a:r>
            <a:endParaRPr lang="en-US" sz="2175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dirty="0">
                <a:solidFill>
                  <a:schemeClr val="bg2"/>
                </a:solidFill>
              </a:rPr>
              <a:t>像公司發給外包廠商的臨時證</a:t>
            </a:r>
            <a:endParaRPr lang="en-US" sz="2175" dirty="0"/>
          </a:p>
        </p:txBody>
      </p:sp>
      <p:sp>
        <p:nvSpPr>
          <p:cNvPr id="11" name="note-box"/>
          <p:cNvSpPr/>
          <p:nvPr/>
        </p:nvSpPr>
        <p:spPr>
          <a:xfrm>
            <a:off x="502920" y="5255057"/>
            <a:ext cx="8138160" cy="567741"/>
          </a:xfrm>
          <a:prstGeom prst="roundRect">
            <a:avLst>
              <a:gd name="adj" fmla="val 12885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note"/>
          <p:cNvSpPr txBox="1"/>
          <p:nvPr/>
        </p:nvSpPr>
        <p:spPr>
          <a:xfrm>
            <a:off x="685800" y="5255057"/>
            <a:ext cx="7772400" cy="5677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30" dirty="0">
                <a:solidFill>
                  <a:schemeClr val="tx1"/>
                </a:solidFill>
              </a:rPr>
              <a:t>雲端權限設計的基本功：誰在做事，就給誰剛好夠用的權限。</a:t>
            </a:r>
            <a:endParaRPr lang="en-US" sz="203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02920" y="3291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chemeClr val="accent2"/>
                </a:solidFill>
              </a:rPr>
              <a:t>第 8 章　打包成容器映像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02920" y="603504"/>
            <a:ext cx="8138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chemeClr val="tx1"/>
                </a:solidFill>
              </a:rPr>
              <a:t>讓映像可以被下載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02920" y="64008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2"/>
                </a:solidFill>
              </a:rPr>
              <a:t>第 8 章　打包成容器映像　·　AI 雲端部署與容器化｜黃懷慶</a:t>
            </a:r>
            <a:endParaRPr lang="en-US" sz="1000" dirty="0"/>
          </a:p>
        </p:txBody>
      </p:sp>
      <p:graphicFrame>
        <p:nvGraphicFramePr>
          <p:cNvPr id="75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6764"/>
          <a:ext cx="8138160" cy="2379090"/>
        </p:xfrm>
        <a:graphic>
          <a:graphicData uri="http://schemas.openxmlformats.org/drawingml/2006/table">
            <a:tbl>
              <a:tblPr/>
              <a:tblGrid>
                <a:gridCol w="27669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711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9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b="1" dirty="0">
                          <a:solidFill>
                            <a:schemeClr val="bg1"/>
                          </a:solidFill>
                        </a:rPr>
                        <a:t>步驟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b="1" dirty="0">
                          <a:solidFill>
                            <a:schemeClr val="bg1"/>
                          </a:solidFill>
                        </a:rPr>
                        <a:t>為什麼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5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把映像設為公開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部署機和其他人才能下載，而且公開的映像免費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5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測試前先登出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避免用到原本的登入狀態，誤以為已經公開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note"/>
          <p:cNvSpPr txBox="1"/>
          <p:nvPr/>
        </p:nvSpPr>
        <p:spPr>
          <a:xfrm>
            <a:off x="502920" y="3867023"/>
            <a:ext cx="8138160" cy="659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30" b="1" dirty="0">
                <a:solidFill>
                  <a:schemeClr val="accent2"/>
                </a:solidFill>
              </a:rPr>
              <a:t>「真的公開了嗎？」要用「沒有登入的狀態」來測試，結論才可靠。</a:t>
            </a:r>
            <a:endParaRPr lang="en-US" sz="203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02920" y="3291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chemeClr val="accent2"/>
                </a:solidFill>
              </a:rPr>
              <a:t>第 8 章　打包成容器映像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02920" y="603504"/>
            <a:ext cx="8138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chemeClr val="tx1"/>
                </a:solidFill>
              </a:rPr>
              <a:t>三種版本標籤，各有用途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02920" y="64008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2"/>
                </a:solidFill>
              </a:rPr>
              <a:t>第 8 章　打包成容器映像　·　AI 雲端部署與容器化｜黃懷慶</a:t>
            </a:r>
            <a:endParaRPr lang="en-US" sz="1000" dirty="0"/>
          </a:p>
        </p:txBody>
      </p:sp>
      <p:graphicFrame>
        <p:nvGraphicFramePr>
          <p:cNvPr id="7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6764"/>
          <a:ext cx="8138160" cy="2928060"/>
        </p:xfrm>
        <a:graphic>
          <a:graphicData uri="http://schemas.openxmlformats.org/drawingml/2006/table">
            <a:tbl>
              <a:tblPr/>
              <a:tblGrid>
                <a:gridCol w="17903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76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59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042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9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b="1" dirty="0">
                          <a:solidFill>
                            <a:schemeClr val="bg1"/>
                          </a:solidFill>
                        </a:rPr>
                        <a:t>標籤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b="1" dirty="0">
                          <a:solidFill>
                            <a:schemeClr val="bg1"/>
                          </a:solidFill>
                        </a:rPr>
                        <a:t>長什麼樣子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b="1" dirty="0">
                          <a:solidFill>
                            <a:schemeClr val="bg1"/>
                          </a:solidFill>
                        </a:rPr>
                        <a:t>誰在用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b="1" dirty="0">
                          <a:solidFill>
                            <a:schemeClr val="bg1"/>
                          </a:solidFill>
                        </a:rPr>
                        <a:t>特性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5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版本編號（SHA）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一長串英數字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自動化、部署、回溯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唯一、不會變。正式環境用這個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9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發版號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v0.1.0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人、對外溝通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看得懂，有意義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5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latest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latest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開發、臨時展示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會一直變。正式環境不要用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731520" y="1417320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8000" b="1" dirty="0">
                <a:solidFill>
                  <a:schemeClr val="accent1"/>
                </a:solidFill>
              </a:rPr>
              <a:t>09</a:t>
            </a:r>
            <a:endParaRPr lang="en-US" sz="80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731520" y="26974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 dirty="0">
                <a:solidFill>
                  <a:schemeClr val="tx1"/>
                </a:solidFill>
              </a:rPr>
              <a:t>以 Codespace 空容器</a:t>
            </a:r>
            <a:endParaRPr lang="en-US" sz="36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 dirty="0">
                <a:solidFill>
                  <a:schemeClr val="tx1"/>
                </a:solidFill>
              </a:rPr>
              <a:t>執行映像</a:t>
            </a:r>
            <a:endParaRPr lang="en-US" sz="3600" dirty="0"/>
          </a:p>
        </p:txBody>
      </p:sp>
      <p:sp>
        <p:nvSpPr>
          <p:cNvPr id="4" name="Text 1"/>
          <p:cNvSpPr>
            <a:spLocks noGrp="1"/>
          </p:cNvSpPr>
          <p:nvPr>
            <p:ph type="body" idx="103" hasCustomPrompt="1"/>
          </p:nvPr>
        </p:nvSpPr>
        <p:spPr>
          <a:xfrm>
            <a:off x="731520" y="416052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accent2"/>
                </a:solidFill>
              </a:rPr>
              <a:t>在一台沒有任何程式碼的機器上，讓服務跑起來</a:t>
            </a:r>
            <a:endParaRPr lang="en-US" sz="1800" dirty="0"/>
          </a:p>
        </p:txBody>
      </p:sp>
      <p:sp>
        <p:nvSpPr>
          <p:cNvPr id="5" name="Text 1"/>
          <p:cNvSpPr>
            <a:spLocks noGrp="1"/>
          </p:cNvSpPr>
          <p:nvPr>
            <p:ph type="body" idx="104" hasCustomPrompt="1"/>
          </p:nvPr>
        </p:nvSpPr>
        <p:spPr>
          <a:xfrm>
            <a:off x="731520" y="49377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300" dirty="0">
                <a:solidFill>
                  <a:schemeClr val="tx2"/>
                </a:solidFill>
              </a:rPr>
              <a:t>實作　｜　建議 3 小時</a:t>
            </a:r>
            <a:endParaRPr lang="en-US" sz="13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02920" y="3291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chemeClr val="accent2"/>
                </a:solidFill>
              </a:rPr>
              <a:t>第 9 章　在空機器上部署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02920" y="603504"/>
            <a:ext cx="8138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chemeClr val="tx1"/>
                </a:solidFill>
              </a:rPr>
              <a:t>本章使用兩台機器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02920" y="64008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2"/>
                </a:solidFill>
              </a:rPr>
              <a:t>第 9 章　在空機器上部署　·　AI 雲端部署與容器化｜黃懷慶</a:t>
            </a:r>
            <a:endParaRPr lang="en-US" sz="1000" dirty="0"/>
          </a:p>
        </p:txBody>
      </p:sp>
      <p:sp>
        <p:nvSpPr>
          <p:cNvPr id="5" name="col-0"/>
          <p:cNvSpPr/>
          <p:nvPr/>
        </p:nvSpPr>
        <p:spPr>
          <a:xfrm>
            <a:off x="502920" y="1286764"/>
            <a:ext cx="3968496" cy="3059989"/>
          </a:xfrm>
          <a:prstGeom prst="roundRect">
            <a:avLst>
              <a:gd name="adj" fmla="val 2988"/>
            </a:avLst>
          </a:prstGeom>
          <a:solidFill>
            <a:schemeClr val="accent5"/>
          </a:solidFill>
          <a:ln w="9525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col-title-0"/>
          <p:cNvSpPr txBox="1"/>
          <p:nvPr/>
        </p:nvSpPr>
        <p:spPr>
          <a:xfrm>
            <a:off x="722376" y="1506220"/>
            <a:ext cx="3529584" cy="447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55" b="1" dirty="0">
                <a:solidFill>
                  <a:schemeClr val="tx1"/>
                </a:solidFill>
              </a:rPr>
              <a:t>開發機</a:t>
            </a:r>
            <a:endParaRPr lang="en-US" sz="2755" dirty="0"/>
          </a:p>
        </p:txBody>
      </p:sp>
      <p:sp>
        <p:nvSpPr>
          <p:cNvPr id="7" name="col-list-0"/>
          <p:cNvSpPr txBox="1"/>
          <p:nvPr/>
        </p:nvSpPr>
        <p:spPr>
          <a:xfrm>
            <a:off x="722376" y="2063801"/>
            <a:ext cx="3529584" cy="2063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dirty="0">
                <a:solidFill>
                  <a:schemeClr val="tx2"/>
                </a:solidFill>
              </a:rPr>
              <a:t>你一直在用的 Codespace</a:t>
            </a:r>
            <a:endParaRPr lang="en-US" sz="2175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dirty="0">
                <a:solidFill>
                  <a:schemeClr val="tx2"/>
                </a:solidFill>
              </a:rPr>
              <a:t>有程式碼</a:t>
            </a:r>
            <a:endParaRPr lang="en-US" sz="2175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dirty="0">
                <a:solidFill>
                  <a:schemeClr val="tx2"/>
                </a:solidFill>
              </a:rPr>
              <a:t>用來查版本編號</a:t>
            </a:r>
            <a:endParaRPr lang="en-US" sz="2175" dirty="0"/>
          </a:p>
        </p:txBody>
      </p:sp>
      <p:sp>
        <p:nvSpPr>
          <p:cNvPr id="8" name="col-1"/>
          <p:cNvSpPr/>
          <p:nvPr/>
        </p:nvSpPr>
        <p:spPr>
          <a:xfrm>
            <a:off x="4672584" y="1286764"/>
            <a:ext cx="3968496" cy="3059989"/>
          </a:xfrm>
          <a:prstGeom prst="roundRect">
            <a:avLst>
              <a:gd name="adj" fmla="val 2988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col-title-1"/>
          <p:cNvSpPr txBox="1"/>
          <p:nvPr/>
        </p:nvSpPr>
        <p:spPr>
          <a:xfrm>
            <a:off x="4892040" y="1506220"/>
            <a:ext cx="3529584" cy="447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55" b="1" dirty="0">
                <a:solidFill>
                  <a:schemeClr val="bg1"/>
                </a:solidFill>
              </a:rPr>
              <a:t>部署機</a:t>
            </a:r>
            <a:endParaRPr lang="en-US" sz="2755" dirty="0"/>
          </a:p>
        </p:txBody>
      </p:sp>
      <p:sp>
        <p:nvSpPr>
          <p:cNvPr id="10" name="col-list-1"/>
          <p:cNvSpPr txBox="1"/>
          <p:nvPr/>
        </p:nvSpPr>
        <p:spPr>
          <a:xfrm>
            <a:off x="4892040" y="2063801"/>
            <a:ext cx="3529584" cy="2063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dirty="0">
                <a:solidFill>
                  <a:schemeClr val="bg2"/>
                </a:solidFill>
              </a:rPr>
              <a:t>新開的「空白」Codespace</a:t>
            </a:r>
            <a:endParaRPr lang="en-US" sz="2175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b="1" dirty="0">
                <a:solidFill>
                  <a:schemeClr val="bg2"/>
                </a:solidFill>
              </a:rPr>
              <a:t>沒有任何程式碼</a:t>
            </a:r>
            <a:endParaRPr lang="en-US" sz="2175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dirty="0">
                <a:solidFill>
                  <a:schemeClr val="bg2"/>
                </a:solidFill>
              </a:rPr>
              <a:t>只負責下載映像、執行</a:t>
            </a:r>
            <a:endParaRPr lang="en-US" sz="2175" dirty="0"/>
          </a:p>
        </p:txBody>
      </p:sp>
      <p:sp>
        <p:nvSpPr>
          <p:cNvPr id="11" name="note-box"/>
          <p:cNvSpPr/>
          <p:nvPr/>
        </p:nvSpPr>
        <p:spPr>
          <a:xfrm>
            <a:off x="502920" y="4547921"/>
            <a:ext cx="8138160" cy="897738"/>
          </a:xfrm>
          <a:prstGeom prst="roundRect">
            <a:avLst>
              <a:gd name="adj" fmla="val 814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note"/>
          <p:cNvSpPr txBox="1"/>
          <p:nvPr/>
        </p:nvSpPr>
        <p:spPr>
          <a:xfrm>
            <a:off x="685800" y="4547921"/>
            <a:ext cx="7772400" cy="897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30" dirty="0">
                <a:solidFill>
                  <a:schemeClr val="tx1"/>
                </a:solidFill>
              </a:rPr>
              <a:t>為什麼要空白？如果部署機上有程式碼，就證明不了「映像本身就是完整的成品」。</a:t>
            </a:r>
            <a:endParaRPr lang="en-US" sz="203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02920" y="3291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chemeClr val="accent2"/>
                </a:solidFill>
              </a:rPr>
              <a:t>第 9 章　在空機器上部署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02920" y="603504"/>
            <a:ext cx="8138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chemeClr val="tx1"/>
                </a:solidFill>
              </a:rPr>
              <a:t>部署的流程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02920" y="64008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2"/>
                </a:solidFill>
              </a:rPr>
              <a:t>第 9 章　在空機器上部署　·　AI 雲端部署與容器化｜黃懷慶</a:t>
            </a:r>
            <a:endParaRPr lang="en-US" sz="1000" dirty="0"/>
          </a:p>
        </p:txBody>
      </p:sp>
      <p:sp>
        <p:nvSpPr>
          <p:cNvPr id="5" name="step-0"/>
          <p:cNvSpPr/>
          <p:nvPr/>
        </p:nvSpPr>
        <p:spPr>
          <a:xfrm>
            <a:off x="502920" y="1286764"/>
            <a:ext cx="8138160" cy="609600"/>
          </a:xfrm>
          <a:prstGeom prst="roundRect">
            <a:avLst>
              <a:gd name="adj" fmla="val 12000"/>
            </a:avLst>
          </a:prstGeom>
          <a:solidFill>
            <a:schemeClr val="accent5"/>
          </a:solidFill>
          <a:ln w="9525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tep-title-0"/>
          <p:cNvSpPr txBox="1"/>
          <p:nvPr/>
        </p:nvSpPr>
        <p:spPr>
          <a:xfrm>
            <a:off x="649224" y="1286764"/>
            <a:ext cx="2286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75" b="1" dirty="0">
                <a:solidFill>
                  <a:schemeClr val="tx1"/>
                </a:solidFill>
              </a:rPr>
              <a:t>取得版本編號</a:t>
            </a:r>
            <a:endParaRPr lang="en-US" sz="2175" dirty="0"/>
          </a:p>
        </p:txBody>
      </p:sp>
      <p:sp>
        <p:nvSpPr>
          <p:cNvPr id="7" name="step-body-0"/>
          <p:cNvSpPr txBox="1"/>
          <p:nvPr/>
        </p:nvSpPr>
        <p:spPr>
          <a:xfrm>
            <a:off x="3081528" y="1286764"/>
            <a:ext cx="5413248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30" dirty="0">
                <a:solidFill>
                  <a:schemeClr val="tx2"/>
                </a:solidFill>
              </a:rPr>
              <a:t>在開發機確認要部署哪一版</a:t>
            </a:r>
            <a:endParaRPr lang="en-US" sz="2030" dirty="0"/>
          </a:p>
        </p:txBody>
      </p:sp>
      <p:sp>
        <p:nvSpPr>
          <p:cNvPr id="8" name="arrow-0"/>
          <p:cNvSpPr/>
          <p:nvPr/>
        </p:nvSpPr>
        <p:spPr>
          <a:xfrm>
            <a:off x="4462272" y="1932940"/>
            <a:ext cx="219456" cy="182880"/>
          </a:xfrm>
          <a:prstGeom prst="downArrow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step-1"/>
          <p:cNvSpPr/>
          <p:nvPr/>
        </p:nvSpPr>
        <p:spPr>
          <a:xfrm>
            <a:off x="502920" y="2152396"/>
            <a:ext cx="8138160" cy="609600"/>
          </a:xfrm>
          <a:prstGeom prst="roundRect">
            <a:avLst>
              <a:gd name="adj" fmla="val 12000"/>
            </a:avLst>
          </a:prstGeom>
          <a:solidFill>
            <a:schemeClr val="accent5"/>
          </a:solidFill>
          <a:ln w="9525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tep-title-1"/>
          <p:cNvSpPr txBox="1"/>
          <p:nvPr/>
        </p:nvSpPr>
        <p:spPr>
          <a:xfrm>
            <a:off x="649224" y="2152396"/>
            <a:ext cx="2286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75" b="1" dirty="0">
                <a:solidFill>
                  <a:schemeClr val="tx1"/>
                </a:solidFill>
              </a:rPr>
              <a:t>建立部署機</a:t>
            </a:r>
            <a:endParaRPr lang="en-US" sz="2175" dirty="0"/>
          </a:p>
        </p:txBody>
      </p:sp>
      <p:sp>
        <p:nvSpPr>
          <p:cNvPr id="11" name="step-body-1"/>
          <p:cNvSpPr txBox="1"/>
          <p:nvPr/>
        </p:nvSpPr>
        <p:spPr>
          <a:xfrm>
            <a:off x="3081528" y="2152396"/>
            <a:ext cx="5413248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30" dirty="0">
                <a:solidFill>
                  <a:schemeClr val="tx2"/>
                </a:solidFill>
              </a:rPr>
              <a:t>用空白範本開一台新的</a:t>
            </a:r>
            <a:endParaRPr lang="en-US" sz="2030" dirty="0"/>
          </a:p>
        </p:txBody>
      </p:sp>
      <p:sp>
        <p:nvSpPr>
          <p:cNvPr id="12" name="arrow-1"/>
          <p:cNvSpPr/>
          <p:nvPr/>
        </p:nvSpPr>
        <p:spPr>
          <a:xfrm>
            <a:off x="4462272" y="2798572"/>
            <a:ext cx="219456" cy="182880"/>
          </a:xfrm>
          <a:prstGeom prst="downArrow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step-2"/>
          <p:cNvSpPr/>
          <p:nvPr/>
        </p:nvSpPr>
        <p:spPr>
          <a:xfrm>
            <a:off x="502920" y="3018028"/>
            <a:ext cx="8138160" cy="609600"/>
          </a:xfrm>
          <a:prstGeom prst="roundRect">
            <a:avLst>
              <a:gd name="adj" fmla="val 12000"/>
            </a:avLst>
          </a:prstGeom>
          <a:solidFill>
            <a:schemeClr val="accent5"/>
          </a:solidFill>
          <a:ln w="9525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tep-title-2"/>
          <p:cNvSpPr txBox="1"/>
          <p:nvPr/>
        </p:nvSpPr>
        <p:spPr>
          <a:xfrm>
            <a:off x="649224" y="3018028"/>
            <a:ext cx="2286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75" b="1" dirty="0">
                <a:solidFill>
                  <a:schemeClr val="tx1"/>
                </a:solidFill>
              </a:rPr>
              <a:t>安裝部署工具</a:t>
            </a:r>
            <a:endParaRPr lang="en-US" sz="2175" dirty="0"/>
          </a:p>
        </p:txBody>
      </p:sp>
      <p:sp>
        <p:nvSpPr>
          <p:cNvPr id="15" name="step-body-2"/>
          <p:cNvSpPr txBox="1"/>
          <p:nvPr/>
        </p:nvSpPr>
        <p:spPr>
          <a:xfrm>
            <a:off x="3081528" y="3018028"/>
            <a:ext cx="5413248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30" dirty="0">
                <a:solidFill>
                  <a:schemeClr val="tx2"/>
                </a:solidFill>
              </a:rPr>
              <a:t>只需一次</a:t>
            </a:r>
            <a:endParaRPr lang="en-US" sz="2030" dirty="0"/>
          </a:p>
        </p:txBody>
      </p:sp>
      <p:sp>
        <p:nvSpPr>
          <p:cNvPr id="16" name="arrow-2"/>
          <p:cNvSpPr/>
          <p:nvPr/>
        </p:nvSpPr>
        <p:spPr>
          <a:xfrm>
            <a:off x="4462272" y="3664204"/>
            <a:ext cx="219456" cy="182880"/>
          </a:xfrm>
          <a:prstGeom prst="downArrow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step-3"/>
          <p:cNvSpPr/>
          <p:nvPr/>
        </p:nvSpPr>
        <p:spPr>
          <a:xfrm>
            <a:off x="502920" y="3883660"/>
            <a:ext cx="8138160" cy="609600"/>
          </a:xfrm>
          <a:prstGeom prst="roundRect">
            <a:avLst>
              <a:gd name="adj" fmla="val 12000"/>
            </a:avLst>
          </a:prstGeom>
          <a:solidFill>
            <a:schemeClr val="accent5"/>
          </a:solidFill>
          <a:ln w="9525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step-title-3"/>
          <p:cNvSpPr txBox="1"/>
          <p:nvPr/>
        </p:nvSpPr>
        <p:spPr>
          <a:xfrm>
            <a:off x="649224" y="3883660"/>
            <a:ext cx="2286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75" b="1" dirty="0">
                <a:solidFill>
                  <a:schemeClr val="tx1"/>
                </a:solidFill>
              </a:rPr>
              <a:t>設定金鑰與模型</a:t>
            </a:r>
            <a:endParaRPr lang="en-US" sz="2175" dirty="0"/>
          </a:p>
        </p:txBody>
      </p:sp>
      <p:sp>
        <p:nvSpPr>
          <p:cNvPr id="19" name="step-body-3"/>
          <p:cNvSpPr txBox="1"/>
          <p:nvPr/>
        </p:nvSpPr>
        <p:spPr>
          <a:xfrm>
            <a:off x="3081528" y="3883660"/>
            <a:ext cx="5413248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30" dirty="0">
                <a:solidFill>
                  <a:schemeClr val="tx2"/>
                </a:solidFill>
              </a:rPr>
              <a:t>只需一次</a:t>
            </a:r>
            <a:endParaRPr lang="en-US" sz="2030" dirty="0"/>
          </a:p>
        </p:txBody>
      </p:sp>
      <p:sp>
        <p:nvSpPr>
          <p:cNvPr id="20" name="arrow-3"/>
          <p:cNvSpPr/>
          <p:nvPr/>
        </p:nvSpPr>
        <p:spPr>
          <a:xfrm>
            <a:off x="4462272" y="4529836"/>
            <a:ext cx="219456" cy="182880"/>
          </a:xfrm>
          <a:prstGeom prst="downArrow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step-4"/>
          <p:cNvSpPr/>
          <p:nvPr/>
        </p:nvSpPr>
        <p:spPr>
          <a:xfrm>
            <a:off x="502920" y="4749292"/>
            <a:ext cx="8138160" cy="6096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step-title-4"/>
          <p:cNvSpPr txBox="1"/>
          <p:nvPr/>
        </p:nvSpPr>
        <p:spPr>
          <a:xfrm>
            <a:off x="649224" y="4749292"/>
            <a:ext cx="2286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75" b="1" dirty="0">
                <a:solidFill>
                  <a:schemeClr val="tx1"/>
                </a:solidFill>
              </a:rPr>
              <a:t>部署指定版本</a:t>
            </a:r>
            <a:endParaRPr lang="en-US" sz="2175" dirty="0"/>
          </a:p>
        </p:txBody>
      </p:sp>
      <p:sp>
        <p:nvSpPr>
          <p:cNvPr id="23" name="step-body-4"/>
          <p:cNvSpPr txBox="1"/>
          <p:nvPr/>
        </p:nvSpPr>
        <p:spPr>
          <a:xfrm>
            <a:off x="3081528" y="4749292"/>
            <a:ext cx="5413248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30" dirty="0">
                <a:solidFill>
                  <a:schemeClr val="tx1"/>
                </a:solidFill>
              </a:rPr>
              <a:t>之後每次都只要這一步</a:t>
            </a:r>
            <a:endParaRPr lang="en-US" sz="2030" dirty="0"/>
          </a:p>
        </p:txBody>
      </p:sp>
      <p:sp>
        <p:nvSpPr>
          <p:cNvPr id="24" name="note-box"/>
          <p:cNvSpPr/>
          <p:nvPr/>
        </p:nvSpPr>
        <p:spPr>
          <a:xfrm>
            <a:off x="502920" y="5560060"/>
            <a:ext cx="8138160" cy="567741"/>
          </a:xfrm>
          <a:prstGeom prst="roundRect">
            <a:avLst>
              <a:gd name="adj" fmla="val 12885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5" name="note"/>
          <p:cNvSpPr txBox="1"/>
          <p:nvPr/>
        </p:nvSpPr>
        <p:spPr>
          <a:xfrm>
            <a:off x="685800" y="5560060"/>
            <a:ext cx="7772400" cy="5677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30" dirty="0">
                <a:solidFill>
                  <a:schemeClr val="tx1"/>
                </a:solidFill>
              </a:rPr>
              <a:t>→ 每一步的指令：課程 Repo「第 9 章」</a:t>
            </a:r>
            <a:endParaRPr lang="en-US" sz="203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02920" y="3291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chemeClr val="accent2"/>
                </a:solidFill>
              </a:rPr>
              <a:t>第 9 章　在空機器上部署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02920" y="603504"/>
            <a:ext cx="8138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chemeClr val="tx1"/>
                </a:solidFill>
              </a:rPr>
              <a:t>先確認：這台機器真的是空的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02920" y="64008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2"/>
                </a:solidFill>
              </a:rPr>
              <a:t>第 9 章　在空機器上部署　·　AI 雲端部署與容器化｜黃懷慶</a:t>
            </a:r>
            <a:endParaRPr lang="en-US" sz="1000" dirty="0"/>
          </a:p>
        </p:txBody>
      </p:sp>
      <p:sp>
        <p:nvSpPr>
          <p:cNvPr id="5" name="card-0-0"/>
          <p:cNvSpPr/>
          <p:nvPr/>
        </p:nvSpPr>
        <p:spPr>
          <a:xfrm>
            <a:off x="502920" y="1286764"/>
            <a:ext cx="2578608" cy="2643429"/>
          </a:xfrm>
          <a:prstGeom prst="roundRect">
            <a:avLst>
              <a:gd name="adj" fmla="val 3546"/>
            </a:avLst>
          </a:prstGeom>
          <a:solidFill>
            <a:schemeClr val="accent5"/>
          </a:solidFill>
          <a:ln w="9525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6" name="card-icon-0-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69644"/>
            <a:ext cx="329184" cy="329184"/>
          </a:xfrm>
          <a:prstGeom prst="rect">
            <a:avLst/>
          </a:prstGeom>
        </p:spPr>
      </p:pic>
      <p:sp>
        <p:nvSpPr>
          <p:cNvPr id="7" name="card-title-0-0"/>
          <p:cNvSpPr txBox="1"/>
          <p:nvPr/>
        </p:nvSpPr>
        <p:spPr>
          <a:xfrm>
            <a:off x="685800" y="1890268"/>
            <a:ext cx="2212848" cy="400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65" b="1" dirty="0">
                <a:solidFill>
                  <a:schemeClr val="tx1"/>
                </a:solidFill>
              </a:rPr>
              <a:t>沒有程式碼</a:t>
            </a:r>
            <a:endParaRPr lang="en-US" sz="2465" dirty="0"/>
          </a:p>
        </p:txBody>
      </p:sp>
      <p:sp>
        <p:nvSpPr>
          <p:cNvPr id="8" name="card-body-0-0"/>
          <p:cNvSpPr txBox="1"/>
          <p:nvPr/>
        </p:nvSpPr>
        <p:spPr>
          <a:xfrm>
            <a:off x="685800" y="2345842"/>
            <a:ext cx="2212848" cy="1401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30" dirty="0">
                <a:solidFill>
                  <a:schemeClr val="tx2"/>
                </a:solidFill>
              </a:rPr>
              <a:t>沒有 Dockerfile、沒有網站程式。</a:t>
            </a:r>
            <a:endParaRPr lang="en-US" sz="2030" dirty="0"/>
          </a:p>
        </p:txBody>
      </p:sp>
      <p:sp>
        <p:nvSpPr>
          <p:cNvPr id="9" name="card-0-1"/>
          <p:cNvSpPr/>
          <p:nvPr/>
        </p:nvSpPr>
        <p:spPr>
          <a:xfrm>
            <a:off x="3282696" y="1286764"/>
            <a:ext cx="2578608" cy="2643429"/>
          </a:xfrm>
          <a:prstGeom prst="roundRect">
            <a:avLst>
              <a:gd name="adj" fmla="val 3546"/>
            </a:avLst>
          </a:prstGeom>
          <a:solidFill>
            <a:schemeClr val="accent5"/>
          </a:solidFill>
          <a:ln w="9525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10" name="card-icon-0-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5576" y="1469644"/>
            <a:ext cx="329184" cy="329184"/>
          </a:xfrm>
          <a:prstGeom prst="rect">
            <a:avLst/>
          </a:prstGeom>
        </p:spPr>
      </p:pic>
      <p:sp>
        <p:nvSpPr>
          <p:cNvPr id="11" name="card-title-0-1"/>
          <p:cNvSpPr txBox="1"/>
          <p:nvPr/>
        </p:nvSpPr>
        <p:spPr>
          <a:xfrm>
            <a:off x="3465576" y="1890268"/>
            <a:ext cx="2212848" cy="400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65" b="1" dirty="0">
                <a:solidFill>
                  <a:schemeClr val="tx1"/>
                </a:solidFill>
              </a:rPr>
              <a:t>沒有映像</a:t>
            </a:r>
            <a:endParaRPr lang="en-US" sz="2465" dirty="0"/>
          </a:p>
        </p:txBody>
      </p:sp>
      <p:sp>
        <p:nvSpPr>
          <p:cNvPr id="12" name="card-body-0-1"/>
          <p:cNvSpPr txBox="1"/>
          <p:nvPr/>
        </p:nvSpPr>
        <p:spPr>
          <a:xfrm>
            <a:off x="3465576" y="2345842"/>
            <a:ext cx="2212848" cy="1401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30" dirty="0">
                <a:solidFill>
                  <a:schemeClr val="tx2"/>
                </a:solidFill>
              </a:rPr>
              <a:t>這台機器從來沒有建置過任何東西。</a:t>
            </a:r>
            <a:endParaRPr lang="en-US" sz="2030" dirty="0"/>
          </a:p>
        </p:txBody>
      </p:sp>
      <p:sp>
        <p:nvSpPr>
          <p:cNvPr id="13" name="card-0-2"/>
          <p:cNvSpPr/>
          <p:nvPr/>
        </p:nvSpPr>
        <p:spPr>
          <a:xfrm>
            <a:off x="6062472" y="1286764"/>
            <a:ext cx="2578608" cy="2643429"/>
          </a:xfrm>
          <a:prstGeom prst="roundRect">
            <a:avLst>
              <a:gd name="adj" fmla="val 3546"/>
            </a:avLst>
          </a:prstGeom>
          <a:solidFill>
            <a:schemeClr val="accent5"/>
          </a:solidFill>
          <a:ln w="9525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14" name="card-icon-0-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5352" y="1469644"/>
            <a:ext cx="329184" cy="329184"/>
          </a:xfrm>
          <a:prstGeom prst="rect">
            <a:avLst/>
          </a:prstGeom>
        </p:spPr>
      </p:pic>
      <p:sp>
        <p:nvSpPr>
          <p:cNvPr id="15" name="card-title-0-2"/>
          <p:cNvSpPr txBox="1"/>
          <p:nvPr/>
        </p:nvSpPr>
        <p:spPr>
          <a:xfrm>
            <a:off x="6245352" y="1890268"/>
            <a:ext cx="2212848" cy="400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65" b="1" dirty="0">
                <a:solidFill>
                  <a:schemeClr val="tx1"/>
                </a:solidFill>
              </a:rPr>
              <a:t>拿不到金鑰</a:t>
            </a:r>
            <a:endParaRPr lang="en-US" sz="2465" dirty="0"/>
          </a:p>
        </p:txBody>
      </p:sp>
      <p:sp>
        <p:nvSpPr>
          <p:cNvPr id="16" name="card-body-0-2"/>
          <p:cNvSpPr txBox="1"/>
          <p:nvPr/>
        </p:nvSpPr>
        <p:spPr>
          <a:xfrm>
            <a:off x="6245352" y="2345842"/>
            <a:ext cx="2212848" cy="1401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30" dirty="0">
                <a:solidFill>
                  <a:schemeClr val="tx2"/>
                </a:solidFill>
              </a:rPr>
              <a:t>保管箱綁在 Repo 上，這台沒有 Repo。</a:t>
            </a:r>
            <a:endParaRPr lang="en-US" sz="2030" dirty="0"/>
          </a:p>
        </p:txBody>
      </p:sp>
      <p:sp>
        <p:nvSpPr>
          <p:cNvPr id="17" name="note-box"/>
          <p:cNvSpPr/>
          <p:nvPr/>
        </p:nvSpPr>
        <p:spPr>
          <a:xfrm>
            <a:off x="502920" y="4131361"/>
            <a:ext cx="8138160" cy="897738"/>
          </a:xfrm>
          <a:prstGeom prst="roundRect">
            <a:avLst>
              <a:gd name="adj" fmla="val 814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note"/>
          <p:cNvSpPr txBox="1"/>
          <p:nvPr/>
        </p:nvSpPr>
        <p:spPr>
          <a:xfrm>
            <a:off x="685800" y="4131361"/>
            <a:ext cx="7772400" cy="897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30" dirty="0">
                <a:solidFill>
                  <a:schemeClr val="tx1"/>
                </a:solidFill>
              </a:rPr>
              <a:t>第三點最重要：部署機不會自動擁有開發機的機密，設定必須由「部署的人」提供。</a:t>
            </a:r>
            <a:endParaRPr lang="en-US" sz="203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02920" y="3291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chemeClr val="accent2"/>
                </a:solidFill>
              </a:rPr>
              <a:t>第 9 章　在空機器上部署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02920" y="603504"/>
            <a:ext cx="8138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chemeClr val="tx1"/>
                </a:solidFill>
              </a:rPr>
              <a:t>兩個小工具＝一個迷你 PaaS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02920" y="64008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2"/>
                </a:solidFill>
              </a:rPr>
              <a:t>第 9 章　在空機器上部署　·　AI 雲端部署與容器化｜黃懷慶</a:t>
            </a:r>
            <a:endParaRPr lang="en-US" sz="1000" dirty="0"/>
          </a:p>
        </p:txBody>
      </p:sp>
      <p:sp>
        <p:nvSpPr>
          <p:cNvPr id="5" name="col-0"/>
          <p:cNvSpPr/>
          <p:nvPr/>
        </p:nvSpPr>
        <p:spPr>
          <a:xfrm>
            <a:off x="502920" y="1286764"/>
            <a:ext cx="3968496" cy="3767125"/>
          </a:xfrm>
          <a:prstGeom prst="roundRect">
            <a:avLst>
              <a:gd name="adj" fmla="val 2427"/>
            </a:avLst>
          </a:prstGeom>
          <a:solidFill>
            <a:schemeClr val="accent5"/>
          </a:solidFill>
          <a:ln w="9525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col-title-0"/>
          <p:cNvSpPr txBox="1"/>
          <p:nvPr/>
        </p:nvSpPr>
        <p:spPr>
          <a:xfrm>
            <a:off x="722376" y="1506220"/>
            <a:ext cx="3529584" cy="447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55" b="1" dirty="0">
                <a:solidFill>
                  <a:schemeClr val="tx1"/>
                </a:solidFill>
              </a:rPr>
              <a:t>設定工具</a:t>
            </a:r>
            <a:endParaRPr lang="en-US" sz="2755" dirty="0"/>
          </a:p>
        </p:txBody>
      </p:sp>
      <p:sp>
        <p:nvSpPr>
          <p:cNvPr id="7" name="col-list-0"/>
          <p:cNvSpPr txBox="1"/>
          <p:nvPr/>
        </p:nvSpPr>
        <p:spPr>
          <a:xfrm>
            <a:off x="722376" y="2063801"/>
            <a:ext cx="3529584" cy="2770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dirty="0">
                <a:solidFill>
                  <a:schemeClr val="tx2"/>
                </a:solidFill>
              </a:rPr>
              <a:t>問你三件事：映像、金鑰、模型</a:t>
            </a:r>
            <a:endParaRPr lang="en-US" sz="2175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dirty="0">
                <a:solidFill>
                  <a:schemeClr val="tx2"/>
                </a:solidFill>
              </a:rPr>
              <a:t>自動清理常見的輸入錯誤</a:t>
            </a:r>
            <a:endParaRPr lang="en-US" sz="2175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dirty="0">
                <a:solidFill>
                  <a:schemeClr val="tx2"/>
                </a:solidFill>
              </a:rPr>
              <a:t>對應 PaaS 的「設定頁面」</a:t>
            </a:r>
            <a:endParaRPr lang="en-US" sz="2175" dirty="0"/>
          </a:p>
        </p:txBody>
      </p:sp>
      <p:sp>
        <p:nvSpPr>
          <p:cNvPr id="8" name="col-1"/>
          <p:cNvSpPr/>
          <p:nvPr/>
        </p:nvSpPr>
        <p:spPr>
          <a:xfrm>
            <a:off x="4672584" y="1286764"/>
            <a:ext cx="3968496" cy="3767125"/>
          </a:xfrm>
          <a:prstGeom prst="roundRect">
            <a:avLst>
              <a:gd name="adj" fmla="val 2427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col-title-1"/>
          <p:cNvSpPr txBox="1"/>
          <p:nvPr/>
        </p:nvSpPr>
        <p:spPr>
          <a:xfrm>
            <a:off x="4892040" y="1506220"/>
            <a:ext cx="3529584" cy="447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55" b="1" dirty="0">
                <a:solidFill>
                  <a:schemeClr val="bg1"/>
                </a:solidFill>
              </a:rPr>
              <a:t>部署工具</a:t>
            </a:r>
            <a:endParaRPr lang="en-US" sz="2755" dirty="0"/>
          </a:p>
        </p:txBody>
      </p:sp>
      <p:sp>
        <p:nvSpPr>
          <p:cNvPr id="10" name="col-list-1"/>
          <p:cNvSpPr txBox="1"/>
          <p:nvPr/>
        </p:nvSpPr>
        <p:spPr>
          <a:xfrm>
            <a:off x="4892040" y="2063801"/>
            <a:ext cx="3529584" cy="2770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dirty="0">
                <a:solidFill>
                  <a:schemeClr val="bg2"/>
                </a:solidFill>
              </a:rPr>
              <a:t>給它一個版本編號就好</a:t>
            </a:r>
            <a:endParaRPr lang="en-US" sz="2175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dirty="0">
                <a:solidFill>
                  <a:schemeClr val="bg2"/>
                </a:solidFill>
              </a:rPr>
              <a:t>下載、啟動、檢查，一氣呵成</a:t>
            </a:r>
            <a:endParaRPr lang="en-US" sz="2175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dirty="0">
                <a:solidFill>
                  <a:schemeClr val="bg2"/>
                </a:solidFill>
              </a:rPr>
              <a:t>對應 PaaS 的「部署按鈕」</a:t>
            </a:r>
            <a:endParaRPr lang="en-US" sz="2175" dirty="0"/>
          </a:p>
        </p:txBody>
      </p:sp>
      <p:sp>
        <p:nvSpPr>
          <p:cNvPr id="11" name="note-box"/>
          <p:cNvSpPr/>
          <p:nvPr/>
        </p:nvSpPr>
        <p:spPr>
          <a:xfrm>
            <a:off x="502920" y="5255057"/>
            <a:ext cx="8138160" cy="897738"/>
          </a:xfrm>
          <a:prstGeom prst="roundRect">
            <a:avLst>
              <a:gd name="adj" fmla="val 814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note"/>
          <p:cNvSpPr txBox="1"/>
          <p:nvPr/>
        </p:nvSpPr>
        <p:spPr>
          <a:xfrm>
            <a:off x="685800" y="5255057"/>
            <a:ext cx="7772400" cy="897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30" dirty="0">
                <a:solidFill>
                  <a:schemeClr val="tx1"/>
                </a:solidFill>
              </a:rPr>
              <a:t>為什麼不一行一行手打？部署牽涉的細節多，剛接觸的人很容易漏掉其中一步。</a:t>
            </a:r>
            <a:endParaRPr lang="en-US" sz="203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02920" y="3291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chemeClr val="accent2"/>
                </a:solidFill>
              </a:rPr>
              <a:t>第 9 章　在空機器上部署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02920" y="603504"/>
            <a:ext cx="8138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chemeClr val="tx1"/>
                </a:solidFill>
              </a:rPr>
              <a:t>部署工具的五個階段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02920" y="64008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2"/>
                </a:solidFill>
              </a:rPr>
              <a:t>第 9 章　在空機器上部署　·　AI 雲端部署與容器化｜黃懷慶</a:t>
            </a:r>
            <a:endParaRPr lang="en-US" sz="1000" dirty="0"/>
          </a:p>
        </p:txBody>
      </p:sp>
      <p:graphicFrame>
        <p:nvGraphicFramePr>
          <p:cNvPr id="82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6764"/>
          <a:ext cx="8138160" cy="4126990"/>
        </p:xfrm>
        <a:graphic>
          <a:graphicData uri="http://schemas.openxmlformats.org/drawingml/2006/table">
            <a:tbl>
              <a:tblPr/>
              <a:tblGrid>
                <a:gridCol w="16276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25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180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58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80" b="1" dirty="0">
                          <a:solidFill>
                            <a:schemeClr val="bg1"/>
                          </a:solidFill>
                        </a:rPr>
                        <a:t>階段</a:t>
                      </a:r>
                      <a:endParaRPr lang="en-US" sz="168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80" b="1" dirty="0">
                          <a:solidFill>
                            <a:schemeClr val="bg1"/>
                          </a:solidFill>
                        </a:rPr>
                        <a:t>做了什麼</a:t>
                      </a:r>
                      <a:endParaRPr lang="en-US" sz="168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80" b="1" dirty="0">
                          <a:solidFill>
                            <a:schemeClr val="bg1"/>
                          </a:solidFill>
                        </a:rPr>
                        <a:t>為什麼重要</a:t>
                      </a:r>
                      <a:endParaRPr lang="en-US" sz="168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88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80" dirty="0">
                          <a:solidFill>
                            <a:schemeClr val="tx1"/>
                          </a:solidFill>
                        </a:rPr>
                        <a:t>1. 下載</a:t>
                      </a:r>
                      <a:endParaRPr lang="en-US" sz="168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80" dirty="0">
                          <a:solidFill>
                            <a:schemeClr val="tx1"/>
                          </a:solidFill>
                        </a:rPr>
                        <a:t>從倉庫下載指定版本</a:t>
                      </a:r>
                      <a:endParaRPr lang="en-US" sz="168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80" dirty="0">
                          <a:solidFill>
                            <a:schemeClr val="tx1"/>
                          </a:solidFill>
                        </a:rPr>
                        <a:t>指定版本編號，才知道部署的是什麼</a:t>
                      </a:r>
                      <a:endParaRPr lang="en-US" sz="168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88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80" dirty="0">
                          <a:solidFill>
                            <a:schemeClr val="tx1"/>
                          </a:solidFill>
                        </a:rPr>
                        <a:t>2. 移除舊的</a:t>
                      </a:r>
                      <a:endParaRPr lang="en-US" sz="168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80" dirty="0">
                          <a:solidFill>
                            <a:schemeClr val="tx1"/>
                          </a:solidFill>
                        </a:rPr>
                        <a:t>刪掉舊容器</a:t>
                      </a:r>
                      <a:endParaRPr lang="en-US" sz="168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80" dirty="0">
                          <a:solidFill>
                            <a:schemeClr val="tx1"/>
                          </a:solidFill>
                        </a:rPr>
                        <a:t>設定只在建立時讀取，要重建才會套用</a:t>
                      </a:r>
                      <a:endParaRPr lang="en-US" sz="168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88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80" dirty="0">
                          <a:solidFill>
                            <a:schemeClr val="tx1"/>
                          </a:solidFill>
                        </a:rPr>
                        <a:t>3. 啟動</a:t>
                      </a:r>
                      <a:endParaRPr lang="en-US" sz="168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80" dirty="0">
                          <a:solidFill>
                            <a:schemeClr val="tx1"/>
                          </a:solidFill>
                        </a:rPr>
                        <a:t>放入設定，啟動新容器</a:t>
                      </a:r>
                      <a:endParaRPr lang="en-US" sz="168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80" dirty="0">
                          <a:solidFill>
                            <a:schemeClr val="tx1"/>
                          </a:solidFill>
                        </a:rPr>
                        <a:t>設定由部署者提供，不跟著程式碼走</a:t>
                      </a:r>
                      <a:endParaRPr lang="en-US" sz="168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58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80" dirty="0">
                          <a:solidFill>
                            <a:schemeClr val="tx1"/>
                          </a:solidFill>
                        </a:rPr>
                        <a:t>4. 健康檢查</a:t>
                      </a:r>
                      <a:endParaRPr lang="en-US" sz="168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80" dirty="0">
                          <a:solidFill>
                            <a:schemeClr val="tx1"/>
                          </a:solidFill>
                        </a:rPr>
                        <a:t>等到服務回應「我好了」</a:t>
                      </a:r>
                      <a:endParaRPr lang="en-US" sz="168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80" dirty="0">
                          <a:solidFill>
                            <a:schemeClr val="tx1"/>
                          </a:solidFill>
                        </a:rPr>
                        <a:t>容器在跑，不代表服務能用</a:t>
                      </a:r>
                      <a:endParaRPr lang="en-US" sz="168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88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80" dirty="0">
                          <a:solidFill>
                            <a:schemeClr val="tx1"/>
                          </a:solidFill>
                        </a:rPr>
                        <a:t>5. 驗證</a:t>
                      </a:r>
                      <a:endParaRPr lang="en-US" sz="168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80" dirty="0">
                          <a:solidFill>
                            <a:schemeClr val="tx1"/>
                          </a:solidFill>
                        </a:rPr>
                        <a:t>確認設定、版本、實際呼叫一次 AI</a:t>
                      </a:r>
                      <a:endParaRPr lang="en-US" sz="168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80" dirty="0">
                          <a:solidFill>
                            <a:schemeClr val="tx1"/>
                          </a:solidFill>
                        </a:rPr>
                        <a:t>抓出「看起來正常其實是示範模式」</a:t>
                      </a:r>
                      <a:endParaRPr lang="en-US" sz="168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note"/>
          <p:cNvSpPr txBox="1"/>
          <p:nvPr/>
        </p:nvSpPr>
        <p:spPr>
          <a:xfrm>
            <a:off x="502920" y="5614924"/>
            <a:ext cx="8138160" cy="546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80" b="1" dirty="0">
                <a:solidFill>
                  <a:schemeClr val="accent2"/>
                </a:solidFill>
              </a:rPr>
              <a:t>部署牽涉的環節多，剛接觸時容易遇到錯誤。工具會停下來並說明原因，照著訊息一步步處理就好。→ 錯誤訊息對照：課程 Repo「第 9 章」</a:t>
            </a:r>
            <a:endParaRPr lang="en-US" sz="168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822960" y="1737360"/>
            <a:ext cx="7680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dirty="0">
                <a:solidFill>
                  <a:schemeClr val="tx1"/>
                </a:solidFill>
              </a:rPr>
              <a:t>這台機器上沒有任何程式碼，</a:t>
            </a:r>
            <a:endParaRPr lang="en-US" sz="3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3200" b="1" dirty="0">
                <a:solidFill>
                  <a:schemeClr val="tx1"/>
                </a:solidFill>
              </a:rPr>
              <a:t>服務卻跑起來了。</a:t>
            </a:r>
            <a:endParaRPr lang="en-US" sz="3200" dirty="0"/>
          </a:p>
        </p:txBody>
      </p:sp>
      <p:sp>
        <p:nvSpPr>
          <p:cNvPr id="3" name="Text 1"/>
          <p:cNvSpPr>
            <a:spLocks noGrp="1"/>
          </p:cNvSpPr>
          <p:nvPr>
            <p:ph type="body" idx="102" hasCustomPrompt="1"/>
          </p:nvPr>
        </p:nvSpPr>
        <p:spPr>
          <a:xfrm>
            <a:off x="822960" y="379476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chemeClr val="tx1"/>
                </a:solidFill>
              </a:rPr>
              <a:t>沒有 Dockerfile、沒有網站程式、沒有安裝任何套件。</a:t>
            </a:r>
            <a:endParaRPr lang="en-US" sz="18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800" dirty="0" err="1">
                <a:solidFill>
                  <a:schemeClr val="tx1"/>
                </a:solidFill>
              </a:rPr>
              <a:t>映像是成品，原始碼是原料</a:t>
            </a:r>
            <a:r>
              <a:rPr lang="en-US" sz="1800" dirty="0">
                <a:solidFill>
                  <a:schemeClr val="tx1"/>
                </a:solidFill>
              </a:rPr>
              <a:t>。</a:t>
            </a:r>
            <a:endParaRPr lang="en-US" sz="1800" dirty="0"/>
          </a:p>
        </p:txBody>
      </p:sp>
      <p:sp>
        <p:nvSpPr>
          <p:cNvPr id="4" name="Text 1"/>
          <p:cNvSpPr>
            <a:spLocks noGrp="1"/>
          </p:cNvSpPr>
          <p:nvPr>
            <p:ph type="body" idx="103" hasCustomPrompt="1"/>
          </p:nvPr>
        </p:nvSpPr>
        <p:spPr>
          <a:xfrm>
            <a:off x="822960" y="64008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2"/>
                </a:solidFill>
              </a:rPr>
              <a:t>第 9 章　在空機器上部署　·　AI 雲端部署與容器化｜黃懷慶</a:t>
            </a:r>
            <a:endParaRPr lang="en-US" sz="10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02920" y="3291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chemeClr val="accent2"/>
                </a:solidFill>
              </a:rPr>
              <a:t>第 9 章　在空機器上部署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02920" y="603504"/>
            <a:ext cx="8138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chemeClr val="tx1"/>
                </a:solidFill>
              </a:rPr>
              <a:t>檢查「實際收到什麼」，而不是「寄了什麼」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02920" y="64008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2"/>
                </a:solidFill>
              </a:rPr>
              <a:t>第 9 章　在空機器上部署　·　AI 雲端部署與容器化｜黃懷慶</a:t>
            </a:r>
            <a:endParaRPr lang="en-US" sz="1000" dirty="0"/>
          </a:p>
        </p:txBody>
      </p:sp>
      <p:sp>
        <p:nvSpPr>
          <p:cNvPr id="5" name="col-0"/>
          <p:cNvSpPr/>
          <p:nvPr/>
        </p:nvSpPr>
        <p:spPr>
          <a:xfrm>
            <a:off x="502920" y="1286764"/>
            <a:ext cx="3968496" cy="3767125"/>
          </a:xfrm>
          <a:prstGeom prst="roundRect">
            <a:avLst>
              <a:gd name="adj" fmla="val 2427"/>
            </a:avLst>
          </a:prstGeom>
          <a:solidFill>
            <a:schemeClr val="accent5"/>
          </a:solidFill>
          <a:ln w="9525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col-title-0"/>
          <p:cNvSpPr txBox="1"/>
          <p:nvPr/>
        </p:nvSpPr>
        <p:spPr>
          <a:xfrm>
            <a:off x="722376" y="1506220"/>
            <a:ext cx="3529584" cy="447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55" b="1" dirty="0">
                <a:solidFill>
                  <a:schemeClr val="tx1"/>
                </a:solidFill>
              </a:rPr>
              <a:t>寄件人說</a:t>
            </a:r>
            <a:endParaRPr lang="en-US" sz="2755" dirty="0"/>
          </a:p>
        </p:txBody>
      </p:sp>
      <p:sp>
        <p:nvSpPr>
          <p:cNvPr id="7" name="col-list-0"/>
          <p:cNvSpPr txBox="1"/>
          <p:nvPr/>
        </p:nvSpPr>
        <p:spPr>
          <a:xfrm>
            <a:off x="722376" y="2063801"/>
            <a:ext cx="3529584" cy="2770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dirty="0">
                <a:solidFill>
                  <a:schemeClr val="tx2"/>
                </a:solidFill>
              </a:rPr>
              <a:t>「我的設定檔寫得沒錯」</a:t>
            </a:r>
            <a:endParaRPr lang="en-US" sz="2175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dirty="0">
                <a:solidFill>
                  <a:schemeClr val="tx2"/>
                </a:solidFill>
              </a:rPr>
              <a:t>檔案內容看起來都對</a:t>
            </a:r>
            <a:endParaRPr lang="en-US" sz="2175" dirty="0"/>
          </a:p>
        </p:txBody>
      </p:sp>
      <p:sp>
        <p:nvSpPr>
          <p:cNvPr id="8" name="col-1"/>
          <p:cNvSpPr/>
          <p:nvPr/>
        </p:nvSpPr>
        <p:spPr>
          <a:xfrm>
            <a:off x="4672584" y="1286764"/>
            <a:ext cx="3968496" cy="3767125"/>
          </a:xfrm>
          <a:prstGeom prst="roundRect">
            <a:avLst>
              <a:gd name="adj" fmla="val 2427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col-title-1"/>
          <p:cNvSpPr txBox="1"/>
          <p:nvPr/>
        </p:nvSpPr>
        <p:spPr>
          <a:xfrm>
            <a:off x="4892040" y="1506220"/>
            <a:ext cx="3529584" cy="447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55" b="1" dirty="0">
                <a:solidFill>
                  <a:schemeClr val="bg1"/>
                </a:solidFill>
              </a:rPr>
              <a:t>收件人實際收到</a:t>
            </a:r>
            <a:endParaRPr lang="en-US" sz="2755" dirty="0"/>
          </a:p>
        </p:txBody>
      </p:sp>
      <p:sp>
        <p:nvSpPr>
          <p:cNvPr id="10" name="col-list-1"/>
          <p:cNvSpPr txBox="1"/>
          <p:nvPr/>
        </p:nvSpPr>
        <p:spPr>
          <a:xfrm>
            <a:off x="4892040" y="2063801"/>
            <a:ext cx="3529584" cy="2770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dirty="0">
                <a:solidFill>
                  <a:schemeClr val="bg2"/>
                </a:solidFill>
              </a:rPr>
              <a:t>容器可能是在改檔案之前建立的</a:t>
            </a:r>
            <a:endParaRPr lang="en-US" sz="2175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dirty="0">
                <a:solidFill>
                  <a:schemeClr val="bg2"/>
                </a:solidFill>
              </a:rPr>
              <a:t>也可能讀到另一個同名的舊檔</a:t>
            </a:r>
            <a:endParaRPr lang="en-US" sz="2175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b="1" dirty="0">
                <a:solidFill>
                  <a:schemeClr val="bg2"/>
                </a:solidFill>
              </a:rPr>
              <a:t>要看容器裡實際拿到的值</a:t>
            </a:r>
            <a:endParaRPr lang="en-US" sz="2175" dirty="0"/>
          </a:p>
        </p:txBody>
      </p:sp>
      <p:sp>
        <p:nvSpPr>
          <p:cNvPr id="11" name="note-box"/>
          <p:cNvSpPr/>
          <p:nvPr/>
        </p:nvSpPr>
        <p:spPr>
          <a:xfrm>
            <a:off x="502920" y="5255057"/>
            <a:ext cx="8138160" cy="897738"/>
          </a:xfrm>
          <a:prstGeom prst="roundRect">
            <a:avLst>
              <a:gd name="adj" fmla="val 814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note"/>
          <p:cNvSpPr txBox="1"/>
          <p:nvPr/>
        </p:nvSpPr>
        <p:spPr>
          <a:xfrm>
            <a:off x="685800" y="5255057"/>
            <a:ext cx="7772400" cy="897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30" dirty="0" err="1">
                <a:solidFill>
                  <a:schemeClr val="tx1"/>
                </a:solidFill>
              </a:rPr>
              <a:t>檢查實際狀態，而不是假設的狀態。部署工具的第五階段就是在做這件事</a:t>
            </a:r>
            <a:r>
              <a:rPr lang="en-US" sz="2030" dirty="0">
                <a:solidFill>
                  <a:schemeClr val="tx1"/>
                </a:solidFill>
              </a:rPr>
              <a:t>。</a:t>
            </a:r>
            <a:endParaRPr lang="en-US" sz="203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02920" y="3291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chemeClr val="accent2"/>
                </a:solidFill>
              </a:rPr>
              <a:t>第 9 章　在空機器上部署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02920" y="603504"/>
            <a:ext cx="8138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chemeClr val="tx1"/>
                </a:solidFill>
              </a:rPr>
              <a:t>版本回溯：新版出問題，一個指令退回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02920" y="64008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2"/>
                </a:solidFill>
              </a:rPr>
              <a:t>第 9 章　在空機器上部署　·　AI 雲端部署與容器化｜黃懷慶</a:t>
            </a:r>
            <a:endParaRPr lang="en-US" sz="1000" dirty="0"/>
          </a:p>
        </p:txBody>
      </p:sp>
      <p:sp>
        <p:nvSpPr>
          <p:cNvPr id="5" name="col-0"/>
          <p:cNvSpPr/>
          <p:nvPr/>
        </p:nvSpPr>
        <p:spPr>
          <a:xfrm>
            <a:off x="502920" y="1286764"/>
            <a:ext cx="3968496" cy="3059989"/>
          </a:xfrm>
          <a:prstGeom prst="roundRect">
            <a:avLst>
              <a:gd name="adj" fmla="val 2988"/>
            </a:avLst>
          </a:prstGeom>
          <a:solidFill>
            <a:schemeClr val="accent5"/>
          </a:solidFill>
          <a:ln w="9525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col-title-0"/>
          <p:cNvSpPr txBox="1"/>
          <p:nvPr/>
        </p:nvSpPr>
        <p:spPr>
          <a:xfrm>
            <a:off x="722376" y="1506220"/>
            <a:ext cx="3529584" cy="447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55" b="1" dirty="0">
                <a:solidFill>
                  <a:schemeClr val="tx1"/>
                </a:solidFill>
              </a:rPr>
              <a:t>回溯做了什麼</a:t>
            </a:r>
            <a:endParaRPr lang="en-US" sz="2755" dirty="0"/>
          </a:p>
        </p:txBody>
      </p:sp>
      <p:sp>
        <p:nvSpPr>
          <p:cNvPr id="7" name="col-list-0"/>
          <p:cNvSpPr txBox="1"/>
          <p:nvPr/>
        </p:nvSpPr>
        <p:spPr>
          <a:xfrm>
            <a:off x="722376" y="2063801"/>
            <a:ext cx="3529584" cy="2063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dirty="0">
                <a:solidFill>
                  <a:schemeClr val="tx2"/>
                </a:solidFill>
              </a:rPr>
              <a:t>用舊的版本編號再部署一次</a:t>
            </a:r>
            <a:endParaRPr lang="en-US" sz="2175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b="1" dirty="0">
                <a:solidFill>
                  <a:schemeClr val="tx2"/>
                </a:solidFill>
              </a:rPr>
              <a:t>不重新建置、不用等待</a:t>
            </a:r>
            <a:endParaRPr lang="en-US" sz="2175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dirty="0">
                <a:solidFill>
                  <a:schemeClr val="tx2"/>
                </a:solidFill>
              </a:rPr>
              <a:t>幾秒鐘恢復服務</a:t>
            </a:r>
            <a:endParaRPr lang="en-US" sz="2175" dirty="0"/>
          </a:p>
        </p:txBody>
      </p:sp>
      <p:sp>
        <p:nvSpPr>
          <p:cNvPr id="8" name="col-1"/>
          <p:cNvSpPr/>
          <p:nvPr/>
        </p:nvSpPr>
        <p:spPr>
          <a:xfrm>
            <a:off x="4672584" y="1286764"/>
            <a:ext cx="3968496" cy="3059989"/>
          </a:xfrm>
          <a:prstGeom prst="roundRect">
            <a:avLst>
              <a:gd name="adj" fmla="val 2988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col-title-1"/>
          <p:cNvSpPr txBox="1"/>
          <p:nvPr/>
        </p:nvSpPr>
        <p:spPr>
          <a:xfrm>
            <a:off x="4892040" y="1506220"/>
            <a:ext cx="3529584" cy="447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55" b="1" dirty="0">
                <a:solidFill>
                  <a:schemeClr val="bg1"/>
                </a:solidFill>
              </a:rPr>
              <a:t>回溯之後還要做</a:t>
            </a:r>
            <a:endParaRPr lang="en-US" sz="2755" dirty="0"/>
          </a:p>
        </p:txBody>
      </p:sp>
      <p:sp>
        <p:nvSpPr>
          <p:cNvPr id="10" name="col-list-1"/>
          <p:cNvSpPr txBox="1"/>
          <p:nvPr/>
        </p:nvSpPr>
        <p:spPr>
          <a:xfrm>
            <a:off x="4892040" y="2063801"/>
            <a:ext cx="3529584" cy="2063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dirty="0">
                <a:solidFill>
                  <a:schemeClr val="bg2"/>
                </a:solidFill>
              </a:rPr>
              <a:t>回到開發機修正程式</a:t>
            </a:r>
            <a:endParaRPr lang="en-US" sz="2175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dirty="0">
                <a:solidFill>
                  <a:schemeClr val="bg2"/>
                </a:solidFill>
              </a:rPr>
              <a:t>走完整個交付流程</a:t>
            </a:r>
            <a:endParaRPr lang="en-US" sz="2175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175" dirty="0">
                <a:solidFill>
                  <a:schemeClr val="bg2"/>
                </a:solidFill>
              </a:rPr>
              <a:t>主線才會回到正確狀態</a:t>
            </a:r>
            <a:endParaRPr lang="en-US" sz="2175" dirty="0"/>
          </a:p>
        </p:txBody>
      </p:sp>
      <p:sp>
        <p:nvSpPr>
          <p:cNvPr id="11" name="note-box"/>
          <p:cNvSpPr/>
          <p:nvPr/>
        </p:nvSpPr>
        <p:spPr>
          <a:xfrm>
            <a:off x="502920" y="4547921"/>
            <a:ext cx="8138160" cy="567741"/>
          </a:xfrm>
          <a:prstGeom prst="roundRect">
            <a:avLst>
              <a:gd name="adj" fmla="val 12885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note"/>
          <p:cNvSpPr txBox="1"/>
          <p:nvPr/>
        </p:nvSpPr>
        <p:spPr>
          <a:xfrm>
            <a:off x="685800" y="4547921"/>
            <a:ext cx="7772400" cy="5677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30" dirty="0">
                <a:solidFill>
                  <a:schemeClr val="tx1"/>
                </a:solidFill>
              </a:rPr>
              <a:t>回溯能這麼簡單，前提是第 7 章開始養成的「存版本」習慣。</a:t>
            </a:r>
            <a:endParaRPr lang="en-US" sz="203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02920" y="3291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chemeClr val="accent2"/>
                </a:solidFill>
              </a:rPr>
              <a:t>第 9 章　在空機器上部署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02920" y="603504"/>
            <a:ext cx="8138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chemeClr val="tx1"/>
                </a:solidFill>
              </a:rPr>
              <a:t>回到第 2 章那張表：你剛才做了什麼？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02920" y="64008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2"/>
                </a:solidFill>
              </a:rPr>
              <a:t>第 9 章　在空機器上部署　·　AI 雲端部署與容器化｜黃懷慶</a:t>
            </a:r>
            <a:endParaRPr lang="en-US" sz="1000" dirty="0"/>
          </a:p>
        </p:txBody>
      </p:sp>
      <p:graphicFrame>
        <p:nvGraphicFramePr>
          <p:cNvPr id="8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6764"/>
          <a:ext cx="8138160" cy="3293820"/>
        </p:xfrm>
        <a:graphic>
          <a:graphicData uri="http://schemas.openxmlformats.org/drawingml/2006/table">
            <a:tbl>
              <a:tblPr/>
              <a:tblGrid>
                <a:gridCol w="44759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21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9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b="1" dirty="0">
                          <a:solidFill>
                            <a:schemeClr val="bg1"/>
                          </a:solidFill>
                        </a:rPr>
                        <a:t>你親手做的事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b="1" dirty="0">
                          <a:solidFill>
                            <a:schemeClr val="bg1"/>
                          </a:solidFill>
                        </a:rPr>
                        <a:t>在 PaaS 上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9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部署工具：下載、啟動、健康檢查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自動完成，掛掉自動重啟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9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設定工具：填入金鑰與模型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在控制台填寫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9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自己開放連接埠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自動配置網址與加密連線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9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用舊版本編號重新部署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按一個按鈕回溯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9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一台機器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自動擴展、分散流量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note"/>
          <p:cNvSpPr txBox="1"/>
          <p:nvPr/>
        </p:nvSpPr>
        <p:spPr>
          <a:xfrm>
            <a:off x="502920" y="4781753"/>
            <a:ext cx="8138160" cy="659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30" b="1" dirty="0">
                <a:solidFill>
                  <a:schemeClr val="accent2"/>
                </a:solidFill>
              </a:rPr>
              <a:t>你現在知道 PaaS 幫你自動化了什麼，因為這些步驟你都親手做過一遍。</a:t>
            </a:r>
            <a:endParaRPr lang="en-US" sz="203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02920" y="3291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chemeClr val="accent2"/>
                </a:solidFill>
              </a:rPr>
              <a:t>第 9 章　在空機器上部署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02920" y="603504"/>
            <a:ext cx="8138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chemeClr val="tx1"/>
                </a:solidFill>
              </a:rPr>
              <a:t>收工：刪除部署機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02920" y="64008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2"/>
                </a:solidFill>
              </a:rPr>
              <a:t>第 9 章　在空機器上部署　·　AI 雲端部署與容器化｜黃懷慶</a:t>
            </a:r>
            <a:endParaRPr lang="en-US" sz="1000" dirty="0"/>
          </a:p>
        </p:txBody>
      </p:sp>
      <p:sp>
        <p:nvSpPr>
          <p:cNvPr id="5" name="callout"/>
          <p:cNvSpPr/>
          <p:nvPr/>
        </p:nvSpPr>
        <p:spPr>
          <a:xfrm>
            <a:off x="502920" y="1378204"/>
            <a:ext cx="8138160" cy="2611526"/>
          </a:xfrm>
          <a:prstGeom prst="roundRect">
            <a:avLst>
              <a:gd name="adj" fmla="val 4202"/>
            </a:avLst>
          </a:prstGeom>
          <a:solidFill>
            <a:schemeClr val="accent5"/>
          </a:solidFill>
          <a:ln w="19050">
            <a:solidFill>
              <a:srgbClr val="D9692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6" name="callout-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249627"/>
            <a:ext cx="868680" cy="868680"/>
          </a:xfrm>
          <a:prstGeom prst="rect">
            <a:avLst/>
          </a:prstGeom>
        </p:spPr>
      </p:pic>
      <p:sp>
        <p:nvSpPr>
          <p:cNvPr id="7" name="callout-text"/>
          <p:cNvSpPr txBox="1"/>
          <p:nvPr/>
        </p:nvSpPr>
        <p:spPr>
          <a:xfrm>
            <a:off x="2011680" y="1698244"/>
            <a:ext cx="6309360" cy="1971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700"/>
              </a:spcAft>
              <a:buNone/>
            </a:pPr>
            <a:r>
              <a:rPr lang="en-US" sz="2610" dirty="0">
                <a:solidFill>
                  <a:schemeClr val="tx1"/>
                </a:solidFill>
              </a:rPr>
              <a:t>部署機是一次性的，用完就刪</a:t>
            </a:r>
            <a:endParaRPr lang="en-US" sz="261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2610" dirty="0">
                <a:solidFill>
                  <a:schemeClr val="tx1"/>
                </a:solidFill>
              </a:rPr>
              <a:t>避免持續占用免費額度</a:t>
            </a:r>
            <a:endParaRPr lang="en-US" sz="261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2610" dirty="0">
                <a:solidFill>
                  <a:schemeClr val="tx1"/>
                </a:solidFill>
              </a:rPr>
              <a:t>上面的設定檔含有金鑰，本來就不該保留</a:t>
            </a:r>
            <a:endParaRPr lang="en-US" sz="261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02920" y="3291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chemeClr val="accent2"/>
                </a:solidFill>
              </a:rPr>
              <a:t>專案實作與總結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02920" y="603504"/>
            <a:ext cx="8138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chemeClr val="tx1"/>
                </a:solidFill>
              </a:rPr>
              <a:t>專案實作：你的專業領域 × AI 助手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02920" y="64008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2"/>
                </a:solidFill>
              </a:rPr>
              <a:t>專案實作與總結　·　AI 雲端部署與容器化｜黃懷慶</a:t>
            </a:r>
            <a:endParaRPr lang="en-US" sz="1000" dirty="0"/>
          </a:p>
        </p:txBody>
      </p:sp>
      <p:sp>
        <p:nvSpPr>
          <p:cNvPr id="5" name="lead"/>
          <p:cNvSpPr txBox="1"/>
          <p:nvPr/>
        </p:nvSpPr>
        <p:spPr>
          <a:xfrm>
            <a:off x="502920" y="1286764"/>
            <a:ext cx="8138160" cy="1131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20" dirty="0">
                <a:solidFill>
                  <a:schemeClr val="tx2"/>
                </a:solidFill>
              </a:rPr>
              <a:t>大家用同一套程式架構，各自設計主題：可以是你熟悉的專業領域，也可以是生活中感興趣的事。只要改三個地方：系統指示、網頁文字、範例資料。</a:t>
            </a:r>
            <a:endParaRPr lang="en-US" sz="2320" dirty="0"/>
          </a:p>
        </p:txBody>
      </p:sp>
      <p:graphicFrame>
        <p:nvGraphicFramePr>
          <p:cNvPr id="88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619350"/>
          <a:ext cx="8138160" cy="2744850"/>
        </p:xfrm>
        <a:graphic>
          <a:graphicData uri="http://schemas.openxmlformats.org/drawingml/2006/table">
            <a:tbl>
              <a:tblPr/>
              <a:tblGrid>
                <a:gridCol w="3255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828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9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b="1" dirty="0">
                          <a:solidFill>
                            <a:schemeClr val="bg1"/>
                          </a:solidFill>
                        </a:rPr>
                        <a:t>主題來源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b="1" dirty="0">
                          <a:solidFill>
                            <a:schemeClr val="bg1"/>
                          </a:solidFill>
                        </a:rPr>
                        <a:t>主題範例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9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餐飲業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菜單過敏原查詢助手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9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會計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發票分類說明助手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9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行政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公文用語改寫助手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9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生活興趣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家常料理食譜助手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note"/>
          <p:cNvSpPr txBox="1"/>
          <p:nvPr/>
        </p:nvSpPr>
        <p:spPr>
          <a:xfrm>
            <a:off x="502920" y="5565369"/>
            <a:ext cx="8138160" cy="329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30" b="1" dirty="0">
                <a:solidFill>
                  <a:schemeClr val="accent2"/>
                </a:solidFill>
              </a:rPr>
              <a:t>把 AI 帶進你熟悉的領域，就是在原本的專業上再升級一次。</a:t>
            </a:r>
            <a:endParaRPr lang="en-US" sz="203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02920" y="3291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chemeClr val="accent2"/>
                </a:solidFill>
              </a:rPr>
              <a:t>專案實作與總結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02920" y="603504"/>
            <a:ext cx="8138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chemeClr val="tx1"/>
                </a:solidFill>
              </a:rPr>
              <a:t>帶得走的六條原則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02920" y="64008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2"/>
                </a:solidFill>
              </a:rPr>
              <a:t>專案實作與總結　·　AI 雲端部署與容器化｜黃懷慶</a:t>
            </a:r>
            <a:endParaRPr lang="en-US" sz="1000" dirty="0"/>
          </a:p>
        </p:txBody>
      </p:sp>
      <p:graphicFrame>
        <p:nvGraphicFramePr>
          <p:cNvPr id="89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6764"/>
          <a:ext cx="8138160" cy="3842790"/>
        </p:xfrm>
        <a:graphic>
          <a:graphicData uri="http://schemas.openxmlformats.org/drawingml/2006/table">
            <a:tbl>
              <a:tblPr/>
              <a:tblGrid>
                <a:gridCol w="8138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243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9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b="1" dirty="0">
                          <a:solidFill>
                            <a:schemeClr val="bg1"/>
                          </a:solidFill>
                        </a:rPr>
                        <a:t>原則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9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P1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映像是成品，原始碼是原料。交付的是成品。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9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P2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程式碼和設定分開。金鑰在執行時才放進去。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9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P3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沒有存版本，就沒有可以追溯和退回的版本。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9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P4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檢查實際狀態，而不是假設的狀態。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9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P5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指令的結果，不應取決於沒注意到的隱藏狀態。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9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P6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30" dirty="0">
                          <a:solidFill>
                            <a:schemeClr val="tx1"/>
                          </a:solidFill>
                        </a:rPr>
                        <a:t>不綁死單一平台，出問題時優雅地降級。</a:t>
                      </a:r>
                      <a:endParaRPr lang="en-US" sz="2030" dirty="0"/>
                    </a:p>
                  </a:txBody>
                  <a:tcPr marL="82296" marR="82296" marT="54864" marB="54864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822960" y="1737360"/>
            <a:ext cx="7680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dirty="0">
                <a:solidFill>
                  <a:schemeClr val="tx1"/>
                </a:solidFill>
              </a:rPr>
              <a:t>謝謝大家</a:t>
            </a:r>
            <a:endParaRPr lang="en-US" sz="3200" dirty="0"/>
          </a:p>
        </p:txBody>
      </p:sp>
      <p:sp>
        <p:nvSpPr>
          <p:cNvPr id="3" name="Text 1"/>
          <p:cNvSpPr>
            <a:spLocks noGrp="1"/>
          </p:cNvSpPr>
          <p:nvPr>
            <p:ph type="body" idx="102" hasCustomPrompt="1"/>
          </p:nvPr>
        </p:nvSpPr>
        <p:spPr>
          <a:xfrm>
            <a:off x="822960" y="379476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800" dirty="0">
                <a:solidFill>
                  <a:schemeClr val="tx1"/>
                </a:solidFill>
              </a:rPr>
              <a:t>課程 Repo：</a:t>
            </a:r>
            <a:br>
              <a:rPr lang="en-US" sz="1800" dirty="0">
                <a:solidFill>
                  <a:schemeClr val="tx1"/>
                </a:solidFill>
              </a:rPr>
            </a:br>
            <a:r>
              <a:rPr lang="en-US" dirty="0"/>
              <a:t>https://github.com/</a:t>
            </a:r>
            <a:r>
              <a:rPr lang="en-US" dirty="0">
                <a:solidFill>
                  <a:srgbClr val="FF0000"/>
                </a:solidFill>
              </a:rPr>
              <a:t>it</a:t>
            </a:r>
            <a:r>
              <a:rPr lang="en-US" dirty="0"/>
              <a:t>training-maro/docker-codespace</a:t>
            </a:r>
            <a:r>
              <a:rPr lang="en-US" dirty="0">
                <a:solidFill>
                  <a:srgbClr val="FF0000"/>
                </a:solidFill>
              </a:rPr>
              <a:t>s</a:t>
            </a:r>
            <a:r>
              <a:rPr lang="en-US" dirty="0"/>
              <a:t>-study</a:t>
            </a:r>
            <a:endParaRPr lang="en-US" sz="18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chemeClr val="tx1"/>
                </a:solidFill>
              </a:rPr>
              <a:t>有問題隨時提出，我們一起解決。</a:t>
            </a:r>
            <a:endParaRPr lang="en-US" sz="1800" dirty="0"/>
          </a:p>
        </p:txBody>
      </p:sp>
      <p:sp>
        <p:nvSpPr>
          <p:cNvPr id="4" name="Text 1"/>
          <p:cNvSpPr>
            <a:spLocks noGrp="1"/>
          </p:cNvSpPr>
          <p:nvPr>
            <p:ph type="body" idx="103" hasCustomPrompt="1"/>
          </p:nvPr>
        </p:nvSpPr>
        <p:spPr>
          <a:xfrm>
            <a:off x="822960" y="64008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2"/>
                </a:solidFill>
              </a:rPr>
              <a:t>專案實作與總結　·　AI 雲端部署與容器化｜黃懷慶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 Cloud Deploy">
  <a:themeElements>
    <a:clrScheme name="AI Cloud Deploy">
      <a:dk1>
        <a:srgbClr val="1E2A3A"/>
      </a:dk1>
      <a:lt1>
        <a:srgbClr val="FFFFFF"/>
      </a:lt1>
      <a:dk2>
        <a:srgbClr val="4A5568"/>
      </a:dk2>
      <a:lt2>
        <a:srgbClr val="F7F5F0"/>
      </a:lt2>
      <a:accent1>
        <a:srgbClr val="D9692A"/>
      </a:accent1>
      <a:accent2>
        <a:srgbClr val="B4521A"/>
      </a:accent2>
      <a:accent3>
        <a:srgbClr val="1E2A3A"/>
      </a:accent3>
      <a:accent4>
        <a:srgbClr val="EEEAE1"/>
      </a:accent4>
      <a:accent5>
        <a:srgbClr val="FDFCF9"/>
      </a:accent5>
      <a:accent6>
        <a:srgbClr val="2B6CB0"/>
      </a:accent6>
      <a:hlink>
        <a:srgbClr val="2B6CB0"/>
      </a:hlink>
      <a:folHlink>
        <a:srgbClr val="6B46C1"/>
      </a:folHlink>
    </a:clrScheme>
    <a:fontScheme name="AI Cloud Deploy">
      <a:majorFont>
        <a:latin typeface="Microsoft JhengHei"/>
        <a:ea typeface="Microsoft JhengHei"/>
        <a:cs typeface=""/>
        <a:font script="Jpan" typeface="游ゴシック Light"/>
        <a:font script="Hang" typeface="맑은 고딕"/>
        <a:font script="Hans" typeface="等线 Light"/>
        <a:font script="Hant" typeface="Microsoft Jheng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Microsoft JhengHei"/>
        <a:cs typeface=""/>
        <a:font script="Jpan" typeface="游ゴシック"/>
        <a:font script="Hang" typeface="맑은 고딕"/>
        <a:font script="Hans" typeface="等线"/>
        <a:font script="Hant" typeface="Microsoft Jheng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講義範本檔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</TotalTime>
  <Words>4039</Words>
  <Application>Microsoft Office PowerPoint</Application>
  <PresentationFormat>如螢幕大小 (4:3)</PresentationFormat>
  <Paragraphs>1174</Paragraphs>
  <Slides>89</Slides>
  <Notes>89</Notes>
  <HiddenSlides>1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89</vt:i4>
      </vt:variant>
    </vt:vector>
  </HeadingPairs>
  <TitlesOfParts>
    <vt:vector size="93" baseType="lpstr">
      <vt:lpstr>Arial</vt:lpstr>
      <vt:lpstr>Calibri</vt:lpstr>
      <vt:lpstr>AI Cloud Deploy</vt:lpstr>
      <vt:lpstr>講義範本檔</vt:lpstr>
      <vt:lpstr>AI 雲端部署 與容器化</vt:lpstr>
      <vt:lpstr>課程結束時，你會帶走三樣東西</vt:lpstr>
      <vt:lpstr>九章地圖：從觀念到親手部署</vt:lpstr>
      <vt:lpstr>投影片講「為什麼」，課程 Repo 給「怎麼做」</vt:lpstr>
      <vt:lpstr>傳統部署方式與 容器部署的差異</vt:lpstr>
      <vt:lpstr>先想一個生活例子：照食譜做菜</vt:lpstr>
      <vt:lpstr>傳統部署：每台機器自己「煮一次」</vt:lpstr>
      <vt:lpstr>傳統部署的四個痛點</vt:lpstr>
      <vt:lpstr>容器的想法：直接交付「冷凍調理包」</vt:lpstr>
      <vt:lpstr>容器的三個關鍵字（加上食譜）</vt:lpstr>
      <vt:lpstr>虛擬機和容器差在哪？</vt:lpstr>
      <vt:lpstr>優勢一　移植性：一次打包，到處執行</vt:lpstr>
      <vt:lpstr>優勢二　自動擴展：客人變多，就多開幾個窗口</vt:lpstr>
      <vt:lpstr>優勢三　版本回溯：新口味不受歡迎，馬上換回舊包裝</vt:lpstr>
      <vt:lpstr>一張表看懂差異</vt:lpstr>
      <vt:lpstr>常見容器方案</vt:lpstr>
      <vt:lpstr>容器方案的光譜：自己管越少，平台管越多</vt:lpstr>
      <vt:lpstr>地端方案：Docker 與 Docker Compose</vt:lpstr>
      <vt:lpstr>Kubernetes（K8s）：容器的調度中心</vt:lpstr>
      <vt:lpstr>雲端 PaaS：只要交出映像，其他交給平台</vt:lpstr>
      <vt:lpstr>PaaS 在背後幫你做了什麼？</vt:lpstr>
      <vt:lpstr>本課程的教室：GitHub Codespaces</vt:lpstr>
      <vt:lpstr>為什麼選 Codespaces？</vt:lpstr>
      <vt:lpstr>該選哪一種？</vt:lpstr>
      <vt:lpstr>帳號申請 （不綁信用卡）</vt:lpstr>
      <vt:lpstr>請在家先申請，不要在教室才申請</vt:lpstr>
      <vt:lpstr>我們需要哪些帳號？</vt:lpstr>
      <vt:lpstr>GitHub 註冊：每一步都有原因</vt:lpstr>
      <vt:lpstr>Google AI Studio：登入就好，不要辦卡</vt:lpstr>
      <vt:lpstr>為什麼不會被扣錢？</vt:lpstr>
      <vt:lpstr>Google AI Studio 試用模型及產生金鑰</vt:lpstr>
      <vt:lpstr>API 是什麼？想像你在餐廳點餐</vt:lpstr>
      <vt:lpstr>先在網頁上試用模型</vt:lpstr>
      <vt:lpstr>選用哪個模型？（講師實測，2026-10-12）</vt:lpstr>
      <vt:lpstr>為什麼選 Flash-Lite 當主力？</vt:lpstr>
      <vt:lpstr>產生金鑰：兩件事要記下來</vt:lpstr>
      <vt:lpstr>金鑰就是你的身分證，要這樣保護</vt:lpstr>
      <vt:lpstr>GitHub、Repo、 Codespace 設置</vt:lpstr>
      <vt:lpstr>Codespace 到底是什麼？</vt:lpstr>
      <vt:lpstr>先認識幾個名詞</vt:lpstr>
      <vt:lpstr>第一件事：設定「防超量」</vt:lpstr>
      <vt:lpstr>建立 Repo：為什麼設成「公開」？</vt:lpstr>
      <vt:lpstr>開啟 Codespace：小心開錯成「另一種」</vt:lpstr>
      <vt:lpstr>把金鑰鎖進保管箱（Codespaces Secrets）</vt:lpstr>
      <vt:lpstr>下課前：「停止」和「刪除」不一樣</vt:lpstr>
      <vt:lpstr>雲端版 VS Code 及 Ubuntu 命令列入門</vt:lpstr>
      <vt:lpstr>畫面上的四個區域</vt:lpstr>
      <vt:lpstr>為什麼要學「打指令」？</vt:lpstr>
      <vt:lpstr>命令列的三個必懂觀念</vt:lpstr>
      <vt:lpstr>第一個指令練習：確認金鑰能用</vt:lpstr>
      <vt:lpstr>Git 的四個格子：像寫報告到寄出</vt:lpstr>
      <vt:lpstr>「原始碼控制」面板上的按鈕</vt:lpstr>
      <vt:lpstr>面板的四個陷阱，以及我們的解法</vt:lpstr>
      <vt:lpstr>為什麼不直接在主線上修改？</vt:lpstr>
      <vt:lpstr>衝突：兩個人改了同一行</vt:lpstr>
      <vt:lpstr>VS Code 程式碼 直接以容器技術執行</vt:lpstr>
      <vt:lpstr>先分清楚兩種節奏</vt:lpstr>
      <vt:lpstr>我們要做的聊天機器人長這樣</vt:lpstr>
      <vt:lpstr>本章的六個步驟</vt:lpstr>
      <vt:lpstr>步驟 2　為什麼第一件事是寫「忽略清單」？</vt:lpstr>
      <vt:lpstr>步驟 5　程式碼和設定，為什麼要分開？</vt:lpstr>
      <vt:lpstr>出問題時，程式該怎麼反應？</vt:lpstr>
      <vt:lpstr>每完成一個檔案，就存一個版本</vt:lpstr>
      <vt:lpstr>步驟 6　把程式碼「掛進」容器執行</vt:lpstr>
      <vt:lpstr>這樣做好在哪裡？還缺什麼？</vt:lpstr>
      <vt:lpstr>把網站開放出去看：連接埠</vt:lpstr>
      <vt:lpstr>程式碼打包成 容器映像</vt:lpstr>
      <vt:lpstr>Dockerfile：調理包的標準作業程序</vt:lpstr>
      <vt:lpstr>在自己的 Codespace 建置映像</vt:lpstr>
      <vt:lpstr>把成果推上 GitHub，開一個 PR</vt:lpstr>
      <vt:lpstr>交付迴圈：讓「工廠」自動生產</vt:lpstr>
      <vt:lpstr>自動化工廠帶來的四個保證</vt:lpstr>
      <vt:lpstr>兩種身分，兩種鑰匙</vt:lpstr>
      <vt:lpstr>讓映像可以被下載</vt:lpstr>
      <vt:lpstr>三種版本標籤，各有用途</vt:lpstr>
      <vt:lpstr>以 Codespace 空容器 執行映像</vt:lpstr>
      <vt:lpstr>本章使用兩台機器</vt:lpstr>
      <vt:lpstr>部署的流程</vt:lpstr>
      <vt:lpstr>先確認：這台機器真的是空的</vt:lpstr>
      <vt:lpstr>兩個小工具＝一個迷你 PaaS</vt:lpstr>
      <vt:lpstr>部署工具的五個階段</vt:lpstr>
      <vt:lpstr>這台機器上沒有任何程式碼， 服務卻跑起來了。</vt:lpstr>
      <vt:lpstr>檢查「實際收到什麼」，而不是「寄了什麼」</vt:lpstr>
      <vt:lpstr>版本回溯：新版出問題，一個指令退回</vt:lpstr>
      <vt:lpstr>回到第 2 章那張表：你剛才做了什麼？</vt:lpstr>
      <vt:lpstr>收工：刪除部署機</vt:lpstr>
      <vt:lpstr>專案實作：你的專業領域 × AI 助手</vt:lpstr>
      <vt:lpstr>帶得走的六條原則</vt:lpstr>
      <vt:lpstr>謝謝大家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雲端部署與容器化</dc:title>
  <dc:subject>PptxGenJS Presentation</dc:subject>
  <dc:creator>黃懷慶</dc:creator>
  <cp:lastModifiedBy>懷慶 黃</cp:lastModifiedBy>
  <cp:revision>28</cp:revision>
  <dcterms:created xsi:type="dcterms:W3CDTF">2026-10-11T02:13:54Z</dcterms:created>
  <dcterms:modified xsi:type="dcterms:W3CDTF">2026-10-12T03:13:21Z</dcterms:modified>
</cp:coreProperties>
</file>